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6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65" r:id="rId2"/>
  </p:sldMasterIdLst>
  <p:notesMasterIdLst>
    <p:notesMasterId r:id="rId14"/>
  </p:notesMasterIdLst>
  <p:sldIdLst>
    <p:sldId id="2893" r:id="rId3"/>
    <p:sldId id="2854" r:id="rId4"/>
    <p:sldId id="2896" r:id="rId5"/>
    <p:sldId id="2878" r:id="rId6"/>
    <p:sldId id="2440" r:id="rId7"/>
    <p:sldId id="2285" r:id="rId8"/>
    <p:sldId id="2895" r:id="rId9"/>
    <p:sldId id="2872" r:id="rId10"/>
    <p:sldId id="2844" r:id="rId11"/>
    <p:sldId id="2880" r:id="rId12"/>
    <p:sldId id="2897" r:id="rId13"/>
  </p:sldIdLst>
  <p:sldSz cx="9144000" cy="5143500" type="screen16x9"/>
  <p:notesSz cx="6858000" cy="9144000"/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685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35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默认节" id="{A9941DE7-5C78-4DAF-83F1-2393BFD2A015}">
          <p14:sldIdLst>
            <p14:sldId id="2893"/>
          </p14:sldIdLst>
        </p14:section>
        <p14:section name="整体概况" id="{FE833145-83C9-404F-8121-4DB291D897E7}">
          <p14:sldIdLst/>
        </p14:section>
        <p14:section name="业务板块" id="{B375F296-47C7-4DCC-BFCD-2945CD86A5E2}">
          <p14:sldIdLst>
            <p14:sldId id="2854"/>
            <p14:sldId id="2896"/>
            <p14:sldId id="2878"/>
            <p14:sldId id="2440"/>
            <p14:sldId id="2285"/>
            <p14:sldId id="2895"/>
            <p14:sldId id="2872"/>
            <p14:sldId id="2844"/>
            <p14:sldId id="2880"/>
            <p14:sldId id="28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26" userDrawn="1">
          <p15:clr>
            <a:srgbClr val="A4A3A4"/>
          </p15:clr>
        </p15:guide>
        <p15:guide id="2" pos="317" userDrawn="1">
          <p15:clr>
            <a:srgbClr val="A4A3A4"/>
          </p15:clr>
        </p15:guide>
        <p15:guide id="3" pos="5443" userDrawn="1">
          <p15:clr>
            <a:srgbClr val="A4A3A4"/>
          </p15:clr>
        </p15:guide>
        <p15:guide id="4" orient="horz" pos="2867" userDrawn="1">
          <p15:clr>
            <a:srgbClr val="A4A3A4"/>
          </p15:clr>
        </p15:guide>
        <p15:guide id="9" pos="5261" userDrawn="1">
          <p15:clr>
            <a:srgbClr val="A4A3A4"/>
          </p15:clr>
        </p15:guide>
        <p15:guide id="13" pos="226" userDrawn="1">
          <p15:clr>
            <a:srgbClr val="A4A3A4"/>
          </p15:clr>
        </p15:guide>
        <p15:guide id="17" orient="horz" pos="3072" userDrawn="1">
          <p15:clr>
            <a:srgbClr val="A4A3A4"/>
          </p15:clr>
        </p15:guide>
        <p15:guide id="19" orient="horz" pos="282" userDrawn="1">
          <p15:clr>
            <a:srgbClr val="A4A3A4"/>
          </p15:clr>
        </p15:guide>
        <p15:guide id="20" pos="2903" userDrawn="1">
          <p15:clr>
            <a:srgbClr val="A4A3A4"/>
          </p15:clr>
        </p15:guide>
        <p15:guide id="22" orient="horz" pos="1234" userDrawn="1">
          <p15:clr>
            <a:srgbClr val="A4A3A4"/>
          </p15:clr>
        </p15:guide>
        <p15:guide id="24" pos="1314" userDrawn="1">
          <p15:clr>
            <a:srgbClr val="A4A3A4"/>
          </p15:clr>
        </p15:guide>
        <p15:guide id="25" pos="635" userDrawn="1">
          <p15:clr>
            <a:srgbClr val="A4A3A4"/>
          </p15:clr>
        </p15:guide>
        <p15:guide id="26" pos="3351" userDrawn="1">
          <p15:clr>
            <a:srgbClr val="A4A3A4"/>
          </p15:clr>
        </p15:guide>
        <p15:guide id="27" pos="4672" userDrawn="1">
          <p15:clr>
            <a:srgbClr val="A4A3A4"/>
          </p15:clr>
        </p15:guide>
        <p15:guide id="28" pos="5534" userDrawn="1">
          <p15:clr>
            <a:srgbClr val="A4A3A4"/>
          </p15:clr>
        </p15:guide>
        <p15:guide id="29" pos="2213" userDrawn="1">
          <p15:clr>
            <a:srgbClr val="A4A3A4"/>
          </p15:clr>
        </p15:guide>
        <p15:guide id="30" orient="horz" pos="395" userDrawn="1">
          <p15:clr>
            <a:srgbClr val="A4A3A4"/>
          </p15:clr>
        </p15:guide>
        <p15:guide id="31" orient="horz" pos="146" userDrawn="1">
          <p15:clr>
            <a:srgbClr val="A4A3A4"/>
          </p15:clr>
        </p15:guide>
        <p15:guide id="32" pos="4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323"/>
    <a:srgbClr val="404040"/>
    <a:srgbClr val="1178FE"/>
    <a:srgbClr val="11A0FE"/>
    <a:srgbClr val="1578FE"/>
    <a:srgbClr val="94C8FF"/>
    <a:srgbClr val="1478FE"/>
    <a:srgbClr val="FF9800"/>
    <a:srgbClr val="000000"/>
    <a:srgbClr val="90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6" autoAdjust="0"/>
    <p:restoredTop sz="93676" autoAdjust="0"/>
  </p:normalViewPr>
  <p:slideViewPr>
    <p:cSldViewPr snapToGrid="0" snapToObjects="1">
      <p:cViewPr varScale="1">
        <p:scale>
          <a:sx n="84" d="100"/>
          <a:sy n="84" d="100"/>
        </p:scale>
        <p:origin x="724" y="52"/>
      </p:cViewPr>
      <p:guideLst>
        <p:guide orient="horz" pos="826"/>
        <p:guide pos="317"/>
        <p:guide pos="5443"/>
        <p:guide orient="horz" pos="2867"/>
        <p:guide pos="5261"/>
        <p:guide pos="226"/>
        <p:guide orient="horz" pos="3072"/>
        <p:guide orient="horz" pos="282"/>
        <p:guide pos="2903"/>
        <p:guide orient="horz" pos="1234"/>
        <p:guide pos="1314"/>
        <p:guide pos="635"/>
        <p:guide pos="3351"/>
        <p:guide pos="4672"/>
        <p:guide pos="5534"/>
        <p:guide pos="2213"/>
        <p:guide orient="horz" pos="395"/>
        <p:guide orient="horz" pos="146"/>
        <p:guide pos="495"/>
      </p:guideLst>
    </p:cSldViewPr>
  </p:slideViewPr>
  <p:outlineViewPr>
    <p:cViewPr>
      <p:scale>
        <a:sx n="65" d="100"/>
        <a:sy n="65" d="100"/>
      </p:scale>
      <p:origin x="0" y="-1032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73" name="Shape 5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308542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5800" latinLnBrk="0">
      <a:defRPr sz="900">
        <a:latin typeface="+mj-lt"/>
        <a:ea typeface="+mj-ea"/>
        <a:cs typeface="+mj-cs"/>
        <a:sym typeface="Calibri" panose="020F0502020204030204"/>
      </a:defRPr>
    </a:lvl1pPr>
    <a:lvl2pPr indent="85725" defTabSz="685800" latinLnBrk="0">
      <a:defRPr sz="900">
        <a:latin typeface="+mj-lt"/>
        <a:ea typeface="+mj-ea"/>
        <a:cs typeface="+mj-cs"/>
        <a:sym typeface="Calibri" panose="020F0502020204030204"/>
      </a:defRPr>
    </a:lvl2pPr>
    <a:lvl3pPr indent="171450" defTabSz="685800" latinLnBrk="0">
      <a:defRPr sz="900">
        <a:latin typeface="+mj-lt"/>
        <a:ea typeface="+mj-ea"/>
        <a:cs typeface="+mj-cs"/>
        <a:sym typeface="Calibri" panose="020F0502020204030204"/>
      </a:defRPr>
    </a:lvl3pPr>
    <a:lvl4pPr indent="257175" defTabSz="685800" latinLnBrk="0">
      <a:defRPr sz="900">
        <a:latin typeface="+mj-lt"/>
        <a:ea typeface="+mj-ea"/>
        <a:cs typeface="+mj-cs"/>
        <a:sym typeface="Calibri" panose="020F0502020204030204"/>
      </a:defRPr>
    </a:lvl4pPr>
    <a:lvl5pPr indent="342900" defTabSz="685800" latinLnBrk="0">
      <a:defRPr sz="900">
        <a:latin typeface="+mj-lt"/>
        <a:ea typeface="+mj-ea"/>
        <a:cs typeface="+mj-cs"/>
        <a:sym typeface="Calibri" panose="020F0502020204030204"/>
      </a:defRPr>
    </a:lvl5pPr>
    <a:lvl6pPr indent="428625" defTabSz="685800" latinLnBrk="0">
      <a:defRPr sz="900">
        <a:latin typeface="+mj-lt"/>
        <a:ea typeface="+mj-ea"/>
        <a:cs typeface="+mj-cs"/>
        <a:sym typeface="Calibri" panose="020F0502020204030204"/>
      </a:defRPr>
    </a:lvl6pPr>
    <a:lvl7pPr indent="514350" defTabSz="685800" latinLnBrk="0">
      <a:defRPr sz="900">
        <a:latin typeface="+mj-lt"/>
        <a:ea typeface="+mj-ea"/>
        <a:cs typeface="+mj-cs"/>
        <a:sym typeface="Calibri" panose="020F0502020204030204"/>
      </a:defRPr>
    </a:lvl7pPr>
    <a:lvl8pPr indent="600075" defTabSz="685800" latinLnBrk="0">
      <a:defRPr sz="900">
        <a:latin typeface="+mj-lt"/>
        <a:ea typeface="+mj-ea"/>
        <a:cs typeface="+mj-cs"/>
        <a:sym typeface="Calibri" panose="020F0502020204030204"/>
      </a:defRPr>
    </a:lvl8pPr>
    <a:lvl9pPr indent="685800" defTabSz="685800" latinLnBrk="0">
      <a:defRPr sz="9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0449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79714E-4CD3-4514-9715-1501949C36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Helvetica"/>
                <a:sym typeface="Helvetic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5257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79714E-4CD3-4514-9715-1501949C36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Helvetica"/>
                <a:sym typeface="Helvetic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54719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Shape 1006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8287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07" name="Shape 10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18000"/>
              </a:lnSpc>
            </a:lvl1pPr>
          </a:lstStyle>
          <a:p>
            <a:pPr marL="0" marR="0" lvl="0" indent="0" algn="l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美的楼宇科技是美的集团旗下五大业务板块之一，聚焦楼宇产品、服务及相关产业，为用户提供高效设备和系统、节能服务、智慧运维服务等，以低碳、智能为核心，携手产业链上下游合作伙伴共建可持续的智慧空间。</a:t>
            </a:r>
            <a:endParaRPr lang="zh-CN" altLang="en-US" sz="18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8287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4" name="Shape 3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18000"/>
              </a:lnSpc>
              <a:defRPr sz="900"/>
            </a:lvl1pPr>
          </a:lstStyle>
          <a:p>
            <a:r>
              <a:t>可开始更新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5911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通过全面解码企业战略，端到端拉通业务流程、构建业务蓝图、解决关键痛点、形成长短期相结合的数字化运营体系
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656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通过全面解码企业战略，端到端拉通业务流程、构建业务蓝图、解决关键痛点、形成长短期相结合的数字化运营体系
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490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7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916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446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3028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274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600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33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437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97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87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82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深色底封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xfrm>
            <a:off x="6233887" y="4605683"/>
            <a:ext cx="319313" cy="323159"/>
          </a:xfrm>
          <a:prstGeom prst="rect">
            <a:avLst/>
          </a:prstGeom>
        </p:spPr>
        <p:txBody>
          <a:bodyPr lIns="91437" tIns="91437" rIns="91437" bIns="91437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10232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 txBox="1">
            <a:spLocks/>
          </p:cNvSpPr>
          <p:nvPr userDrawn="1"/>
        </p:nvSpPr>
        <p:spPr>
          <a:xfrm>
            <a:off x="8660176" y="4925025"/>
            <a:ext cx="426225" cy="162874"/>
          </a:xfrm>
          <a:prstGeom prst="rect">
            <a:avLst/>
          </a:prstGeom>
          <a:ln w="12700">
            <a:miter lim="400000"/>
          </a:ln>
        </p:spPr>
        <p:txBody>
          <a:bodyPr vert="horz" wrap="none" lIns="37220" tIns="18610" rIns="37220" bIns="18610" rtlCol="0" anchor="ctr">
            <a:spAutoFit/>
          </a:bodyPr>
          <a:lstStyle>
            <a:defPPr marL="0" marR="0" indent="0" algn="l" defTabSz="80869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92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62244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0" algn="l" defTabSz="16167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1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0" marR="0" indent="0" algn="l" defTabSz="16167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1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0" marR="0" indent="0" algn="l" defTabSz="16167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1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0" marR="0" indent="0" algn="l" defTabSz="16167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1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0" marR="0" indent="0" algn="l" defTabSz="16167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1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0" algn="l" defTabSz="16167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1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0" algn="l" defTabSz="16167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1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0" algn="l" defTabSz="16167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1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altLang="zh-CN" sz="814" dirty="0"/>
              <a:t>Page </a:t>
            </a:r>
            <a:fld id="{2215C92A-FD7A-4619-9C9D-EDAEB5E91821}" type="slidenum">
              <a:rPr lang="zh-CN" altLang="en-US" sz="814" smtClean="0"/>
              <a:pPr/>
              <a:t>‹#›</a:t>
            </a:fld>
            <a:endParaRPr lang="zh-CN" altLang="en-US" sz="814" dirty="0"/>
          </a:p>
        </p:txBody>
      </p:sp>
    </p:spTree>
    <p:extLst>
      <p:ext uri="{BB962C8B-B14F-4D97-AF65-F5344CB8AC3E}">
        <p14:creationId xmlns:p14="http://schemas.microsoft.com/office/powerpoint/2010/main" val="126788953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88099" y="169485"/>
            <a:ext cx="968297" cy="340697"/>
          </a:xfrm>
          <a:prstGeom prst="rect">
            <a:avLst/>
          </a:prstGeom>
        </p:spPr>
      </p:pic>
      <p:pic>
        <p:nvPicPr>
          <p:cNvPr id="8" name="图像" descr="图像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225343" y="238066"/>
            <a:ext cx="618848" cy="8323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10" name="直线连接符 9"/>
          <p:cNvCxnSpPr/>
          <p:nvPr userDrawn="1"/>
        </p:nvCxnSpPr>
        <p:spPr>
          <a:xfrm>
            <a:off x="889362" y="207173"/>
            <a:ext cx="0" cy="520628"/>
          </a:xfrm>
          <a:prstGeom prst="line">
            <a:avLst/>
          </a:prstGeom>
          <a:ln>
            <a:solidFill>
              <a:srgbClr val="1577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25834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">
            <a:extLst>
              <a:ext uri="{FF2B5EF4-FFF2-40B4-BE49-F238E27FC236}">
                <a16:creationId xmlns:a16="http://schemas.microsoft.com/office/drawing/2014/main" id="{7C92DA01-7845-6440-9D69-0190C9CE1729}"/>
              </a:ext>
            </a:extLst>
          </p:cNvPr>
          <p:cNvSpPr/>
          <p:nvPr userDrawn="1"/>
        </p:nvSpPr>
        <p:spPr>
          <a:xfrm>
            <a:off x="924500" y="222810"/>
            <a:ext cx="10800" cy="432000"/>
          </a:xfrm>
          <a:prstGeom prst="rect">
            <a:avLst/>
          </a:prstGeom>
          <a:solidFill>
            <a:srgbClr val="1478F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480"/>
          </a:p>
        </p:txBody>
      </p:sp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307A6B87-A86D-4244-9B40-4A78837EA5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977" y="228599"/>
            <a:ext cx="516998" cy="6953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748A5A-69C7-BF46-BE8B-E05B1AF935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6128" y="249586"/>
            <a:ext cx="1021549" cy="35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33372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836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5120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8099" y="169485"/>
            <a:ext cx="968297" cy="340697"/>
          </a:xfrm>
          <a:prstGeom prst="rect">
            <a:avLst/>
          </a:prstGeom>
        </p:spPr>
      </p:pic>
      <p:pic>
        <p:nvPicPr>
          <p:cNvPr id="8" name="图像" descr="图像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343" y="238066"/>
            <a:ext cx="618848" cy="8323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9" name="直线连接符 9"/>
          <p:cNvCxnSpPr/>
          <p:nvPr userDrawn="1"/>
        </p:nvCxnSpPr>
        <p:spPr>
          <a:xfrm>
            <a:off x="889362" y="207173"/>
            <a:ext cx="0" cy="520628"/>
          </a:xfrm>
          <a:prstGeom prst="line">
            <a:avLst/>
          </a:prstGeom>
          <a:ln>
            <a:solidFill>
              <a:srgbClr val="1577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513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5542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234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24828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8099" y="169485"/>
            <a:ext cx="968297" cy="340697"/>
          </a:xfrm>
          <a:prstGeom prst="rect">
            <a:avLst/>
          </a:prstGeom>
        </p:spPr>
      </p:pic>
      <p:pic>
        <p:nvPicPr>
          <p:cNvPr id="6" name="图像" descr="图像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343" y="238066"/>
            <a:ext cx="618848" cy="8323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7" name="直线连接符 9"/>
          <p:cNvCxnSpPr/>
          <p:nvPr userDrawn="1"/>
        </p:nvCxnSpPr>
        <p:spPr>
          <a:xfrm>
            <a:off x="889362" y="207173"/>
            <a:ext cx="0" cy="520628"/>
          </a:xfrm>
          <a:prstGeom prst="line">
            <a:avLst/>
          </a:prstGeom>
          <a:ln>
            <a:solidFill>
              <a:srgbClr val="1577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8524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7512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50119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601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26140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3" name="图片 3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48488" y="230188"/>
            <a:ext cx="1792287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65742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7912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-siz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0" name="think-cell Slide" r:id="rId4" imgW="0" imgH="0" progId="TCLayout.ActiveDocument.1">
                  <p:embed/>
                </p:oleObj>
              </mc:Choice>
              <mc:Fallback>
                <p:oleObj name="think-cell Slide" r:id="rId4" imgW="0" imgH="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900" cy="5143500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 bwMode="ltGray">
          <a:xfrm>
            <a:off x="0" y="1113235"/>
            <a:ext cx="2322556" cy="2322000"/>
          </a:xfrm>
          <a:solidFill>
            <a:schemeClr val="tx1"/>
          </a:solidFill>
        </p:spPr>
        <p:txBody>
          <a:bodyPr vert="horz" wrap="square" lIns="252000" tIns="180000" rIns="180000" bIns="180000">
            <a:noAutofit/>
          </a:bodyPr>
          <a:lstStyle>
            <a:lvl1pPr>
              <a:lnSpc>
                <a:spcPct val="100000"/>
              </a:lnSpc>
              <a:defRPr sz="19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470702" y="4743496"/>
            <a:ext cx="481013" cy="213163"/>
          </a:xfr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710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93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527414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A068BB95-1C72-448B-AB15-D92AFDA5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AC3E758-8B69-4A01-921F-D41F09C7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0C9D729-9D08-4CF1-AF3C-39DCE7C8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2281DAED-5119-4C40-8384-014EFD47CE2B}"/>
              </a:ext>
            </a:extLst>
          </p:cNvPr>
          <p:cNvSpPr/>
          <p:nvPr userDrawn="1"/>
        </p:nvSpPr>
        <p:spPr>
          <a:xfrm>
            <a:off x="924500" y="170802"/>
            <a:ext cx="10800" cy="432000"/>
          </a:xfrm>
          <a:prstGeom prst="rect">
            <a:avLst/>
          </a:prstGeom>
          <a:solidFill>
            <a:srgbClr val="1478FE"/>
          </a:solidFill>
          <a:ln w="12700">
            <a:solidFill>
              <a:srgbClr val="06A5F4"/>
            </a:solidFill>
            <a:miter lim="400000"/>
          </a:ln>
        </p:spPr>
        <p:txBody>
          <a:bodyPr lIns="0" tIns="0" rIns="0" bIns="0" anchor="ctr"/>
          <a:lstStyle/>
          <a:p>
            <a:endParaRPr sz="47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66ABD346-3FCB-461E-909F-A5A63F1F64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977" y="176591"/>
            <a:ext cx="516998" cy="695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6EDB614-3115-4E76-8DD7-BC478B9E85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7575" y="31324"/>
            <a:ext cx="1228749" cy="428163"/>
          </a:xfrm>
          <a:prstGeom prst="rect">
            <a:avLst/>
          </a:prstGeom>
        </p:spPr>
      </p:pic>
      <p:sp>
        <p:nvSpPr>
          <p:cNvPr id="14" name="内容占位符 10">
            <a:extLst>
              <a:ext uri="{FF2B5EF4-FFF2-40B4-BE49-F238E27FC236}">
                <a16:creationId xmlns:a16="http://schemas.microsoft.com/office/drawing/2014/main" id="{759DD30D-2831-4BED-B9E3-3D118922C6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4940" y="140884"/>
            <a:ext cx="5983569" cy="311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6A4F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1B1FC1-3597-4EAD-961A-320C6527E905}"/>
              </a:ext>
            </a:extLst>
          </p:cNvPr>
          <p:cNvSpPr txBox="1"/>
          <p:nvPr userDrawn="1"/>
        </p:nvSpPr>
        <p:spPr>
          <a:xfrm>
            <a:off x="8438082" y="12590"/>
            <a:ext cx="7059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绝密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D750138-C226-4CC4-9B4A-40C048AE7C90}"/>
              </a:ext>
            </a:extLst>
          </p:cNvPr>
          <p:cNvGrpSpPr/>
          <p:nvPr userDrawn="1"/>
        </p:nvGrpSpPr>
        <p:grpSpPr>
          <a:xfrm>
            <a:off x="9193219" y="64549"/>
            <a:ext cx="402171" cy="644507"/>
            <a:chOff x="9261646" y="1633365"/>
            <a:chExt cx="402171" cy="644507"/>
          </a:xfrm>
        </p:grpSpPr>
        <p:sp>
          <p:nvSpPr>
            <p:cNvPr id="17" name="矩形: 圆角 46">
              <a:extLst>
                <a:ext uri="{FF2B5EF4-FFF2-40B4-BE49-F238E27FC236}">
                  <a16:creationId xmlns:a16="http://schemas.microsoft.com/office/drawing/2014/main" id="{B2C2C6B1-B26A-4A12-AE99-0BD0EA4260C4}"/>
                </a:ext>
              </a:extLst>
            </p:cNvPr>
            <p:cNvSpPr/>
            <p:nvPr userDrawn="1"/>
          </p:nvSpPr>
          <p:spPr>
            <a:xfrm>
              <a:off x="9261648" y="1633365"/>
              <a:ext cx="402169" cy="141031"/>
            </a:xfrm>
            <a:prstGeom prst="roundRect">
              <a:avLst>
                <a:gd name="adj" fmla="val 0"/>
              </a:avLst>
            </a:prstGeom>
            <a:solidFill>
              <a:srgbClr val="06A4F3"/>
            </a:solidFill>
            <a:ln>
              <a:noFill/>
            </a:ln>
            <a:effectLst>
              <a:outerShdw blurRad="1651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hangingPunct="1">
                <a:defRPr/>
              </a:pPr>
              <a:endParaRPr lang="zh-CN" altLang="en-US" sz="1800" kern="12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矩形: 圆角 46">
              <a:extLst>
                <a:ext uri="{FF2B5EF4-FFF2-40B4-BE49-F238E27FC236}">
                  <a16:creationId xmlns:a16="http://schemas.microsoft.com/office/drawing/2014/main" id="{B0799FF8-3763-4A85-8CC4-6BCCAE1463BB}"/>
                </a:ext>
              </a:extLst>
            </p:cNvPr>
            <p:cNvSpPr/>
            <p:nvPr userDrawn="1"/>
          </p:nvSpPr>
          <p:spPr>
            <a:xfrm>
              <a:off x="9261647" y="1885103"/>
              <a:ext cx="402169" cy="141031"/>
            </a:xfrm>
            <a:prstGeom prst="roundRect">
              <a:avLst>
                <a:gd name="adj" fmla="val 0"/>
              </a:avLst>
            </a:prstGeom>
            <a:solidFill>
              <a:srgbClr val="55BFFB"/>
            </a:solidFill>
            <a:ln>
              <a:noFill/>
            </a:ln>
            <a:effectLst>
              <a:outerShdw blurRad="1651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hangingPunct="1">
                <a:defRPr/>
              </a:pPr>
              <a:endParaRPr lang="zh-CN" altLang="en-US" sz="1800" kern="12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: 圆角 46">
              <a:extLst>
                <a:ext uri="{FF2B5EF4-FFF2-40B4-BE49-F238E27FC236}">
                  <a16:creationId xmlns:a16="http://schemas.microsoft.com/office/drawing/2014/main" id="{6A51C72B-9AE8-40A3-93A1-8202163408DE}"/>
                </a:ext>
              </a:extLst>
            </p:cNvPr>
            <p:cNvSpPr/>
            <p:nvPr userDrawn="1"/>
          </p:nvSpPr>
          <p:spPr>
            <a:xfrm>
              <a:off x="9261646" y="2136841"/>
              <a:ext cx="402169" cy="141031"/>
            </a:xfrm>
            <a:prstGeom prst="roundRect">
              <a:avLst>
                <a:gd name="adj" fmla="val 0"/>
              </a:avLst>
            </a:prstGeom>
            <a:solidFill>
              <a:srgbClr val="A9DCFF"/>
            </a:solidFill>
            <a:ln>
              <a:noFill/>
            </a:ln>
            <a:effectLst>
              <a:outerShdw blurRad="1651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hangingPunct="1">
                <a:defRPr/>
              </a:pPr>
              <a:endParaRPr lang="zh-CN" altLang="en-US" sz="1800" kern="12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E641412B-BAE6-4BBB-AA3E-6CD096BDBAB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3219" y="819763"/>
            <a:ext cx="483394" cy="32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74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7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9" r:id="rId14"/>
    <p:sldLayoutId id="2147483763" r:id="rId15"/>
    <p:sldLayoutId id="2147483764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692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26" Type="http://schemas.openxmlformats.org/officeDocument/2006/relationships/image" Target="../media/image30.png"/><Relationship Id="rId39" Type="http://schemas.openxmlformats.org/officeDocument/2006/relationships/image" Target="../media/image41.png"/><Relationship Id="rId21" Type="http://schemas.microsoft.com/office/2007/relationships/hdphoto" Target="../media/hdphoto4.wdp"/><Relationship Id="rId34" Type="http://schemas.openxmlformats.org/officeDocument/2006/relationships/image" Target="../media/image36.png"/><Relationship Id="rId42" Type="http://schemas.microsoft.com/office/2007/relationships/hdphoto" Target="../media/hdphoto8.wdp"/><Relationship Id="rId47" Type="http://schemas.openxmlformats.org/officeDocument/2006/relationships/image" Target="../media/image4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jpeg"/><Relationship Id="rId29" Type="http://schemas.openxmlformats.org/officeDocument/2006/relationships/image" Target="../media/image32.png"/><Relationship Id="rId11" Type="http://schemas.microsoft.com/office/2007/relationships/hdphoto" Target="../media/hdphoto2.wdp"/><Relationship Id="rId24" Type="http://schemas.openxmlformats.org/officeDocument/2006/relationships/image" Target="../media/image28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6.png"/><Relationship Id="rId5" Type="http://schemas.openxmlformats.org/officeDocument/2006/relationships/image" Target="../media/image14.png"/><Relationship Id="rId15" Type="http://schemas.openxmlformats.org/officeDocument/2006/relationships/image" Target="../media/image21.jpeg"/><Relationship Id="rId23" Type="http://schemas.microsoft.com/office/2007/relationships/hdphoto" Target="../media/hdphoto5.wdp"/><Relationship Id="rId28" Type="http://schemas.openxmlformats.org/officeDocument/2006/relationships/image" Target="../media/image31.png"/><Relationship Id="rId36" Type="http://schemas.openxmlformats.org/officeDocument/2006/relationships/image" Target="../media/image38.png"/><Relationship Id="rId49" Type="http://schemas.openxmlformats.org/officeDocument/2006/relationships/image" Target="../media/image50.png"/><Relationship Id="rId10" Type="http://schemas.openxmlformats.org/officeDocument/2006/relationships/image" Target="../media/image18.png"/><Relationship Id="rId19" Type="http://schemas.openxmlformats.org/officeDocument/2006/relationships/image" Target="../media/image25.png"/><Relationship Id="rId31" Type="http://schemas.microsoft.com/office/2007/relationships/hdphoto" Target="../media/hdphoto7.wdp"/><Relationship Id="rId44" Type="http://schemas.openxmlformats.org/officeDocument/2006/relationships/image" Target="../media/image45.png"/><Relationship Id="rId4" Type="http://schemas.openxmlformats.org/officeDocument/2006/relationships/image" Target="../media/image13.png"/><Relationship Id="rId9" Type="http://schemas.openxmlformats.org/officeDocument/2006/relationships/image" Target="../media/image17.jpeg"/><Relationship Id="rId14" Type="http://schemas.microsoft.com/office/2007/relationships/hdphoto" Target="../media/hdphoto3.wdp"/><Relationship Id="rId22" Type="http://schemas.openxmlformats.org/officeDocument/2006/relationships/image" Target="../media/image27.png"/><Relationship Id="rId27" Type="http://schemas.microsoft.com/office/2007/relationships/hdphoto" Target="../media/hdphoto6.wdp"/><Relationship Id="rId30" Type="http://schemas.openxmlformats.org/officeDocument/2006/relationships/image" Target="../media/image33.png"/><Relationship Id="rId35" Type="http://schemas.openxmlformats.org/officeDocument/2006/relationships/image" Target="../media/image37.jpeg"/><Relationship Id="rId43" Type="http://schemas.openxmlformats.org/officeDocument/2006/relationships/image" Target="../media/image44.png"/><Relationship Id="rId48" Type="http://schemas.openxmlformats.org/officeDocument/2006/relationships/image" Target="../media/image49.jpeg"/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5" Type="http://schemas.openxmlformats.org/officeDocument/2006/relationships/image" Target="../media/image29.jpe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7.png"/><Relationship Id="rId20" Type="http://schemas.openxmlformats.org/officeDocument/2006/relationships/image" Target="../media/image26.png"/><Relationship Id="rId41" Type="http://schemas.openxmlformats.org/officeDocument/2006/relationships/image" Target="../media/image43.png"/><Relationship Id="rId1" Type="http://schemas.openxmlformats.org/officeDocument/2006/relationships/slideLayout" Target="../slideLayouts/slideLayout23.xml"/><Relationship Id="rId6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image" Target="../media/image54.png"/><Relationship Id="rId39" Type="http://schemas.openxmlformats.org/officeDocument/2006/relationships/image" Target="../media/image67.png"/><Relationship Id="rId21" Type="http://schemas.openxmlformats.org/officeDocument/2006/relationships/tags" Target="../tags/tag22.xml"/><Relationship Id="rId34" Type="http://schemas.openxmlformats.org/officeDocument/2006/relationships/image" Target="../media/image62.png"/><Relationship Id="rId42" Type="http://schemas.openxmlformats.org/officeDocument/2006/relationships/image" Target="../media/image70.png"/><Relationship Id="rId47" Type="http://schemas.openxmlformats.org/officeDocument/2006/relationships/image" Target="../media/image75.png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image" Target="../media/image57.png"/><Relationship Id="rId11" Type="http://schemas.openxmlformats.org/officeDocument/2006/relationships/tags" Target="../tags/tag12.xml"/><Relationship Id="rId24" Type="http://schemas.openxmlformats.org/officeDocument/2006/relationships/image" Target="../media/image1.emf"/><Relationship Id="rId32" Type="http://schemas.openxmlformats.org/officeDocument/2006/relationships/image" Target="../media/image60.png"/><Relationship Id="rId37" Type="http://schemas.openxmlformats.org/officeDocument/2006/relationships/image" Target="../media/image65.png"/><Relationship Id="rId40" Type="http://schemas.openxmlformats.org/officeDocument/2006/relationships/image" Target="../media/image68.png"/><Relationship Id="rId45" Type="http://schemas.openxmlformats.org/officeDocument/2006/relationships/image" Target="../media/image73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image" Target="../media/image52.png"/><Relationship Id="rId28" Type="http://schemas.openxmlformats.org/officeDocument/2006/relationships/image" Target="../media/image56.png"/><Relationship Id="rId36" Type="http://schemas.openxmlformats.org/officeDocument/2006/relationships/image" Target="../media/image64.png"/><Relationship Id="rId49" Type="http://schemas.openxmlformats.org/officeDocument/2006/relationships/image" Target="../media/image77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image" Target="../media/image59.png"/><Relationship Id="rId44" Type="http://schemas.openxmlformats.org/officeDocument/2006/relationships/image" Target="../media/image72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slideLayout" Target="../slideLayouts/slideLayout32.xml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image" Target="../media/image63.png"/><Relationship Id="rId43" Type="http://schemas.openxmlformats.org/officeDocument/2006/relationships/image" Target="../media/image71.png"/><Relationship Id="rId48" Type="http://schemas.openxmlformats.org/officeDocument/2006/relationships/image" Target="../media/image76.png"/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image" Target="../media/image53.png"/><Relationship Id="rId33" Type="http://schemas.openxmlformats.org/officeDocument/2006/relationships/image" Target="../media/image61.jpeg"/><Relationship Id="rId38" Type="http://schemas.openxmlformats.org/officeDocument/2006/relationships/image" Target="../media/image66.png"/><Relationship Id="rId46" Type="http://schemas.openxmlformats.org/officeDocument/2006/relationships/image" Target="../media/image74.png"/><Relationship Id="rId20" Type="http://schemas.openxmlformats.org/officeDocument/2006/relationships/tags" Target="../tags/tag21.xml"/><Relationship Id="rId41" Type="http://schemas.openxmlformats.org/officeDocument/2006/relationships/image" Target="../media/image69.png"/><Relationship Id="rId1" Type="http://schemas.openxmlformats.org/officeDocument/2006/relationships/tags" Target="../tags/tag2.xml"/><Relationship Id="rId6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image" Target="../media/image80.png"/><Relationship Id="rId3" Type="http://schemas.openxmlformats.org/officeDocument/2006/relationships/tags" Target="../tags/tag25.xml"/><Relationship Id="rId21" Type="http://schemas.openxmlformats.org/officeDocument/2006/relationships/tags" Target="../tags/tag43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image" Target="../media/image79.emf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image" Target="../media/image83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image" Target="../media/image78.png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notesSlide" Target="../notesSlides/notesSlide4.xml"/><Relationship Id="rId28" Type="http://schemas.openxmlformats.org/officeDocument/2006/relationships/image" Target="../media/image82.png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image" Target="../media/image85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slideLayout" Target="../slideLayouts/slideLayout15.xml"/><Relationship Id="rId27" Type="http://schemas.openxmlformats.org/officeDocument/2006/relationships/image" Target="../media/image81.emf"/><Relationship Id="rId30" Type="http://schemas.openxmlformats.org/officeDocument/2006/relationships/image" Target="../media/image8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34" Type="http://schemas.openxmlformats.org/officeDocument/2006/relationships/tags" Target="../tags/tag77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50" Type="http://schemas.openxmlformats.org/officeDocument/2006/relationships/tags" Target="../tags/tag93.xml"/><Relationship Id="rId55" Type="http://schemas.openxmlformats.org/officeDocument/2006/relationships/tags" Target="../tags/tag98.xml"/><Relationship Id="rId63" Type="http://schemas.openxmlformats.org/officeDocument/2006/relationships/image" Target="../media/image104.png"/><Relationship Id="rId68" Type="http://schemas.openxmlformats.org/officeDocument/2006/relationships/image" Target="../media/image109.png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9" Type="http://schemas.openxmlformats.org/officeDocument/2006/relationships/tags" Target="../tags/tag72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53" Type="http://schemas.openxmlformats.org/officeDocument/2006/relationships/tags" Target="../tags/tag96.xml"/><Relationship Id="rId58" Type="http://schemas.openxmlformats.org/officeDocument/2006/relationships/notesSlide" Target="../notesSlides/notesSlide6.xml"/><Relationship Id="rId66" Type="http://schemas.openxmlformats.org/officeDocument/2006/relationships/image" Target="../media/image107.png"/><Relationship Id="rId5" Type="http://schemas.openxmlformats.org/officeDocument/2006/relationships/tags" Target="../tags/tag48.xml"/><Relationship Id="rId61" Type="http://schemas.openxmlformats.org/officeDocument/2006/relationships/image" Target="../media/image102.png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56" Type="http://schemas.openxmlformats.org/officeDocument/2006/relationships/tags" Target="../tags/tag99.xml"/><Relationship Id="rId64" Type="http://schemas.openxmlformats.org/officeDocument/2006/relationships/image" Target="../media/image105.png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image" Target="../media/image100.png"/><Relationship Id="rId67" Type="http://schemas.openxmlformats.org/officeDocument/2006/relationships/image" Target="../media/image108.png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image" Target="../media/image103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slideLayout" Target="../slideLayouts/slideLayout15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image" Target="../media/image101.png"/><Relationship Id="rId65" Type="http://schemas.openxmlformats.org/officeDocument/2006/relationships/image" Target="../media/image106.pn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.emf"/><Relationship Id="rId7" Type="http://schemas.openxmlformats.org/officeDocument/2006/relationships/image" Target="../media/image11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12.xml"/><Relationship Id="rId18" Type="http://schemas.openxmlformats.org/officeDocument/2006/relationships/tags" Target="../tags/tag117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tags" Target="../tags/tag141.xml"/><Relationship Id="rId47" Type="http://schemas.openxmlformats.org/officeDocument/2006/relationships/tags" Target="../tags/tag146.xml"/><Relationship Id="rId50" Type="http://schemas.openxmlformats.org/officeDocument/2006/relationships/tags" Target="../tags/tag149.xml"/><Relationship Id="rId55" Type="http://schemas.openxmlformats.org/officeDocument/2006/relationships/tags" Target="../tags/tag154.xml"/><Relationship Id="rId7" Type="http://schemas.openxmlformats.org/officeDocument/2006/relationships/tags" Target="../tags/tag106.xml"/><Relationship Id="rId2" Type="http://schemas.openxmlformats.org/officeDocument/2006/relationships/tags" Target="../tags/tag101.xml"/><Relationship Id="rId16" Type="http://schemas.openxmlformats.org/officeDocument/2006/relationships/tags" Target="../tags/tag115.xml"/><Relationship Id="rId29" Type="http://schemas.openxmlformats.org/officeDocument/2006/relationships/tags" Target="../tags/tag128.xml"/><Relationship Id="rId11" Type="http://schemas.openxmlformats.org/officeDocument/2006/relationships/tags" Target="../tags/tag110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tags" Target="../tags/tag139.xml"/><Relationship Id="rId45" Type="http://schemas.openxmlformats.org/officeDocument/2006/relationships/tags" Target="../tags/tag144.xml"/><Relationship Id="rId53" Type="http://schemas.openxmlformats.org/officeDocument/2006/relationships/tags" Target="../tags/tag152.xml"/><Relationship Id="rId58" Type="http://schemas.openxmlformats.org/officeDocument/2006/relationships/tags" Target="../tags/tag157.xml"/><Relationship Id="rId5" Type="http://schemas.openxmlformats.org/officeDocument/2006/relationships/tags" Target="../tags/tag104.xml"/><Relationship Id="rId19" Type="http://schemas.openxmlformats.org/officeDocument/2006/relationships/tags" Target="../tags/tag118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43" Type="http://schemas.openxmlformats.org/officeDocument/2006/relationships/tags" Target="../tags/tag142.xml"/><Relationship Id="rId48" Type="http://schemas.openxmlformats.org/officeDocument/2006/relationships/tags" Target="../tags/tag147.xml"/><Relationship Id="rId56" Type="http://schemas.openxmlformats.org/officeDocument/2006/relationships/tags" Target="../tags/tag155.xml"/><Relationship Id="rId8" Type="http://schemas.openxmlformats.org/officeDocument/2006/relationships/tags" Target="../tags/tag107.xml"/><Relationship Id="rId51" Type="http://schemas.openxmlformats.org/officeDocument/2006/relationships/tags" Target="../tags/tag150.xml"/><Relationship Id="rId3" Type="http://schemas.openxmlformats.org/officeDocument/2006/relationships/tags" Target="../tags/tag102.xml"/><Relationship Id="rId12" Type="http://schemas.openxmlformats.org/officeDocument/2006/relationships/tags" Target="../tags/tag111.xml"/><Relationship Id="rId17" Type="http://schemas.openxmlformats.org/officeDocument/2006/relationships/tags" Target="../tags/tag116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Relationship Id="rId46" Type="http://schemas.openxmlformats.org/officeDocument/2006/relationships/tags" Target="../tags/tag145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119.xml"/><Relationship Id="rId41" Type="http://schemas.openxmlformats.org/officeDocument/2006/relationships/tags" Target="../tags/tag140.xml"/><Relationship Id="rId54" Type="http://schemas.openxmlformats.org/officeDocument/2006/relationships/tags" Target="../tags/tag153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5" Type="http://schemas.openxmlformats.org/officeDocument/2006/relationships/tags" Target="../tags/tag114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49" Type="http://schemas.openxmlformats.org/officeDocument/2006/relationships/tags" Target="../tags/tag148.xml"/><Relationship Id="rId57" Type="http://schemas.openxmlformats.org/officeDocument/2006/relationships/tags" Target="../tags/tag156.xml"/><Relationship Id="rId10" Type="http://schemas.openxmlformats.org/officeDocument/2006/relationships/tags" Target="../tags/tag109.xml"/><Relationship Id="rId31" Type="http://schemas.openxmlformats.org/officeDocument/2006/relationships/tags" Target="../tags/tag130.xml"/><Relationship Id="rId44" Type="http://schemas.openxmlformats.org/officeDocument/2006/relationships/tags" Target="../tags/tag143.xml"/><Relationship Id="rId52" Type="http://schemas.openxmlformats.org/officeDocument/2006/relationships/tags" Target="../tags/tag151.xml"/><Relationship Id="rId60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2.png" descr="image2.png">
            <a:extLst>
              <a:ext uri="{FF2B5EF4-FFF2-40B4-BE49-F238E27FC236}">
                <a16:creationId xmlns:a16="http://schemas.microsoft.com/office/drawing/2014/main" id="{1F5AF839-A866-4F41-820E-A2021E2A236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2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矩形 3"/>
          <p:cNvSpPr/>
          <p:nvPr/>
        </p:nvSpPr>
        <p:spPr>
          <a:xfrm>
            <a:off x="3610840" y="2279363"/>
            <a:ext cx="19223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日沟通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F1546C-96A1-1441-AF1D-D23FDEF9A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9746" y="211329"/>
            <a:ext cx="1068401" cy="37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850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肘形连接符 39"/>
          <p:cNvCxnSpPr>
            <a:stCxn id="152" idx="3"/>
          </p:cNvCxnSpPr>
          <p:nvPr/>
        </p:nvCxnSpPr>
        <p:spPr>
          <a:xfrm flipV="1">
            <a:off x="2306934" y="2872643"/>
            <a:ext cx="1235341" cy="323218"/>
          </a:xfrm>
          <a:prstGeom prst="bentConnector3">
            <a:avLst>
              <a:gd name="adj1" fmla="val 49178"/>
            </a:avLst>
          </a:prstGeom>
          <a:ln w="12700" cmpd="sng">
            <a:solidFill>
              <a:srgbClr val="1478FE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肘形连接符 51"/>
          <p:cNvCxnSpPr/>
          <p:nvPr/>
        </p:nvCxnSpPr>
        <p:spPr>
          <a:xfrm flipV="1">
            <a:off x="4783756" y="1090597"/>
            <a:ext cx="1955670" cy="1057351"/>
          </a:xfrm>
          <a:prstGeom prst="bentConnector3">
            <a:avLst>
              <a:gd name="adj1" fmla="val 50000"/>
            </a:avLst>
          </a:prstGeom>
          <a:ln w="12700" cmpd="sng">
            <a:solidFill>
              <a:srgbClr val="1478FE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肘形连接符 116"/>
          <p:cNvCxnSpPr/>
          <p:nvPr/>
        </p:nvCxnSpPr>
        <p:spPr>
          <a:xfrm rot="10800000">
            <a:off x="5182904" y="2720049"/>
            <a:ext cx="1552706" cy="438745"/>
          </a:xfrm>
          <a:prstGeom prst="bentConnector3">
            <a:avLst>
              <a:gd name="adj1" fmla="val 55453"/>
            </a:avLst>
          </a:prstGeom>
          <a:ln w="12700" cmpd="sng">
            <a:solidFill>
              <a:srgbClr val="1478FE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肘形连接符 150"/>
          <p:cNvCxnSpPr/>
          <p:nvPr/>
        </p:nvCxnSpPr>
        <p:spPr>
          <a:xfrm rot="10800000">
            <a:off x="2043932" y="1091977"/>
            <a:ext cx="1724822" cy="1573013"/>
          </a:xfrm>
          <a:prstGeom prst="bentConnector3">
            <a:avLst>
              <a:gd name="adj1" fmla="val 50000"/>
            </a:avLst>
          </a:prstGeom>
          <a:ln w="12700" cmpd="sng">
            <a:solidFill>
              <a:srgbClr val="1478FE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81775" y="1452478"/>
            <a:ext cx="3036000" cy="2361154"/>
          </a:xfrm>
          <a:prstGeom prst="rect">
            <a:avLst/>
          </a:prstGeom>
        </p:spPr>
      </p:pic>
      <p:sp>
        <p:nvSpPr>
          <p:cNvPr id="70" name="矩形 69"/>
          <p:cNvSpPr/>
          <p:nvPr/>
        </p:nvSpPr>
        <p:spPr>
          <a:xfrm>
            <a:off x="1053896" y="981859"/>
            <a:ext cx="1276985" cy="241070"/>
          </a:xfrm>
          <a:prstGeom prst="rect">
            <a:avLst/>
          </a:prstGeom>
          <a:solidFill>
            <a:srgbClr val="147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15" b="0" i="0" u="none" strike="noStrike" kern="0" cap="none" spc="0" normalizeH="0" baseline="0" noProof="0">
              <a:ln>
                <a:noFill/>
              </a:ln>
              <a:solidFill>
                <a:srgbClr val="1478F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Helvetica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736632" y="960750"/>
            <a:ext cx="1212850" cy="241200"/>
          </a:xfrm>
          <a:prstGeom prst="rect">
            <a:avLst/>
          </a:prstGeom>
          <a:solidFill>
            <a:srgbClr val="147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15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Helvetic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019611" y="960750"/>
            <a:ext cx="1275715" cy="256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Helvetica"/>
              </a:rPr>
              <a:t>医院康养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Helvetic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769906" y="966606"/>
            <a:ext cx="1213485" cy="24797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Helvetica"/>
              </a:rPr>
              <a:t>教育教培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Helvetica"/>
            </a:endParaRPr>
          </a:p>
        </p:txBody>
      </p:sp>
      <p:sp>
        <p:nvSpPr>
          <p:cNvPr id="79" name="Shape 687"/>
          <p:cNvSpPr txBox="1"/>
          <p:nvPr/>
        </p:nvSpPr>
        <p:spPr>
          <a:xfrm>
            <a:off x="965911" y="173505"/>
            <a:ext cx="1439092" cy="331096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lvl1pPr defTabSz="821690">
              <a:defRPr sz="46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marL="0" marR="0" lvl="0" indent="0" algn="l" defTabSz="82169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178F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商用场景方案</a:t>
            </a:r>
          </a:p>
        </p:txBody>
      </p:sp>
      <p:sp>
        <p:nvSpPr>
          <p:cNvPr id="116" name="矩形 115"/>
          <p:cNvSpPr/>
          <p:nvPr/>
        </p:nvSpPr>
        <p:spPr>
          <a:xfrm>
            <a:off x="6743045" y="3031254"/>
            <a:ext cx="1213200" cy="241200"/>
          </a:xfrm>
          <a:prstGeom prst="rect">
            <a:avLst/>
          </a:prstGeom>
          <a:solidFill>
            <a:srgbClr val="1478FE"/>
          </a:solidFill>
          <a:ln w="6350" cap="flat">
            <a:solidFill>
              <a:srgbClr val="009CDB">
                <a:alpha val="30000"/>
              </a:srgbClr>
            </a:solidFill>
            <a:prstDash val="sysDot"/>
            <a:miter lim="400000"/>
          </a:ln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1441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75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853408" y="2989383"/>
            <a:ext cx="1046480" cy="22354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91437" tIns="91437" rIns="91437" bIns="91437" numCol="1" spcCol="38100" rtlCol="0" anchor="t" forceAA="0">
            <a:noAutofit/>
          </a:bodyPr>
          <a:lstStyle/>
          <a:p>
            <a:pPr marL="0" marR="0" lvl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美的无界联动体" panose="02000800000000000000" pitchFamily="2" charset="-122"/>
                <a:sym typeface="+mn-ea"/>
              </a:rPr>
              <a:t>商业办公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美的无界联动体" panose="02000800000000000000" pitchFamily="2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082367" y="3389292"/>
            <a:ext cx="2987462" cy="1581421"/>
            <a:chOff x="5839388" y="3336461"/>
            <a:chExt cx="3250597" cy="1705732"/>
          </a:xfrm>
        </p:grpSpPr>
        <p:pic>
          <p:nvPicPr>
            <p:cNvPr id="120" name="图片 119"/>
            <p:cNvPicPr>
              <a:picLocks noChangeAspect="1"/>
            </p:cNvPicPr>
            <p:nvPr/>
          </p:nvPicPr>
          <p:blipFill>
            <a:blip r:embed="rId4" cstate="print">
              <a:lum contrast="12000"/>
            </a:blip>
            <a:stretch>
              <a:fillRect/>
            </a:stretch>
          </p:blipFill>
          <p:spPr>
            <a:xfrm rot="10800000">
              <a:off x="5839388" y="3516852"/>
              <a:ext cx="674374" cy="254281"/>
            </a:xfrm>
            <a:prstGeom prst="rect">
              <a:avLst/>
            </a:prstGeom>
          </p:spPr>
        </p:pic>
        <p:pic>
          <p:nvPicPr>
            <p:cNvPr id="121" name="图片 120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0" r="100000">
                          <a14:foregroundMark x1="10800" y1="51351" x2="39200" y2="91892"/>
                          <a14:foregroundMark x1="39600" y1="90541" x2="92000" y2="72297"/>
                          <a14:foregroundMark x1="41600" y1="93243" x2="95200" y2="75000"/>
                          <a14:backgroundMark x1="58000" y1="95946" x2="34000" y2="9527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02767" y="3391603"/>
              <a:ext cx="852665" cy="504777"/>
            </a:xfrm>
            <a:prstGeom prst="rect">
              <a:avLst/>
            </a:prstGeom>
          </p:spPr>
        </p:pic>
        <p:sp>
          <p:nvSpPr>
            <p:cNvPr id="123" name="文本框 122"/>
            <p:cNvSpPr txBox="1"/>
            <p:nvPr/>
          </p:nvSpPr>
          <p:spPr>
            <a:xfrm>
              <a:off x="5956758" y="3870300"/>
              <a:ext cx="1017182" cy="33196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ctr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空调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24" name="图片 123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>
            <a:xfrm>
              <a:off x="8381046" y="3336461"/>
              <a:ext cx="195643" cy="615061"/>
            </a:xfrm>
            <a:prstGeom prst="rect">
              <a:avLst/>
            </a:prstGeom>
          </p:spPr>
        </p:pic>
        <p:pic>
          <p:nvPicPr>
            <p:cNvPr id="125" name="Picture 4" descr="F:\2020工作文件夹\2020工作文件夹\美的商用柜冷柜公司\展示柜宣传资料\SC-280GM-PNG\SC-280GM-PNG\800\1-SC-280GM-正面关空.png"/>
            <p:cNvPicPr>
              <a:picLocks noChangeAspect="1" noChangeArrowheads="1"/>
            </p:cNvPicPr>
            <p:nvPr/>
          </p:nvPicPr>
          <p:blipFill rotWithShape="1">
            <a:blip r:embed="rId8" cstate="print"/>
            <a:srcRect/>
            <a:stretch>
              <a:fillRect/>
            </a:stretch>
          </p:blipFill>
          <p:spPr bwMode="auto">
            <a:xfrm>
              <a:off x="7642270" y="3362595"/>
              <a:ext cx="183883" cy="562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" name="文本框 125"/>
            <p:cNvSpPr txBox="1"/>
            <p:nvPr/>
          </p:nvSpPr>
          <p:spPr>
            <a:xfrm>
              <a:off x="7486422" y="3870300"/>
              <a:ext cx="1017182" cy="33196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ctr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展示柜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8237103" y="3870300"/>
              <a:ext cx="852882" cy="33196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ctr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净饮机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28" name="图片 127"/>
            <p:cNvPicPr>
              <a:picLocks noChangeAspect="1"/>
            </p:cNvPicPr>
            <p:nvPr/>
          </p:nvPicPr>
          <p:blipFill rotWithShape="1">
            <a:blip r:embed="rId9" cstate="print"/>
            <a:srcRect/>
            <a:stretch>
              <a:fillRect/>
            </a:stretch>
          </p:blipFill>
          <p:spPr>
            <a:xfrm>
              <a:off x="6054331" y="4163357"/>
              <a:ext cx="204712" cy="548459"/>
            </a:xfrm>
            <a:prstGeom prst="rect">
              <a:avLst/>
            </a:prstGeom>
          </p:spPr>
        </p:pic>
        <p:pic>
          <p:nvPicPr>
            <p:cNvPr id="129" name="图片 128"/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0" b="100000" l="0" r="100000">
                          <a14:foregroundMark x1="61688" y1="34701" x2="61688" y2="34701"/>
                          <a14:foregroundMark x1="24026" y1="91791" x2="24026" y2="91791"/>
                          <a14:foregroundMark x1="42857" y1="96269" x2="42857" y2="96269"/>
                          <a14:foregroundMark x1="76623" y1="93657" x2="76623" y2="93657"/>
                          <a14:foregroundMark x1="68182" y1="45522" x2="78571" y2="5522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07613" y="4156786"/>
              <a:ext cx="322712" cy="561602"/>
            </a:xfrm>
            <a:prstGeom prst="rect">
              <a:avLst/>
            </a:prstGeom>
          </p:spPr>
        </p:pic>
        <p:sp>
          <p:nvSpPr>
            <p:cNvPr id="130" name="文本框 129"/>
            <p:cNvSpPr txBox="1"/>
            <p:nvPr/>
          </p:nvSpPr>
          <p:spPr>
            <a:xfrm>
              <a:off x="6693276" y="4734422"/>
              <a:ext cx="1184503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消毒机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5896546" y="4734422"/>
              <a:ext cx="642003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茶吧机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32" name="图片 131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5990" y="4187131"/>
              <a:ext cx="479181" cy="5009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3" name="图片 132"/>
            <p:cNvPicPr>
              <a:picLocks noChangeAspect="1"/>
            </p:cNvPicPr>
            <p:nvPr/>
          </p:nvPicPr>
          <p:blipFill>
            <a:blip r:embed="rId13" cstate="print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0" b="100000" l="0" r="100000">
                          <a14:foregroundMark x1="16230" y1="30455" x2="28796" y2="52273"/>
                          <a14:foregroundMark x1="59686" y1="22727" x2="52880" y2="35455"/>
                          <a14:foregroundMark x1="10995" y1="17727" x2="18325" y2="19091"/>
                          <a14:foregroundMark x1="8377" y1="15455" x2="19372" y2="14545"/>
                          <a14:foregroundMark x1="59162" y1="5909" x2="68063" y2="4091"/>
                          <a14:foregroundMark x1="48168" y1="40455" x2="68063" y2="52727"/>
                          <a14:backgroundMark x1="3141" y1="12727" x2="7853" y2="7409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09456" y="4174931"/>
              <a:ext cx="456064" cy="525310"/>
            </a:xfrm>
            <a:prstGeom prst="rect">
              <a:avLst/>
            </a:prstGeom>
          </p:spPr>
        </p:pic>
        <p:sp>
          <p:nvSpPr>
            <p:cNvPr id="149" name="文本框 148"/>
            <p:cNvSpPr txBox="1"/>
            <p:nvPr/>
          </p:nvSpPr>
          <p:spPr>
            <a:xfrm>
              <a:off x="7489960" y="4734422"/>
              <a:ext cx="659247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煮茶器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8245990" y="4734422"/>
              <a:ext cx="659247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加湿器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093734" y="2978850"/>
            <a:ext cx="1222814" cy="331628"/>
            <a:chOff x="1098786" y="684704"/>
            <a:chExt cx="1222814" cy="331628"/>
          </a:xfrm>
        </p:grpSpPr>
        <p:sp>
          <p:nvSpPr>
            <p:cNvPr id="152" name="矩形 151"/>
            <p:cNvSpPr/>
            <p:nvPr/>
          </p:nvSpPr>
          <p:spPr>
            <a:xfrm>
              <a:off x="1098786" y="787097"/>
              <a:ext cx="1213200" cy="229235"/>
            </a:xfrm>
            <a:prstGeom prst="rect">
              <a:avLst/>
            </a:prstGeom>
            <a:solidFill>
              <a:srgbClr val="1178FE"/>
            </a:solidFill>
            <a:ln w="6350" cap="flat">
              <a:solidFill>
                <a:srgbClr val="009CDB">
                  <a:alpha val="30000"/>
                </a:srgbClr>
              </a:solidFill>
              <a:prstDash val="sysDot"/>
              <a:miter lim="400000"/>
            </a:ln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14414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75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endParaRPr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1101765" y="684704"/>
              <a:ext cx="1219835" cy="23939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91437" tIns="91437" rIns="91437" bIns="91437" numCol="1" spcCol="38100" rtlCol="0" anchor="t" forceAA="0">
              <a:noAutofit/>
            </a:bodyPr>
            <a:lstStyle/>
            <a:p>
              <a:pPr marL="0" marR="0" lvl="0" indent="0" algn="ctr" defTabSz="6858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美的无界联动体" panose="02000800000000000000" pitchFamily="2" charset="-122"/>
                  <a:sym typeface="+mn-ea"/>
                </a:rPr>
                <a:t>商</a:t>
              </a:r>
              <a:r>
                <a:rPr kumimoji="0" lang="zh-CN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美的无界联动体" panose="02000800000000000000" pitchFamily="2" charset="-122"/>
                  <a:sym typeface="+mn-ea"/>
                </a:rPr>
                <a:t>厨超市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美的无界联动体" panose="02000800000000000000" pitchFamily="2" charset="-122"/>
                <a:sym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93898" y="3418938"/>
            <a:ext cx="2334721" cy="1447104"/>
            <a:chOff x="427799" y="3374272"/>
            <a:chExt cx="2512932" cy="1627526"/>
          </a:xfrm>
        </p:grpSpPr>
        <p:pic>
          <p:nvPicPr>
            <p:cNvPr id="155" name="图片 154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427799" y="3374272"/>
              <a:ext cx="423613" cy="552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6" name="图片 155"/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1824521" y="3443105"/>
              <a:ext cx="982275" cy="446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8" name="文本框 157"/>
            <p:cNvSpPr txBox="1"/>
            <p:nvPr/>
          </p:nvSpPr>
          <p:spPr>
            <a:xfrm>
              <a:off x="1926543" y="3889428"/>
              <a:ext cx="778231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商用冷柜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59" name="图片 158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6881" y="3440801"/>
              <a:ext cx="578985" cy="419185"/>
            </a:xfrm>
            <a:prstGeom prst="rect">
              <a:avLst/>
            </a:prstGeom>
          </p:spPr>
        </p:pic>
        <p:sp>
          <p:nvSpPr>
            <p:cNvPr id="160" name="文本框 159"/>
            <p:cNvSpPr txBox="1"/>
            <p:nvPr/>
          </p:nvSpPr>
          <p:spPr>
            <a:xfrm>
              <a:off x="1040266" y="3889428"/>
              <a:ext cx="532215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冷柜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61" name="图片 160"/>
            <p:cNvPicPr>
              <a:picLocks noChangeAspect="1"/>
            </p:cNvPicPr>
            <p:nvPr/>
          </p:nvPicPr>
          <p:blipFill rotWithShape="1"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51098" y="4141586"/>
              <a:ext cx="377015" cy="633923"/>
            </a:xfrm>
            <a:prstGeom prst="rect">
              <a:avLst/>
            </a:prstGeom>
          </p:spPr>
        </p:pic>
        <p:pic>
          <p:nvPicPr>
            <p:cNvPr id="162" name="图片 161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21935" y="4242124"/>
              <a:ext cx="618796" cy="44632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16" name="图片 215"/>
            <p:cNvPicPr>
              <a:picLocks noChangeAspect="1"/>
            </p:cNvPicPr>
            <p:nvPr/>
          </p:nvPicPr>
          <p:blipFill>
            <a:blip r:embed="rId20" cstate="print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7172" b="93655" l="9769" r="89846">
                          <a14:foregroundMark x1="23136" y1="19034" x2="26735" y2="23448"/>
                          <a14:foregroundMark x1="21851" y1="9379" x2="35990" y2="10621"/>
                          <a14:foregroundMark x1="35990" y1="10621" x2="66195" y2="7310"/>
                          <a14:foregroundMark x1="66195" y1="7310" x2="66452" y2="7310"/>
                          <a14:foregroundMark x1="47172" y1="37793" x2="25835" y2="70069"/>
                          <a14:foregroundMark x1="53599" y1="86483" x2="23779" y2="80276"/>
                          <a14:foregroundMark x1="59512" y1="92414" x2="50000" y2="93655"/>
                          <a14:foregroundMark x1="18766" y1="29517" x2="16324" y2="78897"/>
                          <a14:foregroundMark x1="18766" y1="9931" x2="15810" y2="979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7341" y="4185157"/>
              <a:ext cx="558064" cy="518751"/>
            </a:xfrm>
            <a:prstGeom prst="rect">
              <a:avLst/>
            </a:prstGeom>
          </p:spPr>
        </p:pic>
        <p:sp>
          <p:nvSpPr>
            <p:cNvPr id="217" name="Shape 375"/>
            <p:cNvSpPr/>
            <p:nvPr/>
          </p:nvSpPr>
          <p:spPr>
            <a:xfrm>
              <a:off x="921001" y="4824404"/>
              <a:ext cx="770745" cy="177394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7142" tIns="17142" rIns="17142" bIns="17142" anchor="ctr">
              <a:spAutoFit/>
            </a:bodyPr>
            <a:lstStyle>
              <a:lvl1pPr algn="l" defTabSz="913130">
                <a:defRPr sz="24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 marL="0" marR="0" lvl="0" indent="0" algn="ctr" defTabSz="34226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微波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烤箱</a:t>
              </a:r>
            </a:p>
          </p:txBody>
        </p:sp>
        <p:pic>
          <p:nvPicPr>
            <p:cNvPr id="218" name="图片 217" descr="内销midea台面炉（商用60L烤箱）效果图-20230719"/>
            <p:cNvPicPr>
              <a:picLocks noChangeAspect="1"/>
            </p:cNvPicPr>
            <p:nvPr/>
          </p:nvPicPr>
          <p:blipFill>
            <a:blip r:embed="rId22" cstate="print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ackgroundRemoval t="9445" b="90005" l="9914" r="89905">
                          <a14:foregroundMark x1="15325" y1="17024" x2="16598" y2="43328"/>
                          <a14:foregroundMark x1="17917" y1="16749" x2="36335" y2="10818"/>
                          <a14:foregroundMark x1="36335" y1="10818" x2="68531" y2="20758"/>
                          <a14:foregroundMark x1="68531" y1="20758" x2="84538" y2="18342"/>
                          <a14:foregroundMark x1="84538" y1="18342" x2="85675" y2="72268"/>
                          <a14:foregroundMark x1="73352" y1="11807" x2="39472" y2="11038"/>
                          <a14:foregroundMark x1="32151" y1="11807" x2="14234" y2="15706"/>
                          <a14:foregroundMark x1="15553" y1="13125" x2="13142" y2="25865"/>
                          <a14:foregroundMark x1="17053" y1="27677" x2="38518" y2="29434"/>
                          <a14:foregroundMark x1="38518" y1="29434" x2="49386" y2="35640"/>
                          <a14:foregroundMark x1="49386" y1="35640" x2="58481" y2="31851"/>
                          <a14:foregroundMark x1="67758" y1="28995" x2="62574" y2="33663"/>
                          <a14:foregroundMark x1="64939" y1="13125" x2="59527" y2="15980"/>
                          <a14:foregroundMark x1="25693" y1="9445" x2="13643" y2="14223"/>
                          <a14:foregroundMark x1="13643" y1="14223" x2="12506" y2="25371"/>
                          <a14:foregroundMark x1="16189" y1="11807" x2="21783" y2="972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56215" y="4203336"/>
              <a:ext cx="605722" cy="500572"/>
            </a:xfrm>
            <a:prstGeom prst="rect">
              <a:avLst/>
            </a:prstGeom>
          </p:spPr>
        </p:pic>
        <p:sp>
          <p:nvSpPr>
            <p:cNvPr id="219" name="Shape 375"/>
            <p:cNvSpPr/>
            <p:nvPr/>
          </p:nvSpPr>
          <p:spPr>
            <a:xfrm>
              <a:off x="1600283" y="4824404"/>
              <a:ext cx="770745" cy="177394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7142" tIns="17142" rIns="17142" bIns="17142" anchor="ctr">
              <a:spAutoFit/>
            </a:bodyPr>
            <a:lstStyle>
              <a:lvl1pPr algn="l" defTabSz="913130">
                <a:defRPr sz="24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 marL="0" marR="0" lvl="0" indent="0" algn="ctr" defTabSz="34226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热风补湿烤箱</a:t>
              </a:r>
            </a:p>
          </p:txBody>
        </p:sp>
      </p:grpSp>
      <p:sp>
        <p:nvSpPr>
          <p:cNvPr id="220" name="Shape 687"/>
          <p:cNvSpPr txBox="1"/>
          <p:nvPr/>
        </p:nvSpPr>
        <p:spPr>
          <a:xfrm>
            <a:off x="994304" y="496693"/>
            <a:ext cx="1592980" cy="208114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821055">
              <a:defRPr sz="100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ym typeface="微软雅黑" panose="020B0503020204020204" charset="-122"/>
              </a:rPr>
              <a:t>覆盖多业务场景的应用方案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68891" y="1308102"/>
            <a:ext cx="2655493" cy="1523010"/>
            <a:chOff x="210454" y="1308101"/>
            <a:chExt cx="2770236" cy="1645284"/>
          </a:xfrm>
        </p:grpSpPr>
        <p:grpSp>
          <p:nvGrpSpPr>
            <p:cNvPr id="4" name="组合 3"/>
            <p:cNvGrpSpPr/>
            <p:nvPr/>
          </p:nvGrpSpPr>
          <p:grpSpPr>
            <a:xfrm>
              <a:off x="210454" y="1308101"/>
              <a:ext cx="2217271" cy="1630996"/>
              <a:chOff x="176118" y="3336926"/>
              <a:chExt cx="2546404" cy="1892511"/>
            </a:xfrm>
          </p:grpSpPr>
          <p:pic>
            <p:nvPicPr>
              <p:cNvPr id="90" name="图片 89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9481" y="3336926"/>
                <a:ext cx="1360805" cy="608965"/>
              </a:xfrm>
              <a:prstGeom prst="rect">
                <a:avLst/>
              </a:prstGeom>
            </p:spPr>
          </p:pic>
          <p:pic>
            <p:nvPicPr>
              <p:cNvPr id="183" name="图片 182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0" b="100000" l="0" r="100000">
                            <a14:foregroundMark x1="61688" y1="34701" x2="61688" y2="34701"/>
                            <a14:foregroundMark x1="24026" y1="91791" x2="24026" y2="91791"/>
                            <a14:foregroundMark x1="42857" y1="96269" x2="42857" y2="96269"/>
                            <a14:foregroundMark x1="76623" y1="93657" x2="76623" y2="93657"/>
                            <a14:foregroundMark x1="68182" y1="45522" x2="78571" y2="55224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0673" y="3419134"/>
                <a:ext cx="393269" cy="684392"/>
              </a:xfrm>
              <a:prstGeom prst="rect">
                <a:avLst/>
              </a:prstGeom>
            </p:spPr>
          </p:pic>
          <p:sp>
            <p:nvSpPr>
              <p:cNvPr id="184" name="文本框 183"/>
              <p:cNvSpPr txBox="1"/>
              <p:nvPr/>
            </p:nvSpPr>
            <p:spPr>
              <a:xfrm>
                <a:off x="298325" y="4023724"/>
                <a:ext cx="693527" cy="3529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7" tIns="91437" rIns="91437" bIns="91437" numCol="1" spcCol="38100" rtlCol="0" anchor="t">
                <a:spAutoFit/>
              </a:bodyPr>
              <a:lstStyle/>
              <a:p>
                <a:pPr marL="0" marR="0" lvl="0" indent="0" algn="l" defTabSz="18288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  <a:sym typeface="Helvetica"/>
                  </a:rPr>
                  <a:t>消毒机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endParaRPr>
              </a:p>
            </p:txBody>
          </p:sp>
          <p:pic>
            <p:nvPicPr>
              <p:cNvPr id="185" name="图片 22"/>
              <p:cNvPicPr>
                <a:picLocks noChangeAspect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9690" y="3456848"/>
                <a:ext cx="196232" cy="608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" name="文本框 185"/>
              <p:cNvSpPr txBox="1"/>
              <p:nvPr/>
            </p:nvSpPr>
            <p:spPr>
              <a:xfrm>
                <a:off x="821037" y="4007296"/>
                <a:ext cx="493538" cy="3857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7" tIns="91437" rIns="91437" bIns="91437" numCol="1" spcCol="38100" rtlCol="0" anchor="t">
                <a:spAutoFit/>
              </a:bodyPr>
              <a:lstStyle/>
              <a:p>
                <a:pPr marL="0" marR="0" lvl="0" indent="0" algn="ctr" defTabSz="18288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  <a:sym typeface="Helvetica"/>
                  </a:rPr>
                  <a:t>柜机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endParaRPr>
              </a:p>
            </p:txBody>
          </p:sp>
          <p:sp>
            <p:nvSpPr>
              <p:cNvPr id="187" name="文本框 186"/>
              <p:cNvSpPr txBox="1"/>
              <p:nvPr/>
            </p:nvSpPr>
            <p:spPr>
              <a:xfrm>
                <a:off x="1351089" y="4023724"/>
                <a:ext cx="586118" cy="3529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7" tIns="91437" rIns="91437" bIns="91437" numCol="1" spcCol="38100" rtlCol="0" anchor="t">
                <a:spAutoFit/>
              </a:bodyPr>
              <a:lstStyle/>
              <a:p>
                <a:pPr marL="0" marR="0" lvl="0" indent="0" algn="l" defTabSz="18288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  <a:sym typeface="Helvetica"/>
                  </a:rPr>
                  <a:t>热水器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endParaRPr>
              </a:p>
            </p:txBody>
          </p:sp>
          <p:pic>
            <p:nvPicPr>
              <p:cNvPr id="188" name="图片 187"/>
              <p:cNvPicPr>
                <a:picLocks noChangeAspect="1"/>
              </p:cNvPicPr>
              <p:nvPr/>
            </p:nvPicPr>
            <p:blipFill>
              <a:blip r:embed="rId26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7">
                        <a14:imgEffect>
                          <a14:backgroundRemoval t="0" b="89474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308559" y="3573149"/>
                <a:ext cx="691097" cy="376364"/>
              </a:xfrm>
              <a:prstGeom prst="rect">
                <a:avLst/>
              </a:prstGeom>
            </p:spPr>
          </p:pic>
          <p:pic>
            <p:nvPicPr>
              <p:cNvPr id="190" name="图片 189"/>
              <p:cNvPicPr>
                <a:picLocks noChangeAspect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92379" y="3456848"/>
                <a:ext cx="263459" cy="608965"/>
              </a:xfrm>
              <a:prstGeom prst="rect">
                <a:avLst/>
              </a:prstGeom>
            </p:spPr>
          </p:pic>
          <p:pic>
            <p:nvPicPr>
              <p:cNvPr id="191" name="图片 19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100000">
                            <a14:foregroundMark x1="10800" y1="51351" x2="39200" y2="91892"/>
                            <a14:foregroundMark x1="39600" y1="90541" x2="92000" y2="72297"/>
                            <a14:foregroundMark x1="41600" y1="93243" x2="95200" y2="75000"/>
                            <a14:backgroundMark x1="58000" y1="95946" x2="34000" y2="9527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76118" y="4414659"/>
                <a:ext cx="664591" cy="393439"/>
              </a:xfrm>
              <a:prstGeom prst="rect">
                <a:avLst/>
              </a:prstGeom>
            </p:spPr>
          </p:pic>
          <p:pic>
            <p:nvPicPr>
              <p:cNvPr id="193" name="图片 192"/>
              <p:cNvPicPr>
                <a:picLocks noChangeAspect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34277" y="4302440"/>
                <a:ext cx="266060" cy="617877"/>
              </a:xfrm>
              <a:prstGeom prst="rect">
                <a:avLst/>
              </a:prstGeom>
            </p:spPr>
          </p:pic>
          <p:pic>
            <p:nvPicPr>
              <p:cNvPr id="195" name="图片 194"/>
              <p:cNvPicPr>
                <a:picLocks noChangeAspect="1"/>
              </p:cNvPicPr>
              <p:nvPr/>
            </p:nvPicPr>
            <p:blipFill>
              <a:blip r:embed="rId30" cstate="print">
                <a:extLst>
                  <a:ext uri="{BEBA8EAE-BF5A-486C-A8C5-ECC9F3942E4B}">
                    <a14:imgProps xmlns:a14="http://schemas.microsoft.com/office/drawing/2010/main">
                      <a14:imgLayer r:embed="rId31">
                        <a14:imgEffect>
                          <a14:backgroundRemoval t="2509" b="98925" l="3974" r="96026">
                            <a14:foregroundMark x1="23179" y1="41219" x2="37748" y2="50179"/>
                            <a14:foregroundMark x1="78146" y1="39785" x2="77483" y2="5483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59957" y="4289455"/>
                <a:ext cx="348462" cy="643846"/>
              </a:xfrm>
              <a:prstGeom prst="rect">
                <a:avLst/>
              </a:prstGeom>
            </p:spPr>
          </p:pic>
          <p:pic>
            <p:nvPicPr>
              <p:cNvPr id="197" name="图片 196"/>
              <p:cNvPicPr>
                <a:picLocks noChangeAspect="1"/>
              </p:cNvPicPr>
              <p:nvPr/>
            </p:nvPicPr>
            <p:blipFill>
              <a:blip r:embed="rId3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11840" y="4328322"/>
                <a:ext cx="429558" cy="566113"/>
              </a:xfrm>
              <a:prstGeom prst="rect">
                <a:avLst/>
              </a:prstGeom>
            </p:spPr>
          </p:pic>
          <p:sp>
            <p:nvSpPr>
              <p:cNvPr id="198" name="文本框 197"/>
              <p:cNvSpPr txBox="1"/>
              <p:nvPr/>
            </p:nvSpPr>
            <p:spPr>
              <a:xfrm>
                <a:off x="1944397" y="4876502"/>
                <a:ext cx="778125" cy="3529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7" tIns="91437" rIns="91437" bIns="91437" numCol="1" spcCol="38100" rtlCol="0" anchor="t">
                <a:spAutoFit/>
              </a:bodyPr>
              <a:lstStyle/>
              <a:p>
                <a:pPr marL="0" marR="0" lvl="0" indent="0" algn="l" defTabSz="18288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  <a:sym typeface="Helvetica"/>
                  </a:rPr>
                  <a:t>洗衣机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174240" y="1348105"/>
              <a:ext cx="806450" cy="1605280"/>
              <a:chOff x="3424" y="2123"/>
              <a:chExt cx="1270" cy="2528"/>
            </a:xfrm>
          </p:grpSpPr>
          <p:pic>
            <p:nvPicPr>
              <p:cNvPr id="9" name="图片 8" descr="四大产品图"/>
              <p:cNvPicPr>
                <a:picLocks noChangeAspect="1"/>
              </p:cNvPicPr>
              <p:nvPr/>
            </p:nvPicPr>
            <p:blipFill>
              <a:blip r:embed="rId3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24" y="2123"/>
                <a:ext cx="1201" cy="1026"/>
              </a:xfrm>
              <a:prstGeom prst="rect">
                <a:avLst/>
              </a:prstGeom>
            </p:spPr>
          </p:pic>
          <p:grpSp>
            <p:nvGrpSpPr>
              <p:cNvPr id="6" name="组合 5"/>
              <p:cNvGrpSpPr/>
              <p:nvPr/>
            </p:nvGrpSpPr>
            <p:grpSpPr>
              <a:xfrm>
                <a:off x="3566" y="3325"/>
                <a:ext cx="916" cy="775"/>
                <a:chOff x="15587" y="5569"/>
                <a:chExt cx="1521" cy="1212"/>
              </a:xfrm>
            </p:grpSpPr>
            <p:pic>
              <p:nvPicPr>
                <p:cNvPr id="62" name="图片 61" descr="IMG20221125-095226709"/>
                <p:cNvPicPr>
                  <a:picLocks noChangeAspect="1"/>
                </p:cNvPicPr>
                <p:nvPr/>
              </p:nvPicPr>
              <p:blipFill>
                <a:blip r:embed="rId3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587" y="6181"/>
                  <a:ext cx="594" cy="595"/>
                </a:xfrm>
                <a:prstGeom prst="rect">
                  <a:avLst/>
                </a:prstGeom>
              </p:spPr>
            </p:pic>
            <p:pic>
              <p:nvPicPr>
                <p:cNvPr id="66" name="图片 65" descr="E:/市场推广/2023年度/产品彩页/20230808产品实拍-jpg白色底背景/离心机/正视图.jpg正视图"/>
                <p:cNvPicPr>
                  <a:picLocks noChangeAspect="1"/>
                </p:cNvPicPr>
                <p:nvPr/>
              </p:nvPicPr>
              <p:blipFill>
                <a:blip r:embed="rId35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8371" t="-75" r="8371" b="75"/>
                <a:stretch>
                  <a:fillRect/>
                </a:stretch>
              </p:blipFill>
              <p:spPr>
                <a:xfrm>
                  <a:off x="15710" y="5569"/>
                  <a:ext cx="368" cy="663"/>
                </a:xfrm>
                <a:prstGeom prst="rect">
                  <a:avLst/>
                </a:prstGeom>
              </p:spPr>
            </p:pic>
            <p:pic>
              <p:nvPicPr>
                <p:cNvPr id="85" name="图片 84" descr="微信图片_20230211101826"/>
                <p:cNvPicPr>
                  <a:picLocks noChangeAspect="1"/>
                </p:cNvPicPr>
                <p:nvPr/>
              </p:nvPicPr>
              <p:blipFill>
                <a:blip r:embed="rId36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26170" t="17009" r="16236" b="6380"/>
                <a:stretch>
                  <a:fillRect/>
                </a:stretch>
              </p:blipFill>
              <p:spPr>
                <a:xfrm>
                  <a:off x="16112" y="5802"/>
                  <a:ext cx="996" cy="979"/>
                </a:xfrm>
                <a:prstGeom prst="rect">
                  <a:avLst/>
                </a:prstGeom>
              </p:spPr>
            </p:pic>
          </p:grpSp>
          <p:sp>
            <p:nvSpPr>
              <p:cNvPr id="33" name="文本框 32"/>
              <p:cNvSpPr txBox="1"/>
              <p:nvPr/>
            </p:nvSpPr>
            <p:spPr>
              <a:xfrm>
                <a:off x="3551" y="4127"/>
                <a:ext cx="1143" cy="5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7" tIns="91437" rIns="91437" bIns="91437" numCol="1" spcCol="38100" rtlCol="0" anchor="t">
                <a:spAutoFit/>
              </a:bodyPr>
              <a:lstStyle/>
              <a:p>
                <a:pPr marL="0" marR="0" lvl="0" indent="0" algn="l" defTabSz="18288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  <a:sym typeface="Helvetica"/>
                  </a:rPr>
                  <a:t>实验室设备</a:t>
                </a: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5978324" y="1330870"/>
            <a:ext cx="3099997" cy="1695365"/>
            <a:chOff x="5978324" y="1331595"/>
            <a:chExt cx="3584141" cy="1780380"/>
          </a:xfrm>
        </p:grpSpPr>
        <p:pic>
          <p:nvPicPr>
            <p:cNvPr id="166" name="图片 165"/>
            <p:cNvPicPr>
              <a:picLocks noChangeAspect="1"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077584" y="1523316"/>
              <a:ext cx="793070" cy="283700"/>
            </a:xfrm>
            <a:prstGeom prst="rect">
              <a:avLst/>
            </a:prstGeom>
          </p:spPr>
        </p:pic>
        <p:sp>
          <p:nvSpPr>
            <p:cNvPr id="167" name="文本框 166"/>
            <p:cNvSpPr txBox="1"/>
            <p:nvPr/>
          </p:nvSpPr>
          <p:spPr>
            <a:xfrm>
              <a:off x="6197580" y="1870788"/>
              <a:ext cx="543252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空调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68" name="图片 167"/>
            <p:cNvPicPr>
              <a:picLocks noChangeAspect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25937" y="1362253"/>
              <a:ext cx="430856" cy="567825"/>
            </a:xfrm>
            <a:prstGeom prst="rect">
              <a:avLst/>
            </a:prstGeom>
          </p:spPr>
        </p:pic>
        <p:sp>
          <p:nvSpPr>
            <p:cNvPr id="169" name="文本框 168"/>
            <p:cNvSpPr txBox="1"/>
            <p:nvPr/>
          </p:nvSpPr>
          <p:spPr>
            <a:xfrm>
              <a:off x="6750432" y="1870788"/>
              <a:ext cx="788168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洗衣机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70" name="图片 169"/>
            <p:cNvPicPr>
              <a:picLocks noChangeAspect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09455" y="1373515"/>
              <a:ext cx="448328" cy="567825"/>
            </a:xfrm>
            <a:prstGeom prst="rect">
              <a:avLst/>
            </a:prstGeom>
          </p:spPr>
        </p:pic>
        <p:sp>
          <p:nvSpPr>
            <p:cNvPr id="171" name="文本框 170"/>
            <p:cNvSpPr txBox="1"/>
            <p:nvPr/>
          </p:nvSpPr>
          <p:spPr>
            <a:xfrm>
              <a:off x="7500144" y="1870788"/>
              <a:ext cx="577936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烘干机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72" name="图片 171"/>
            <p:cNvPicPr>
              <a:picLocks noChangeAspect="1"/>
            </p:cNvPicPr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135954" y="1348037"/>
              <a:ext cx="332501" cy="591688"/>
            </a:xfrm>
            <a:prstGeom prst="rect">
              <a:avLst/>
            </a:prstGeom>
          </p:spPr>
        </p:pic>
        <p:sp>
          <p:nvSpPr>
            <p:cNvPr id="173" name="文本框 172"/>
            <p:cNvSpPr txBox="1"/>
            <p:nvPr/>
          </p:nvSpPr>
          <p:spPr>
            <a:xfrm>
              <a:off x="8058845" y="1870788"/>
              <a:ext cx="591354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直饮机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pic>
          <p:nvPicPr>
            <p:cNvPr id="174" name="图片 173"/>
            <p:cNvPicPr>
              <a:picLocks noChangeAspect="1"/>
            </p:cNvPicPr>
            <p:nvPr/>
          </p:nvPicPr>
          <p:blipFill rotWithShape="1">
            <a:blip r:embed="rId41" cstate="print">
              <a:extLst>
                <a:ext uri="{BEBA8EAE-BF5A-486C-A8C5-ECC9F3942E4B}">
                  <a14:imgProps xmlns:a14="http://schemas.microsoft.com/office/drawing/2010/main">
                    <a14:imgLayer r:embed="rId42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978324" y="2166684"/>
              <a:ext cx="901349" cy="518131"/>
            </a:xfrm>
            <a:prstGeom prst="rect">
              <a:avLst/>
            </a:prstGeom>
          </p:spPr>
        </p:pic>
        <p:pic>
          <p:nvPicPr>
            <p:cNvPr id="176" name="图片 175"/>
            <p:cNvPicPr>
              <a:picLocks noChangeAspect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59622" y="2253675"/>
              <a:ext cx="281174" cy="461659"/>
            </a:xfrm>
            <a:prstGeom prst="rect">
              <a:avLst/>
            </a:prstGeom>
          </p:spPr>
        </p:pic>
        <p:pic>
          <p:nvPicPr>
            <p:cNvPr id="177" name="图片 176"/>
            <p:cNvPicPr>
              <a:picLocks noChangeAspect="1"/>
            </p:cNvPicPr>
            <p:nvPr/>
          </p:nvPicPr>
          <p:blipFill>
            <a:blip r:embed="rId44" cstate="print"/>
            <a:srcRect/>
            <a:stretch>
              <a:fillRect/>
            </a:stretch>
          </p:blipFill>
          <p:spPr>
            <a:xfrm>
              <a:off x="6836619" y="2287000"/>
              <a:ext cx="706655" cy="340049"/>
            </a:xfrm>
            <a:prstGeom prst="rect">
              <a:avLst/>
            </a:prstGeom>
          </p:spPr>
        </p:pic>
        <p:pic>
          <p:nvPicPr>
            <p:cNvPr id="178" name="图片 177"/>
            <p:cNvPicPr>
              <a:picLocks noChangeAspect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85178" y="2221565"/>
              <a:ext cx="364478" cy="493997"/>
            </a:xfrm>
            <a:prstGeom prst="rect">
              <a:avLst/>
            </a:prstGeom>
          </p:spPr>
        </p:pic>
        <p:sp>
          <p:nvSpPr>
            <p:cNvPr id="179" name="文本框 178"/>
            <p:cNvSpPr txBox="1"/>
            <p:nvPr/>
          </p:nvSpPr>
          <p:spPr>
            <a:xfrm>
              <a:off x="6657266" y="2659487"/>
              <a:ext cx="989364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ctr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电吹风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7488264" y="2659487"/>
              <a:ext cx="641627" cy="45248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洗衣</a:t>
              </a:r>
              <a:r>
                <a:rPr kumimoji="0" lang="zh-CN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液投放器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046395" y="2659487"/>
              <a:ext cx="667212" cy="3077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7" tIns="91437" rIns="91437" bIns="91437" numCol="1" spcCol="38100" rtlCol="0" anchor="t">
              <a:spAutoFit/>
            </a:bodyPr>
            <a:lstStyle/>
            <a:p>
              <a:pPr marL="0" marR="0" lvl="0" indent="0" algn="l" defTabSz="18288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Helvetica"/>
                </a:rPr>
                <a:t>水控器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8488680" y="1331595"/>
              <a:ext cx="1073785" cy="1651000"/>
              <a:chOff x="3577" y="2059"/>
              <a:chExt cx="1691" cy="2600"/>
            </a:xfrm>
          </p:grpSpPr>
          <p:pic>
            <p:nvPicPr>
              <p:cNvPr id="36" name="图片 35" descr="四大产品图"/>
              <p:cNvPicPr>
                <a:picLocks noChangeAspect="1"/>
              </p:cNvPicPr>
              <p:nvPr/>
            </p:nvPicPr>
            <p:blipFill>
              <a:blip r:embed="rId4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77" y="2059"/>
                <a:ext cx="1201" cy="1026"/>
              </a:xfrm>
              <a:prstGeom prst="rect">
                <a:avLst/>
              </a:prstGeom>
            </p:spPr>
          </p:pic>
          <p:sp>
            <p:nvSpPr>
              <p:cNvPr id="37" name="文本框 36"/>
              <p:cNvSpPr txBox="1"/>
              <p:nvPr/>
            </p:nvSpPr>
            <p:spPr>
              <a:xfrm>
                <a:off x="3710" y="2896"/>
                <a:ext cx="1215" cy="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7" tIns="91437" rIns="91437" bIns="91437" numCol="1" spcCol="38100" rtlCol="0" anchor="t">
                <a:spAutoFit/>
              </a:bodyPr>
              <a:lstStyle/>
              <a:p>
                <a:pPr marL="0" marR="0" lvl="0" indent="0" algn="l" defTabSz="18288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  <a:sym typeface="Helvetica"/>
                  </a:rPr>
                  <a:t>医用冰箱</a:t>
                </a: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3719" y="3463"/>
                <a:ext cx="916" cy="792"/>
                <a:chOff x="15844" y="5778"/>
                <a:chExt cx="1521" cy="1238"/>
              </a:xfrm>
            </p:grpSpPr>
            <p:pic>
              <p:nvPicPr>
                <p:cNvPr id="39" name="图片 38" descr="IMG20221125-095226709"/>
                <p:cNvPicPr>
                  <a:picLocks noChangeAspect="1"/>
                </p:cNvPicPr>
                <p:nvPr/>
              </p:nvPicPr>
              <p:blipFill>
                <a:blip r:embed="rId47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844" y="6390"/>
                  <a:ext cx="594" cy="595"/>
                </a:xfrm>
                <a:prstGeom prst="rect">
                  <a:avLst/>
                </a:prstGeom>
              </p:spPr>
            </p:pic>
            <p:pic>
              <p:nvPicPr>
                <p:cNvPr id="41" name="图片 40" descr="E:/市场推广/2023年度/产品彩页/20230808产品实拍-jpg白色底背景/离心机/正视图.jpg正视图"/>
                <p:cNvPicPr>
                  <a:picLocks noChangeAspect="1"/>
                </p:cNvPicPr>
                <p:nvPr/>
              </p:nvPicPr>
              <p:blipFill>
                <a:blip r:embed="rId48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8371" t="-75" r="8371" b="75"/>
                <a:stretch>
                  <a:fillRect/>
                </a:stretch>
              </p:blipFill>
              <p:spPr>
                <a:xfrm>
                  <a:off x="15967" y="5778"/>
                  <a:ext cx="368" cy="663"/>
                </a:xfrm>
                <a:prstGeom prst="rect">
                  <a:avLst/>
                </a:prstGeom>
              </p:spPr>
            </p:pic>
            <p:pic>
              <p:nvPicPr>
                <p:cNvPr id="42" name="图片 41" descr="微信图片_20230211101826"/>
                <p:cNvPicPr>
                  <a:picLocks noChangeAspect="1"/>
                </p:cNvPicPr>
                <p:nvPr/>
              </p:nvPicPr>
              <p:blipFill>
                <a:blip r:embed="rId49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26170" t="17009" r="16236" b="6380"/>
                <a:stretch>
                  <a:fillRect/>
                </a:stretch>
              </p:blipFill>
              <p:spPr>
                <a:xfrm>
                  <a:off x="16369" y="6037"/>
                  <a:ext cx="996" cy="979"/>
                </a:xfrm>
                <a:prstGeom prst="rect">
                  <a:avLst/>
                </a:prstGeom>
              </p:spPr>
            </p:pic>
          </p:grpSp>
          <p:sp>
            <p:nvSpPr>
              <p:cNvPr id="43" name="文本框 42"/>
              <p:cNvSpPr txBox="1"/>
              <p:nvPr/>
            </p:nvSpPr>
            <p:spPr>
              <a:xfrm>
                <a:off x="3634" y="4150"/>
                <a:ext cx="1634" cy="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7" tIns="91437" rIns="91437" bIns="91437" numCol="1" spcCol="38100" rtlCol="0" anchor="t">
                <a:spAutoFit/>
              </a:bodyPr>
              <a:lstStyle/>
              <a:p>
                <a:pPr marL="0" marR="0" lvl="0" indent="0" algn="l" defTabSz="18288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Arial" panose="020B0604020202020204" pitchFamily="34" charset="0"/>
                    <a:sym typeface="Helvetica"/>
                  </a:rPr>
                  <a:t>实验室设备</a:t>
                </a:r>
              </a:p>
            </p:txBody>
          </p:sp>
        </p:grpSp>
      </p:grpSp>
      <p:sp>
        <p:nvSpPr>
          <p:cNvPr id="5" name="AutoShape 2" descr="好热好热，谁来给我升级一下空调啊！！！-电子工程专辑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1223260" y="2536326"/>
            <a:ext cx="525307" cy="2815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7" tIns="91437" rIns="91437" bIns="91437" numCol="1" spcCol="38100" rtlCol="0" anchor="t">
            <a:spAutoFit/>
          </a:bodyPr>
          <a:lstStyle/>
          <a:p>
            <a:pPr marL="0" marR="0" lvl="0" indent="0" algn="l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Helvetica"/>
              </a:rPr>
              <a:t>消毒柜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5300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687"/>
          <p:cNvSpPr txBox="1"/>
          <p:nvPr/>
        </p:nvSpPr>
        <p:spPr>
          <a:xfrm>
            <a:off x="965911" y="173505"/>
            <a:ext cx="1439092" cy="331096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lvl1pPr defTabSz="821690">
              <a:defRPr sz="46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marL="0" marR="0" lvl="0" indent="0" algn="l" defTabSz="82169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178F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商用场景方案</a:t>
            </a:r>
          </a:p>
        </p:txBody>
      </p:sp>
      <p:sp>
        <p:nvSpPr>
          <p:cNvPr id="5" name="AutoShape 2" descr="好热好热，谁来给我升级一下空调啊！！！-电子工程专辑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00" y="57464"/>
            <a:ext cx="8800000" cy="5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6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文本框 35846"/>
          <p:cNvSpPr txBox="1">
            <a:spLocks noChangeArrowheads="1"/>
          </p:cNvSpPr>
          <p:nvPr/>
        </p:nvSpPr>
        <p:spPr bwMode="auto">
          <a:xfrm>
            <a:off x="999609" y="460612"/>
            <a:ext cx="2788818" cy="238761"/>
          </a:xfrm>
          <a:prstGeom prst="rect">
            <a:avLst/>
          </a:prstGeom>
          <a:ln w="25400">
            <a:miter lim="400000"/>
          </a:ln>
        </p:spPr>
        <p:txBody>
          <a:bodyPr wrap="none" lIns="26786" tIns="26786" rIns="26786" bIns="26786" anchor="ctr">
            <a:spAutoFit/>
          </a:bodyPr>
          <a:lstStyle>
            <a:defPPr>
              <a:defRPr lang="zh-CN"/>
            </a:defPPr>
            <a:lvl1pPr defTabSz="821690">
              <a:defRPr sz="11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defTabSz="821055">
              <a:defRPr/>
            </a:pP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美的无界联动体" panose="02000500000000000000" pitchFamily="50" charset="-122"/>
                <a:ea typeface="美的无界联动体" panose="02000500000000000000" pitchFamily="50" charset="-122"/>
                <a:sym typeface="+mn-ea"/>
              </a:rPr>
              <a:t>暖通家电+新能源汽车+机器人 核心科技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美的无界联动体" panose="02000500000000000000" pitchFamily="50" charset="-122"/>
              <a:ea typeface="美的无界联动体" panose="02000500000000000000" pitchFamily="50" charset="-122"/>
              <a:sym typeface="微软雅黑" panose="020B0503020204020204" charset="-122"/>
            </a:endParaRPr>
          </a:p>
        </p:txBody>
      </p:sp>
      <p:sp>
        <p:nvSpPr>
          <p:cNvPr id="123" name="矩形"/>
          <p:cNvSpPr/>
          <p:nvPr/>
        </p:nvSpPr>
        <p:spPr>
          <a:xfrm>
            <a:off x="924500" y="222810"/>
            <a:ext cx="10800" cy="432000"/>
          </a:xfrm>
          <a:prstGeom prst="rect">
            <a:avLst/>
          </a:prstGeom>
          <a:solidFill>
            <a:srgbClr val="1478F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499">
              <a:latin typeface="美的无界联动体" panose="02000500000000000000" pitchFamily="50" charset="-122"/>
              <a:ea typeface="美的无界联动体" panose="02000500000000000000" pitchFamily="50" charset="-122"/>
              <a:cs typeface="美的无界联动体" panose="02000500000000000000" pitchFamily="50" charset="-122"/>
            </a:endParaRPr>
          </a:p>
        </p:txBody>
      </p:sp>
      <p:pic>
        <p:nvPicPr>
          <p:cNvPr id="124" name="图像" descr="图像"/>
          <p:cNvPicPr>
            <a:picLocks noChangeAspect="1"/>
          </p:cNvPicPr>
          <p:nvPr/>
        </p:nvPicPr>
        <p:blipFill>
          <a:blip r:embed="rId23" cstate="screen"/>
          <a:stretch>
            <a:fillRect/>
          </a:stretch>
        </p:blipFill>
        <p:spPr>
          <a:xfrm>
            <a:off x="329977" y="228602"/>
            <a:ext cx="516998" cy="6953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5" name="文本框 35846"/>
          <p:cNvSpPr txBox="1">
            <a:spLocks noChangeArrowheads="1"/>
          </p:cNvSpPr>
          <p:nvPr/>
        </p:nvSpPr>
        <p:spPr bwMode="auto">
          <a:xfrm>
            <a:off x="984867" y="155619"/>
            <a:ext cx="2163649" cy="331096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821690" eaLnBrk="1">
              <a:tabLst/>
              <a:defRPr sz="1800" kern="0">
                <a:solidFill>
                  <a:srgbClr val="1178FE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>
                <a:sym typeface="微软雅黑" panose="020B0503020204020204" charset="-122"/>
              </a:rPr>
              <a:t>业务板块 </a:t>
            </a:r>
            <a:r>
              <a:rPr lang="en-US" altLang="zh-CN" dirty="0"/>
              <a:t>– </a:t>
            </a:r>
            <a:r>
              <a:rPr lang="zh-CN" altLang="en-US" dirty="0">
                <a:sym typeface="微软雅黑" panose="020B0503020204020204" charset="-122"/>
              </a:rPr>
              <a:t>工业技术</a:t>
            </a:r>
            <a:endParaRPr lang="zh-CN" altLang="en-US" dirty="0"/>
          </a:p>
        </p:txBody>
      </p:sp>
      <p:pic>
        <p:nvPicPr>
          <p:cNvPr id="126" name="图片 125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7776131" y="249588"/>
            <a:ext cx="1021549" cy="359434"/>
          </a:xfrm>
          <a:prstGeom prst="rect">
            <a:avLst/>
          </a:prstGeom>
        </p:spPr>
      </p:pic>
      <p:sp>
        <p:nvSpPr>
          <p:cNvPr id="88" name="矩形 87"/>
          <p:cNvSpPr/>
          <p:nvPr/>
        </p:nvSpPr>
        <p:spPr>
          <a:xfrm>
            <a:off x="311467" y="873919"/>
            <a:ext cx="8527733" cy="3957638"/>
          </a:xfrm>
          <a:prstGeom prst="rect">
            <a:avLst/>
          </a:prstGeom>
          <a:solidFill>
            <a:schemeClr val="bg1">
              <a:alpha val="50000"/>
            </a:schemeClr>
          </a:solidFill>
          <a:ln w="6350" cap="flat">
            <a:noFill/>
            <a:prstDash val="sysDot"/>
            <a:miter lim="400000"/>
          </a:ln>
        </p:spPr>
        <p:txBody>
          <a:bodyPr wrap="square" lIns="0" tIns="0" rIns="0" bIns="0" numCol="1" anchor="ctr">
            <a:noAutofit/>
          </a:bodyPr>
          <a:lstStyle/>
          <a:p>
            <a:pPr defTabSz="108109" hangingPunct="1">
              <a:defRPr/>
            </a:pPr>
            <a:endParaRPr lang="zh-CN" altLang="en-US" sz="281" b="1" kern="1200" dirty="0">
              <a:latin typeface="Arial" panose="020B0604020202020204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9" name="圆角矩形"/>
          <p:cNvSpPr/>
          <p:nvPr/>
        </p:nvSpPr>
        <p:spPr>
          <a:xfrm>
            <a:off x="444817" y="1116330"/>
            <a:ext cx="3546158" cy="1073944"/>
          </a:xfrm>
          <a:prstGeom prst="roundRect">
            <a:avLst>
              <a:gd name="adj" fmla="val 1147"/>
            </a:avLst>
          </a:prstGeom>
          <a:noFill/>
          <a:ln w="635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</p:spPr>
        <p:txBody>
          <a:bodyPr wrap="square" lIns="71434" tIns="71434" rIns="71434" bIns="71434" numCol="1" anchor="ctr">
            <a:noAutofit/>
          </a:bodyPr>
          <a:lstStyle/>
          <a:p>
            <a:pPr marL="153829" indent="-153829" algn="ctr" hangingPunct="1">
              <a:defRPr/>
            </a:pPr>
            <a:endParaRPr sz="401" kern="1200" dirty="0">
              <a:latin typeface="美的无界联动体" panose="02000500000000000000" pitchFamily="50" charset="-122"/>
              <a:ea typeface="美的无界联动体" panose="02000500000000000000" pitchFamily="50" charset="-122"/>
            </a:endParaRPr>
          </a:p>
        </p:txBody>
      </p:sp>
      <p:sp>
        <p:nvSpPr>
          <p:cNvPr id="91" name="三角形 81"/>
          <p:cNvSpPr/>
          <p:nvPr/>
        </p:nvSpPr>
        <p:spPr>
          <a:xfrm rot="10800000">
            <a:off x="2123122" y="2429352"/>
            <a:ext cx="189548" cy="132874"/>
          </a:xfrm>
          <a:prstGeom prst="triangle">
            <a:avLst/>
          </a:prstGeom>
          <a:solidFill>
            <a:srgbClr val="F56428"/>
          </a:solidFill>
          <a:ln w="6350" cap="flat">
            <a:noFill/>
            <a:prstDash val="sysDot"/>
            <a:miter lim="400000"/>
          </a:ln>
          <a:effectLst/>
        </p:spPr>
        <p:txBody>
          <a:bodyPr wrap="square" lIns="0" tIns="0" rIns="0" bIns="0" numCol="1" rtlCol="0" anchor="ctr">
            <a:noAutofit/>
          </a:bodyPr>
          <a:lstStyle/>
          <a:p>
            <a:pPr defTabSz="108109" hangingPunct="1">
              <a:defRPr/>
            </a:pPr>
            <a:endParaRPr kumimoji="1" lang="zh-CN" altLang="en-US" sz="1099" b="1" kern="1200" dirty="0">
              <a:latin typeface="美的无界联动体" panose="02000500000000000000" pitchFamily="50" charset="-122"/>
              <a:ea typeface="美的无界联动体" panose="02000500000000000000" pitchFamily="50" charset="-122"/>
              <a:sym typeface="微软雅黑" panose="020B050302020402020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1359694" y="2782252"/>
            <a:ext cx="0" cy="966788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cxnSp>
        <p:nvCxnSpPr>
          <p:cNvPr id="97" name="直接连接符 96"/>
          <p:cNvCxnSpPr/>
          <p:nvPr/>
        </p:nvCxnSpPr>
        <p:spPr>
          <a:xfrm>
            <a:off x="2385536" y="2782252"/>
            <a:ext cx="0" cy="966788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sp>
        <p:nvSpPr>
          <p:cNvPr id="98" name="圆角矩形"/>
          <p:cNvSpPr/>
          <p:nvPr>
            <p:custDataLst>
              <p:tags r:id="rId1"/>
            </p:custDataLst>
          </p:nvPr>
        </p:nvSpPr>
        <p:spPr>
          <a:xfrm>
            <a:off x="4085273" y="1116807"/>
            <a:ext cx="2026444" cy="1073944"/>
          </a:xfrm>
          <a:prstGeom prst="roundRect">
            <a:avLst>
              <a:gd name="adj" fmla="val 1147"/>
            </a:avLst>
          </a:prstGeom>
          <a:noFill/>
          <a:ln w="635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</p:spPr>
        <p:txBody>
          <a:bodyPr wrap="square" lIns="71434" tIns="71434" rIns="71434" bIns="71434" numCol="1" anchor="ctr">
            <a:noAutofit/>
          </a:bodyPr>
          <a:lstStyle/>
          <a:p>
            <a:pPr marL="153829" indent="-153829" algn="ctr" hangingPunct="1">
              <a:defRPr/>
            </a:pPr>
            <a:endParaRPr sz="401" kern="1200" dirty="0">
              <a:latin typeface="美的无界联动体" panose="02000500000000000000" pitchFamily="50" charset="-122"/>
              <a:ea typeface="美的无界联动体" panose="02000500000000000000" pitchFamily="50" charset="-122"/>
            </a:endParaRPr>
          </a:p>
        </p:txBody>
      </p:sp>
      <p:sp>
        <p:nvSpPr>
          <p:cNvPr id="99" name="圆角矩形"/>
          <p:cNvSpPr/>
          <p:nvPr/>
        </p:nvSpPr>
        <p:spPr>
          <a:xfrm>
            <a:off x="444817" y="2188369"/>
            <a:ext cx="3546158" cy="225266"/>
          </a:xfrm>
          <a:prstGeom prst="roundRect">
            <a:avLst>
              <a:gd name="adj" fmla="val 1147"/>
            </a:avLst>
          </a:prstGeom>
          <a:solidFill>
            <a:srgbClr val="0092D8"/>
          </a:solidFill>
          <a:ln w="12700">
            <a:noFill/>
            <a:miter lim="400000"/>
          </a:ln>
        </p:spPr>
        <p:txBody>
          <a:bodyPr lIns="0" tIns="0" rIns="0" bIns="0" anchor="ctr" anchorCtr="0"/>
          <a:lstStyle/>
          <a:p>
            <a:pPr algn="ctr" defTabSz="616268" hangingPunct="1">
              <a:defRPr/>
            </a:pPr>
            <a:r>
              <a:rPr lang="zh-CN" altLang="en-US" sz="1050" kern="1200" dirty="0">
                <a:solidFill>
                  <a:prstClr val="white"/>
                </a:solidFill>
                <a:latin typeface="美的无界联动体 Medium" panose="02000600000000000000" charset="-122"/>
                <a:ea typeface="美的无界联动体 Medium" panose="02000600000000000000" charset="-122"/>
              </a:rPr>
              <a:t>暖通家电</a:t>
            </a:r>
          </a:p>
        </p:txBody>
      </p:sp>
      <p:sp>
        <p:nvSpPr>
          <p:cNvPr id="100" name="圆角矩形"/>
          <p:cNvSpPr/>
          <p:nvPr>
            <p:custDataLst>
              <p:tags r:id="rId2"/>
            </p:custDataLst>
          </p:nvPr>
        </p:nvSpPr>
        <p:spPr>
          <a:xfrm>
            <a:off x="4080986" y="2190750"/>
            <a:ext cx="2033588" cy="215265"/>
          </a:xfrm>
          <a:prstGeom prst="roundRect">
            <a:avLst>
              <a:gd name="adj" fmla="val 1147"/>
            </a:avLst>
          </a:prstGeom>
          <a:solidFill>
            <a:srgbClr val="0092D8"/>
          </a:solidFill>
          <a:ln w="12700">
            <a:noFill/>
            <a:miter lim="400000"/>
          </a:ln>
        </p:spPr>
        <p:txBody>
          <a:bodyPr lIns="0" tIns="0" rIns="0" bIns="0" anchor="ctr" anchorCtr="0"/>
          <a:lstStyle/>
          <a:p>
            <a:pPr algn="ctr" defTabSz="616268" hangingPunct="1">
              <a:defRPr/>
            </a:pPr>
            <a:r>
              <a:rPr lang="zh-CN" altLang="en-US" sz="1050" kern="1200" dirty="0">
                <a:solidFill>
                  <a:prstClr val="white"/>
                </a:solidFill>
                <a:latin typeface="美的无界联动体 Medium" panose="02000600000000000000" charset="-122"/>
                <a:ea typeface="美的无界联动体 Medium" panose="02000600000000000000" charset="-122"/>
              </a:rPr>
              <a:t>新能源汽车</a:t>
            </a:r>
          </a:p>
        </p:txBody>
      </p:sp>
      <p:sp>
        <p:nvSpPr>
          <p:cNvPr id="101" name="圆角矩形 100"/>
          <p:cNvSpPr/>
          <p:nvPr/>
        </p:nvSpPr>
        <p:spPr>
          <a:xfrm>
            <a:off x="444818" y="2628900"/>
            <a:ext cx="3528536" cy="1795939"/>
          </a:xfrm>
          <a:prstGeom prst="roundRect">
            <a:avLst>
              <a:gd name="adj" fmla="val 1121"/>
            </a:avLst>
          </a:prstGeom>
          <a:noFill/>
          <a:ln w="635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</p:spPr>
        <p:txBody>
          <a:bodyPr wrap="square" lIns="0" tIns="0" rIns="0" bIns="0" numCol="1" rtlCol="0" anchor="ctr">
            <a:noAutofit/>
          </a:bodyPr>
          <a:lstStyle/>
          <a:p>
            <a:pPr defTabSz="108109" hangingPunct="1">
              <a:defRPr/>
            </a:pPr>
            <a:endParaRPr kumimoji="1" lang="zh-CN" altLang="en-US" sz="401" b="1" kern="1200" dirty="0">
              <a:latin typeface="美的无界联动体" panose="02000500000000000000" pitchFamily="50" charset="-122"/>
              <a:ea typeface="美的无界联动体" panose="02000500000000000000" pitchFamily="50" charset="-122"/>
              <a:sym typeface="微软雅黑" panose="020B0503020204020204" charset="-122"/>
            </a:endParaRPr>
          </a:p>
        </p:txBody>
      </p:sp>
      <p:sp>
        <p:nvSpPr>
          <p:cNvPr id="102" name="圆角矩形 101"/>
          <p:cNvSpPr/>
          <p:nvPr>
            <p:custDataLst>
              <p:tags r:id="rId3"/>
            </p:custDataLst>
          </p:nvPr>
        </p:nvSpPr>
        <p:spPr>
          <a:xfrm>
            <a:off x="4070509" y="2624614"/>
            <a:ext cx="2026444" cy="1795939"/>
          </a:xfrm>
          <a:prstGeom prst="roundRect">
            <a:avLst>
              <a:gd name="adj" fmla="val 1121"/>
            </a:avLst>
          </a:prstGeom>
          <a:noFill/>
          <a:ln w="635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</p:spPr>
        <p:txBody>
          <a:bodyPr wrap="square" lIns="0" tIns="0" rIns="0" bIns="0" numCol="1" rtlCol="0" anchor="ctr">
            <a:noAutofit/>
          </a:bodyPr>
          <a:lstStyle/>
          <a:p>
            <a:pPr defTabSz="108109" hangingPunct="1">
              <a:defRPr/>
            </a:pPr>
            <a:endParaRPr kumimoji="1" lang="zh-CN" altLang="en-US" sz="401" b="1" kern="1200" dirty="0">
              <a:latin typeface="美的无界联动体" panose="02000500000000000000" pitchFamily="50" charset="-122"/>
              <a:ea typeface="美的无界联动体" panose="02000500000000000000" pitchFamily="50" charset="-122"/>
              <a:sym typeface="微软雅黑" panose="020B0503020204020204" charset="-122"/>
            </a:endParaRPr>
          </a:p>
        </p:txBody>
      </p:sp>
      <p:sp>
        <p:nvSpPr>
          <p:cNvPr id="103" name="圆角矩形"/>
          <p:cNvSpPr/>
          <p:nvPr>
            <p:custDataLst>
              <p:tags r:id="rId4"/>
            </p:custDataLst>
          </p:nvPr>
        </p:nvSpPr>
        <p:spPr>
          <a:xfrm>
            <a:off x="6198394" y="1116330"/>
            <a:ext cx="2442210" cy="1073944"/>
          </a:xfrm>
          <a:prstGeom prst="roundRect">
            <a:avLst>
              <a:gd name="adj" fmla="val 1147"/>
            </a:avLst>
          </a:prstGeom>
          <a:noFill/>
          <a:ln w="635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</p:spPr>
        <p:txBody>
          <a:bodyPr wrap="square" lIns="71434" tIns="71434" rIns="71434" bIns="71434" numCol="1" anchor="ctr">
            <a:noAutofit/>
          </a:bodyPr>
          <a:lstStyle/>
          <a:p>
            <a:pPr marL="153829" indent="-153829" algn="ctr" hangingPunct="1">
              <a:defRPr/>
            </a:pPr>
            <a:endParaRPr sz="401" kern="1200" dirty="0">
              <a:latin typeface="美的无界联动体" panose="02000500000000000000" pitchFamily="50" charset="-122"/>
              <a:ea typeface="美的无界联动体" panose="02000500000000000000" pitchFamily="50" charset="-122"/>
            </a:endParaRPr>
          </a:p>
        </p:txBody>
      </p:sp>
      <p:sp>
        <p:nvSpPr>
          <p:cNvPr id="104" name="圆角矩形"/>
          <p:cNvSpPr/>
          <p:nvPr>
            <p:custDataLst>
              <p:tags r:id="rId5"/>
            </p:custDataLst>
          </p:nvPr>
        </p:nvSpPr>
        <p:spPr>
          <a:xfrm>
            <a:off x="6189345" y="2190274"/>
            <a:ext cx="2451259" cy="215265"/>
          </a:xfrm>
          <a:prstGeom prst="roundRect">
            <a:avLst>
              <a:gd name="adj" fmla="val 1147"/>
            </a:avLst>
          </a:prstGeom>
          <a:solidFill>
            <a:srgbClr val="0092D8"/>
          </a:solidFill>
          <a:ln w="12700">
            <a:noFill/>
            <a:miter lim="400000"/>
          </a:ln>
        </p:spPr>
        <p:txBody>
          <a:bodyPr lIns="0" tIns="0" rIns="0" bIns="0" anchor="ctr" anchorCtr="0"/>
          <a:lstStyle/>
          <a:p>
            <a:pPr algn="ctr" defTabSz="616268" hangingPunct="1">
              <a:defRPr/>
            </a:pPr>
            <a:r>
              <a:rPr lang="zh-CN" altLang="en-US" sz="1050" kern="1200" dirty="0">
                <a:solidFill>
                  <a:prstClr val="white"/>
                </a:solidFill>
                <a:latin typeface="美的无界联动体 Medium" panose="02000600000000000000" charset="-122"/>
                <a:ea typeface="美的无界联动体 Medium" panose="02000600000000000000" charset="-122"/>
              </a:rPr>
              <a:t>机器人</a:t>
            </a:r>
          </a:p>
        </p:txBody>
      </p:sp>
      <p:sp>
        <p:nvSpPr>
          <p:cNvPr id="105" name="圆角矩形 104"/>
          <p:cNvSpPr/>
          <p:nvPr>
            <p:custDataLst>
              <p:tags r:id="rId6"/>
            </p:custDataLst>
          </p:nvPr>
        </p:nvSpPr>
        <p:spPr>
          <a:xfrm>
            <a:off x="6193870" y="2624138"/>
            <a:ext cx="2442210" cy="1795939"/>
          </a:xfrm>
          <a:prstGeom prst="roundRect">
            <a:avLst>
              <a:gd name="adj" fmla="val 1121"/>
            </a:avLst>
          </a:prstGeom>
          <a:noFill/>
          <a:ln w="635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</p:spPr>
        <p:txBody>
          <a:bodyPr wrap="square" lIns="0" tIns="0" rIns="0" bIns="0" numCol="1" rtlCol="0" anchor="ctr">
            <a:noAutofit/>
          </a:bodyPr>
          <a:lstStyle/>
          <a:p>
            <a:pPr defTabSz="108109" hangingPunct="1">
              <a:defRPr/>
            </a:pPr>
            <a:endParaRPr kumimoji="1" lang="zh-CN" altLang="en-US" sz="401" b="1" kern="1200" dirty="0">
              <a:latin typeface="美的无界联动体" panose="02000500000000000000" pitchFamily="50" charset="-122"/>
              <a:ea typeface="美的无界联动体" panose="02000500000000000000" pitchFamily="50" charset="-122"/>
              <a:sym typeface="微软雅黑" panose="020B0503020204020204" charset="-122"/>
            </a:endParaRPr>
          </a:p>
        </p:txBody>
      </p:sp>
      <p:cxnSp>
        <p:nvCxnSpPr>
          <p:cNvPr id="106" name="直接连接符 105"/>
          <p:cNvCxnSpPr/>
          <p:nvPr/>
        </p:nvCxnSpPr>
        <p:spPr>
          <a:xfrm>
            <a:off x="3186589" y="2782252"/>
            <a:ext cx="0" cy="966788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cxnSp>
        <p:nvCxnSpPr>
          <p:cNvPr id="108" name="直接连接符 107"/>
          <p:cNvCxnSpPr/>
          <p:nvPr>
            <p:custDataLst>
              <p:tags r:id="rId7"/>
            </p:custDataLst>
          </p:nvPr>
        </p:nvCxnSpPr>
        <p:spPr>
          <a:xfrm>
            <a:off x="6945154" y="2782252"/>
            <a:ext cx="0" cy="966788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cxnSp>
        <p:nvCxnSpPr>
          <p:cNvPr id="109" name="直接连接符 108"/>
          <p:cNvCxnSpPr/>
          <p:nvPr>
            <p:custDataLst>
              <p:tags r:id="rId8"/>
            </p:custDataLst>
          </p:nvPr>
        </p:nvCxnSpPr>
        <p:spPr>
          <a:xfrm>
            <a:off x="7829074" y="2782252"/>
            <a:ext cx="0" cy="966788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pic>
        <p:nvPicPr>
          <p:cNvPr id="113" name="图片 112" descr="EPS DP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5144453" y="1573530"/>
            <a:ext cx="190500" cy="190500"/>
          </a:xfrm>
          <a:prstGeom prst="rect">
            <a:avLst/>
          </a:prstGeom>
        </p:spPr>
      </p:pic>
      <p:pic>
        <p:nvPicPr>
          <p:cNvPr id="114" name="图片 113" descr="R134a电动压缩机800V 40cc外观图 橙色头 黄配件2023033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898231" y="1552099"/>
            <a:ext cx="236220" cy="236696"/>
          </a:xfrm>
          <a:prstGeom prst="rect">
            <a:avLst/>
          </a:prstGeom>
        </p:spPr>
      </p:pic>
      <p:sp>
        <p:nvSpPr>
          <p:cNvPr id="121" name="三角形 81"/>
          <p:cNvSpPr/>
          <p:nvPr>
            <p:custDataLst>
              <p:tags r:id="rId11"/>
            </p:custDataLst>
          </p:nvPr>
        </p:nvSpPr>
        <p:spPr>
          <a:xfrm rot="10800000">
            <a:off x="4977765" y="2429352"/>
            <a:ext cx="189548" cy="132874"/>
          </a:xfrm>
          <a:prstGeom prst="triangle">
            <a:avLst/>
          </a:prstGeom>
          <a:solidFill>
            <a:srgbClr val="F56428"/>
          </a:solidFill>
          <a:ln w="6350" cap="flat">
            <a:noFill/>
            <a:prstDash val="sysDot"/>
            <a:miter lim="400000"/>
          </a:ln>
          <a:effectLst/>
        </p:spPr>
        <p:txBody>
          <a:bodyPr wrap="square" lIns="0" tIns="0" rIns="0" bIns="0" numCol="1" rtlCol="0" anchor="ctr">
            <a:noAutofit/>
          </a:bodyPr>
          <a:lstStyle/>
          <a:p>
            <a:pPr defTabSz="108109" hangingPunct="1">
              <a:defRPr/>
            </a:pPr>
            <a:endParaRPr kumimoji="1" lang="zh-CN" altLang="en-US" sz="1099" b="1" kern="1200" dirty="0">
              <a:latin typeface="美的无界联动体" panose="02000500000000000000" pitchFamily="50" charset="-122"/>
              <a:ea typeface="美的无界联动体" panose="02000500000000000000" pitchFamily="50" charset="-122"/>
              <a:sym typeface="微软雅黑" panose="020B0503020204020204" charset="-122"/>
            </a:endParaRPr>
          </a:p>
        </p:txBody>
      </p:sp>
      <p:sp>
        <p:nvSpPr>
          <p:cNvPr id="127" name="三角形 81"/>
          <p:cNvSpPr/>
          <p:nvPr>
            <p:custDataLst>
              <p:tags r:id="rId12"/>
            </p:custDataLst>
          </p:nvPr>
        </p:nvSpPr>
        <p:spPr>
          <a:xfrm rot="10800000">
            <a:off x="7320201" y="2429352"/>
            <a:ext cx="189548" cy="132874"/>
          </a:xfrm>
          <a:prstGeom prst="triangle">
            <a:avLst/>
          </a:prstGeom>
          <a:solidFill>
            <a:srgbClr val="F56428"/>
          </a:solidFill>
          <a:ln w="6350" cap="flat">
            <a:noFill/>
            <a:prstDash val="sysDot"/>
            <a:miter lim="400000"/>
          </a:ln>
          <a:effectLst/>
        </p:spPr>
        <p:txBody>
          <a:bodyPr wrap="square" lIns="0" tIns="0" rIns="0" bIns="0" numCol="1" rtlCol="0" anchor="ctr">
            <a:noAutofit/>
          </a:bodyPr>
          <a:lstStyle/>
          <a:p>
            <a:pPr defTabSz="108109" hangingPunct="1">
              <a:defRPr/>
            </a:pPr>
            <a:endParaRPr kumimoji="1" lang="zh-CN" altLang="en-US" sz="1099" b="1" kern="1200" dirty="0">
              <a:latin typeface="美的无界联动体" panose="02000500000000000000" pitchFamily="50" charset="-122"/>
              <a:ea typeface="美的无界联动体" panose="02000500000000000000" pitchFamily="50" charset="-122"/>
              <a:sym typeface="微软雅黑" panose="020B0503020204020204" charset="-122"/>
            </a:endParaRPr>
          </a:p>
        </p:txBody>
      </p:sp>
      <p:pic>
        <p:nvPicPr>
          <p:cNvPr id="128" name="图片 127" descr="资源 2@4x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704398" y="1389221"/>
            <a:ext cx="813435" cy="562928"/>
          </a:xfrm>
          <a:prstGeom prst="rect">
            <a:avLst/>
          </a:prstGeom>
        </p:spPr>
      </p:pic>
      <p:pic>
        <p:nvPicPr>
          <p:cNvPr id="129" name="图片 128" descr="资源 5@4x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1034" y="2834640"/>
            <a:ext cx="565785" cy="755333"/>
          </a:xfrm>
          <a:prstGeom prst="rect">
            <a:avLst/>
          </a:prstGeom>
        </p:spPr>
      </p:pic>
      <p:pic>
        <p:nvPicPr>
          <p:cNvPr id="130" name="图片 129" descr="资源 9@4x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4430078" y="2821781"/>
            <a:ext cx="1380649" cy="791528"/>
          </a:xfrm>
          <a:prstGeom prst="rect">
            <a:avLst/>
          </a:prstGeom>
        </p:spPr>
      </p:pic>
      <p:pic>
        <p:nvPicPr>
          <p:cNvPr id="131" name="图片 130" descr="资源 10@4x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419850" y="2834640"/>
            <a:ext cx="300990" cy="755809"/>
          </a:xfrm>
          <a:prstGeom prst="rect">
            <a:avLst/>
          </a:prstGeom>
        </p:spPr>
      </p:pic>
      <p:pic>
        <p:nvPicPr>
          <p:cNvPr id="132" name="图片 131" descr="资源 11@4x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077076" y="2841784"/>
            <a:ext cx="634841" cy="736283"/>
          </a:xfrm>
          <a:prstGeom prst="rect">
            <a:avLst/>
          </a:prstGeom>
        </p:spPr>
      </p:pic>
      <p:pic>
        <p:nvPicPr>
          <p:cNvPr id="138" name="图片 137" descr="业务领域 线图+渲染图-0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869079" y="2886552"/>
            <a:ext cx="719138" cy="676751"/>
          </a:xfrm>
          <a:prstGeom prst="rect">
            <a:avLst/>
          </a:prstGeom>
        </p:spPr>
      </p:pic>
      <p:pic>
        <p:nvPicPr>
          <p:cNvPr id="139" name="图片 138" descr="滚筒洗衣机电机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19451" y="1809750"/>
            <a:ext cx="330041" cy="220028"/>
          </a:xfrm>
          <a:prstGeom prst="rect">
            <a:avLst/>
          </a:prstGeom>
        </p:spPr>
      </p:pic>
      <p:pic>
        <p:nvPicPr>
          <p:cNvPr id="140" name="图片 139" descr="20220527变频冰压dz59v1u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14087" y="1788319"/>
            <a:ext cx="235744" cy="235744"/>
          </a:xfrm>
          <a:prstGeom prst="rect">
            <a:avLst/>
          </a:prstGeom>
        </p:spPr>
      </p:pic>
      <p:grpSp>
        <p:nvGrpSpPr>
          <p:cNvPr id="141" name="组合 140"/>
          <p:cNvGrpSpPr/>
          <p:nvPr/>
        </p:nvGrpSpPr>
        <p:grpSpPr>
          <a:xfrm>
            <a:off x="833437" y="1247299"/>
            <a:ext cx="633413" cy="810578"/>
            <a:chOff x="2408" y="2839"/>
            <a:chExt cx="1124" cy="1438"/>
          </a:xfrm>
        </p:grpSpPr>
        <p:grpSp>
          <p:nvGrpSpPr>
            <p:cNvPr id="142" name="组合 141"/>
            <p:cNvGrpSpPr/>
            <p:nvPr/>
          </p:nvGrpSpPr>
          <p:grpSpPr>
            <a:xfrm>
              <a:off x="3148" y="2870"/>
              <a:ext cx="241" cy="217"/>
              <a:chOff x="22766" y="8685"/>
              <a:chExt cx="7270" cy="6498"/>
            </a:xfrm>
          </p:grpSpPr>
          <p:pic>
            <p:nvPicPr>
              <p:cNvPr id="145" name="图片 144" descr="BgSub_结尾"/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2766" y="8685"/>
                <a:ext cx="7271" cy="6498"/>
              </a:xfrm>
              <a:prstGeom prst="rect">
                <a:avLst/>
              </a:prstGeom>
            </p:spPr>
          </p:pic>
          <p:pic>
            <p:nvPicPr>
              <p:cNvPr id="146" name="图片 145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 flipV="1">
                <a:off x="26519" y="10895"/>
                <a:ext cx="4189" cy="2165"/>
              </a:xfrm>
              <a:prstGeom prst="rect">
                <a:avLst/>
              </a:prstGeom>
            </p:spPr>
          </p:pic>
        </p:grpSp>
        <p:pic>
          <p:nvPicPr>
            <p:cNvPr id="143" name="图片 142" descr="1 空调压缩机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3021" y="3650"/>
              <a:ext cx="371" cy="557"/>
            </a:xfrm>
            <a:prstGeom prst="rect">
              <a:avLst/>
            </a:prstGeom>
          </p:spPr>
        </p:pic>
        <p:pic>
          <p:nvPicPr>
            <p:cNvPr id="144" name="图片 143" descr="资源 1@4x"/>
            <p:cNvPicPr>
              <a:picLocks noChangeAspect="1"/>
            </p:cNvPicPr>
            <p:nvPr/>
          </p:nvPicPr>
          <p:blipFill>
            <a:blip r:embed="rId38"/>
            <a:srcRect r="66883"/>
            <a:stretch>
              <a:fillRect/>
            </a:stretch>
          </p:blipFill>
          <p:spPr>
            <a:xfrm>
              <a:off x="2408" y="2839"/>
              <a:ext cx="1124" cy="1439"/>
            </a:xfrm>
            <a:prstGeom prst="rect">
              <a:avLst/>
            </a:prstGeom>
          </p:spPr>
        </p:pic>
      </p:grpSp>
      <p:pic>
        <p:nvPicPr>
          <p:cNvPr id="147" name="图片 146" descr="资源 1@4x"/>
          <p:cNvPicPr>
            <a:picLocks noChangeAspect="1"/>
          </p:cNvPicPr>
          <p:nvPr/>
        </p:nvPicPr>
        <p:blipFill>
          <a:blip r:embed="rId38"/>
          <a:srcRect l="69711"/>
          <a:stretch>
            <a:fillRect/>
          </a:stretch>
        </p:blipFill>
        <p:spPr>
          <a:xfrm>
            <a:off x="2982754" y="1246823"/>
            <a:ext cx="579596" cy="811054"/>
          </a:xfrm>
          <a:prstGeom prst="rect">
            <a:avLst/>
          </a:prstGeom>
        </p:spPr>
      </p:pic>
      <p:pic>
        <p:nvPicPr>
          <p:cNvPr id="148" name="图片 147" descr="资源 1@4x"/>
          <p:cNvPicPr>
            <a:picLocks noChangeAspect="1"/>
          </p:cNvPicPr>
          <p:nvPr/>
        </p:nvPicPr>
        <p:blipFill>
          <a:blip r:embed="rId38"/>
          <a:srcRect l="36181" r="34738"/>
          <a:stretch>
            <a:fillRect/>
          </a:stretch>
        </p:blipFill>
        <p:spPr>
          <a:xfrm>
            <a:off x="1956435" y="1246823"/>
            <a:ext cx="556260" cy="811054"/>
          </a:xfrm>
          <a:prstGeom prst="rect">
            <a:avLst/>
          </a:prstGeom>
        </p:spPr>
      </p:pic>
      <p:grpSp>
        <p:nvGrpSpPr>
          <p:cNvPr id="151" name="组合 150"/>
          <p:cNvGrpSpPr/>
          <p:nvPr/>
        </p:nvGrpSpPr>
        <p:grpSpPr>
          <a:xfrm>
            <a:off x="1509713" y="2892266"/>
            <a:ext cx="706755" cy="713423"/>
            <a:chOff x="3002" y="5967"/>
            <a:chExt cx="1484" cy="1498"/>
          </a:xfrm>
        </p:grpSpPr>
        <p:grpSp>
          <p:nvGrpSpPr>
            <p:cNvPr id="152" name="组合 151"/>
            <p:cNvGrpSpPr/>
            <p:nvPr/>
          </p:nvGrpSpPr>
          <p:grpSpPr>
            <a:xfrm>
              <a:off x="3002" y="5967"/>
              <a:ext cx="1484" cy="1499"/>
              <a:chOff x="1694815" y="3904615"/>
              <a:chExt cx="685800" cy="692697"/>
            </a:xfrm>
          </p:grpSpPr>
          <p:pic>
            <p:nvPicPr>
              <p:cNvPr id="155" name="图片 154" descr="资源 6@4x"/>
              <p:cNvPicPr>
                <a:picLocks noChangeAspect="1"/>
              </p:cNvPicPr>
              <p:nvPr/>
            </p:nvPicPr>
            <p:blipFill>
              <a:blip r:embed="rId39"/>
              <a:srcRect b="54489"/>
              <a:stretch>
                <a:fillRect/>
              </a:stretch>
            </p:blipFill>
            <p:spPr>
              <a:xfrm>
                <a:off x="1694815" y="3904615"/>
                <a:ext cx="685800" cy="325120"/>
              </a:xfrm>
              <a:prstGeom prst="rect">
                <a:avLst/>
              </a:prstGeom>
            </p:spPr>
          </p:pic>
          <p:pic>
            <p:nvPicPr>
              <p:cNvPr id="158" name="图片 157" descr="未标题-1_画板 1"/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704981" y="4326056"/>
                <a:ext cx="335044" cy="271256"/>
              </a:xfrm>
              <a:prstGeom prst="rect">
                <a:avLst/>
              </a:prstGeom>
            </p:spPr>
          </p:pic>
        </p:grpSp>
        <p:pic>
          <p:nvPicPr>
            <p:cNvPr id="153" name="图片 152" descr="资源 8@4x"/>
            <p:cNvPicPr>
              <a:picLocks noChangeAspect="1"/>
            </p:cNvPicPr>
            <p:nvPr/>
          </p:nvPicPr>
          <p:blipFill>
            <a:blip r:embed="rId41"/>
            <a:srcRect t="52195" r="-7534"/>
            <a:stretch>
              <a:fillRect/>
            </a:stretch>
          </p:blipFill>
          <p:spPr>
            <a:xfrm>
              <a:off x="3858" y="6744"/>
              <a:ext cx="537" cy="680"/>
            </a:xfrm>
            <a:prstGeom prst="rect">
              <a:avLst/>
            </a:prstGeom>
          </p:spPr>
        </p:pic>
      </p:grpSp>
      <p:grpSp>
        <p:nvGrpSpPr>
          <p:cNvPr id="159" name="组合 158"/>
          <p:cNvGrpSpPr/>
          <p:nvPr/>
        </p:nvGrpSpPr>
        <p:grpSpPr>
          <a:xfrm>
            <a:off x="3270888" y="2730173"/>
            <a:ext cx="615791" cy="1043641"/>
            <a:chOff x="6942" y="5898"/>
            <a:chExt cx="970" cy="1644"/>
          </a:xfrm>
        </p:grpSpPr>
        <p:pic>
          <p:nvPicPr>
            <p:cNvPr id="160" name="图片 159" descr="业务领域 线图+渲染图-04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6942" y="6534"/>
              <a:ext cx="970" cy="1008"/>
            </a:xfrm>
            <a:prstGeom prst="rect">
              <a:avLst/>
            </a:prstGeom>
          </p:spPr>
        </p:pic>
        <p:pic>
          <p:nvPicPr>
            <p:cNvPr id="161" name="图片 160" descr="业务领域 线图+渲染图-05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6944" y="5898"/>
              <a:ext cx="965" cy="1008"/>
            </a:xfrm>
            <a:prstGeom prst="rect">
              <a:avLst/>
            </a:prstGeom>
          </p:spPr>
        </p:pic>
      </p:grpSp>
      <p:grpSp>
        <p:nvGrpSpPr>
          <p:cNvPr id="162" name="组合 161"/>
          <p:cNvGrpSpPr/>
          <p:nvPr/>
        </p:nvGrpSpPr>
        <p:grpSpPr>
          <a:xfrm>
            <a:off x="2476977" y="2742485"/>
            <a:ext cx="617696" cy="1006466"/>
            <a:chOff x="5198" y="5906"/>
            <a:chExt cx="1058" cy="1723"/>
          </a:xfrm>
        </p:grpSpPr>
        <p:pic>
          <p:nvPicPr>
            <p:cNvPr id="163" name="图片 162" descr="业务领域 线图+渲染图-03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243" y="5906"/>
              <a:ext cx="965" cy="1008"/>
            </a:xfrm>
            <a:prstGeom prst="rect">
              <a:avLst/>
            </a:prstGeom>
          </p:spPr>
        </p:pic>
        <p:pic>
          <p:nvPicPr>
            <p:cNvPr id="165" name="图片 164" descr="业务领域 线图+渲染图-06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198" y="6525"/>
              <a:ext cx="1058" cy="1104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6830854" y="1238250"/>
            <a:ext cx="628650" cy="813435"/>
            <a:chOff x="14343" y="2600"/>
            <a:chExt cx="1320" cy="1708"/>
          </a:xfrm>
        </p:grpSpPr>
        <p:pic>
          <p:nvPicPr>
            <p:cNvPr id="115" name="图片 114" descr="3.8kw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14357" y="3632"/>
              <a:ext cx="755" cy="426"/>
            </a:xfrm>
            <a:prstGeom prst="rect">
              <a:avLst/>
            </a:prstGeom>
          </p:spPr>
        </p:pic>
        <p:pic>
          <p:nvPicPr>
            <p:cNvPr id="120" name="图片 119" descr="sw-hd-14-xxx-r11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4357" y="2867"/>
              <a:ext cx="554" cy="311"/>
            </a:xfrm>
            <a:prstGeom prst="rect">
              <a:avLst/>
            </a:prstGeom>
          </p:spPr>
        </p:pic>
        <p:pic>
          <p:nvPicPr>
            <p:cNvPr id="2" name="图片 1" descr="资源 18@4x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8"/>
            <a:srcRect r="45477"/>
            <a:stretch>
              <a:fillRect/>
            </a:stretch>
          </p:blipFill>
          <p:spPr>
            <a:xfrm>
              <a:off x="14343" y="2600"/>
              <a:ext cx="1320" cy="1709"/>
            </a:xfrm>
            <a:prstGeom prst="rect">
              <a:avLst/>
            </a:prstGeom>
          </p:spPr>
        </p:pic>
      </p:grpSp>
      <p:pic>
        <p:nvPicPr>
          <p:cNvPr id="4" name="图片 3" descr="机器人线图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393781" y="1203960"/>
            <a:ext cx="680085" cy="90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1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3732652" y="2696457"/>
            <a:ext cx="1470199" cy="964122"/>
          </a:xfrm>
          <a:prstGeom prst="rect">
            <a:avLst/>
          </a:prstGeom>
        </p:spPr>
      </p:pic>
      <p:sp>
        <p:nvSpPr>
          <p:cNvPr id="92" name="Shape 739"/>
          <p:cNvSpPr txBox="1"/>
          <p:nvPr>
            <p:custDataLst>
              <p:tags r:id="rId2"/>
            </p:custDataLst>
          </p:nvPr>
        </p:nvSpPr>
        <p:spPr>
          <a:xfrm>
            <a:off x="2658636" y="3029197"/>
            <a:ext cx="3618230" cy="248285"/>
          </a:xfrm>
          <a:prstGeom prst="rect">
            <a:avLst/>
          </a:prstGeom>
          <a:ln w="25400">
            <a:miter lim="400000"/>
          </a:ln>
        </p:spPr>
        <p:txBody>
          <a:bodyPr wrap="square" lIns="17143" tIns="17143" rIns="17143" bIns="17143" anchor="ctr">
            <a:spAutoFit/>
          </a:bodyPr>
          <a:lstStyle>
            <a:lvl1pPr algn="ctr">
              <a:defRPr sz="48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共建可持续的智慧空间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917652" y="1530971"/>
            <a:ext cx="508047" cy="438372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729532" y="1968147"/>
            <a:ext cx="842010" cy="3816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1178FE"/>
                </a:solidFill>
                <a:latin typeface="微软雅黑" panose="020B0503020204020204" charset="-122"/>
                <a:ea typeface="微软雅黑" panose="020B0503020204020204" charset="-122"/>
              </a:rPr>
              <a:t>楼宇生态</a:t>
            </a:r>
            <a:endParaRPr lang="zh-CN" altLang="en-US" sz="1300" dirty="0">
              <a:solidFill>
                <a:srgbClr val="1178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5"/>
            </p:custDataLst>
          </p:nvPr>
        </p:nvSpPr>
        <p:spPr>
          <a:xfrm>
            <a:off x="1658751" y="2229285"/>
            <a:ext cx="981710" cy="320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开放平台搭建者</a:t>
            </a: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271322" y="1590908"/>
            <a:ext cx="392859" cy="3585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6514132" y="1613419"/>
            <a:ext cx="378174" cy="342619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4046746" y="1964376"/>
            <a:ext cx="842010" cy="3816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1178FE"/>
                </a:solidFill>
                <a:latin typeface="微软雅黑" panose="020B0503020204020204" charset="-122"/>
                <a:ea typeface="微软雅黑" panose="020B0503020204020204" charset="-122"/>
              </a:rPr>
              <a:t>绿色低碳</a:t>
            </a:r>
            <a:endParaRPr lang="zh-CN" altLang="en-US" sz="1300" dirty="0">
              <a:solidFill>
                <a:srgbClr val="1178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4091196" y="2225501"/>
            <a:ext cx="753110" cy="320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双碳践行者</a:t>
            </a: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6176380" y="1955340"/>
            <a:ext cx="1172210" cy="3816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1178FE"/>
                </a:solidFill>
                <a:latin typeface="微软雅黑" panose="020B0503020204020204" charset="-122"/>
                <a:ea typeface="微软雅黑" panose="020B0503020204020204" charset="-122"/>
              </a:rPr>
              <a:t>智能用户体验</a:t>
            </a:r>
            <a:endParaRPr lang="zh-CN" altLang="en-US" sz="1300" dirty="0">
              <a:solidFill>
                <a:srgbClr val="1178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1"/>
            </p:custDataLst>
          </p:nvPr>
        </p:nvSpPr>
        <p:spPr>
          <a:xfrm>
            <a:off x="6220356" y="2225501"/>
            <a:ext cx="1096010" cy="320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智慧空间的锻造者</a:t>
            </a: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1752900" y="3601965"/>
            <a:ext cx="378588" cy="41644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3525062" y="3644113"/>
            <a:ext cx="360142" cy="32740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5144343" y="3601831"/>
            <a:ext cx="360142" cy="38072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6892306" y="3631274"/>
            <a:ext cx="374074" cy="359110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16"/>
            </p:custDataLst>
          </p:nvPr>
        </p:nvSpPr>
        <p:spPr>
          <a:xfrm>
            <a:off x="1636488" y="4029034"/>
            <a:ext cx="689610" cy="3352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高效设备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7"/>
            </p:custDataLst>
          </p:nvPr>
        </p:nvSpPr>
        <p:spPr>
          <a:xfrm>
            <a:off x="3343517" y="4018412"/>
            <a:ext cx="689610" cy="3352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系统优化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8"/>
            </p:custDataLst>
          </p:nvPr>
        </p:nvSpPr>
        <p:spPr>
          <a:xfrm>
            <a:off x="4979609" y="4018412"/>
            <a:ext cx="689610" cy="3352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节能服务</a:t>
            </a:r>
          </a:p>
        </p:txBody>
      </p:sp>
      <p:sp>
        <p:nvSpPr>
          <p:cNvPr id="63" name="文本框 62"/>
          <p:cNvSpPr txBox="1"/>
          <p:nvPr>
            <p:custDataLst>
              <p:tags r:id="rId19"/>
            </p:custDataLst>
          </p:nvPr>
        </p:nvSpPr>
        <p:spPr>
          <a:xfrm>
            <a:off x="6758068" y="4026243"/>
            <a:ext cx="689610" cy="3352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91437" tIns="91437" rIns="91437" bIns="91437" numCol="1" spcCol="38100" rtlCol="0" anchor="t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智慧运营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Shape 687"/>
          <p:cNvSpPr txBox="1"/>
          <p:nvPr>
            <p:custDataLst>
              <p:tags r:id="rId20"/>
            </p:custDataLst>
          </p:nvPr>
        </p:nvSpPr>
        <p:spPr>
          <a:xfrm>
            <a:off x="982800" y="162000"/>
            <a:ext cx="2163649" cy="331096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lvl1pPr defTabSz="821690">
              <a:defRPr sz="46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1800" dirty="0"/>
              <a:t>业务板块 </a:t>
            </a:r>
            <a:r>
              <a:rPr lang="en-US" altLang="zh-CN" sz="1800" dirty="0"/>
              <a:t>– </a:t>
            </a:r>
            <a:r>
              <a:rPr lang="zh-CN" sz="1800" dirty="0"/>
              <a:t>楼宇科技</a:t>
            </a:r>
          </a:p>
        </p:txBody>
      </p:sp>
      <p:sp>
        <p:nvSpPr>
          <p:cNvPr id="41" name="Shape 687"/>
          <p:cNvSpPr txBox="1"/>
          <p:nvPr>
            <p:custDataLst>
              <p:tags r:id="rId21"/>
            </p:custDataLst>
          </p:nvPr>
        </p:nvSpPr>
        <p:spPr>
          <a:xfrm>
            <a:off x="982800" y="475694"/>
            <a:ext cx="2969960" cy="207985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821055">
              <a:defRPr sz="100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Smart in One ——</a:t>
            </a:r>
            <a:r>
              <a:rPr lang="zh-CN" altLang="en-US" dirty="0"/>
              <a:t>聚焦楼宇产品、服务及相关产业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/>
          <p:cNvGrpSpPr/>
          <p:nvPr/>
        </p:nvGrpSpPr>
        <p:grpSpPr>
          <a:xfrm>
            <a:off x="2619217" y="2291064"/>
            <a:ext cx="990122" cy="990122"/>
            <a:chOff x="1882404" y="1393382"/>
            <a:chExt cx="990122" cy="990122"/>
          </a:xfrm>
        </p:grpSpPr>
        <p:grpSp>
          <p:nvGrpSpPr>
            <p:cNvPr id="94" name="成组"/>
            <p:cNvGrpSpPr/>
            <p:nvPr/>
          </p:nvGrpSpPr>
          <p:grpSpPr>
            <a:xfrm>
              <a:off x="1882404" y="1393382"/>
              <a:ext cx="990122" cy="990122"/>
              <a:chOff x="-1" y="0"/>
              <a:chExt cx="3194789" cy="3194790"/>
            </a:xfrm>
          </p:grpSpPr>
          <p:sp>
            <p:nvSpPr>
              <p:cNvPr id="102" name="圆形"/>
              <p:cNvSpPr/>
              <p:nvPr/>
            </p:nvSpPr>
            <p:spPr>
              <a:xfrm>
                <a:off x="313503" y="313504"/>
                <a:ext cx="2567782" cy="2567782"/>
              </a:xfrm>
              <a:prstGeom prst="ellipse">
                <a:avLst/>
              </a:prstGeom>
              <a:solidFill>
                <a:srgbClr val="1478F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  <p:sp>
            <p:nvSpPr>
              <p:cNvPr id="103" name="圆形"/>
              <p:cNvSpPr/>
              <p:nvPr/>
            </p:nvSpPr>
            <p:spPr>
              <a:xfrm>
                <a:off x="-1" y="0"/>
                <a:ext cx="3194789" cy="3194790"/>
              </a:xfrm>
              <a:prstGeom prst="ellipse">
                <a:avLst/>
              </a:prstGeom>
              <a:noFill/>
              <a:ln w="3175" cap="flat">
                <a:solidFill>
                  <a:srgbClr val="1478FE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</p:grpSp>
        <p:sp>
          <p:nvSpPr>
            <p:cNvPr id="95" name="大屏&amp;移动端"/>
            <p:cNvSpPr txBox="1"/>
            <p:nvPr/>
          </p:nvSpPr>
          <p:spPr>
            <a:xfrm>
              <a:off x="2005568" y="1900403"/>
              <a:ext cx="743793" cy="26007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10000"/>
                </a:lnSpc>
                <a:defRPr sz="36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lang="zh-CN" altLang="en-US" sz="1000" dirty="0"/>
                <a:t>工业自动化</a:t>
              </a:r>
              <a:endParaRPr sz="1000" dirty="0"/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1151821" y="2285010"/>
            <a:ext cx="990122" cy="990122"/>
            <a:chOff x="3364435" y="1393381"/>
            <a:chExt cx="990122" cy="990122"/>
          </a:xfrm>
        </p:grpSpPr>
        <p:grpSp>
          <p:nvGrpSpPr>
            <p:cNvPr id="105" name="成组"/>
            <p:cNvGrpSpPr/>
            <p:nvPr/>
          </p:nvGrpSpPr>
          <p:grpSpPr>
            <a:xfrm>
              <a:off x="3364435" y="1393381"/>
              <a:ext cx="990122" cy="990122"/>
              <a:chOff x="0" y="0"/>
              <a:chExt cx="3194789" cy="3194789"/>
            </a:xfrm>
          </p:grpSpPr>
          <p:sp>
            <p:nvSpPr>
              <p:cNvPr id="108" name="圆形"/>
              <p:cNvSpPr/>
              <p:nvPr/>
            </p:nvSpPr>
            <p:spPr>
              <a:xfrm>
                <a:off x="313504" y="313504"/>
                <a:ext cx="2567782" cy="2567782"/>
              </a:xfrm>
              <a:prstGeom prst="ellipse">
                <a:avLst/>
              </a:prstGeom>
              <a:solidFill>
                <a:srgbClr val="1478F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  <p:sp>
            <p:nvSpPr>
              <p:cNvPr id="109" name="圆形"/>
              <p:cNvSpPr/>
              <p:nvPr/>
            </p:nvSpPr>
            <p:spPr>
              <a:xfrm>
                <a:off x="0" y="0"/>
                <a:ext cx="3194790" cy="3194790"/>
              </a:xfrm>
              <a:prstGeom prst="ellipse">
                <a:avLst/>
              </a:prstGeom>
              <a:noFill/>
              <a:ln w="3175" cap="flat">
                <a:solidFill>
                  <a:srgbClr val="1478FE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</p:grpSp>
        <p:sp>
          <p:nvSpPr>
            <p:cNvPr id="106" name="大屏&amp;移动端"/>
            <p:cNvSpPr txBox="1"/>
            <p:nvPr/>
          </p:nvSpPr>
          <p:spPr>
            <a:xfrm>
              <a:off x="3487599" y="1900402"/>
              <a:ext cx="743793" cy="26007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10000"/>
                </a:lnSpc>
                <a:defRPr sz="36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lang="zh-CN" altLang="en-US" sz="1000" dirty="0"/>
                <a:t>机器人本体</a:t>
              </a:r>
              <a:endParaRPr sz="1000" dirty="0"/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5637136" y="2297640"/>
            <a:ext cx="990122" cy="990122"/>
            <a:chOff x="4850375" y="1393381"/>
            <a:chExt cx="990122" cy="990122"/>
          </a:xfrm>
        </p:grpSpPr>
        <p:grpSp>
          <p:nvGrpSpPr>
            <p:cNvPr id="111" name="成组"/>
            <p:cNvGrpSpPr/>
            <p:nvPr/>
          </p:nvGrpSpPr>
          <p:grpSpPr>
            <a:xfrm>
              <a:off x="4850375" y="1393381"/>
              <a:ext cx="990122" cy="990122"/>
              <a:chOff x="0" y="0"/>
              <a:chExt cx="3194789" cy="3194789"/>
            </a:xfrm>
          </p:grpSpPr>
          <p:sp>
            <p:nvSpPr>
              <p:cNvPr id="114" name="圆形"/>
              <p:cNvSpPr/>
              <p:nvPr/>
            </p:nvSpPr>
            <p:spPr>
              <a:xfrm>
                <a:off x="313504" y="313504"/>
                <a:ext cx="2567782" cy="2567782"/>
              </a:xfrm>
              <a:prstGeom prst="ellipse">
                <a:avLst/>
              </a:prstGeom>
              <a:solidFill>
                <a:srgbClr val="1478F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  <p:sp>
            <p:nvSpPr>
              <p:cNvPr id="115" name="圆形"/>
              <p:cNvSpPr/>
              <p:nvPr/>
            </p:nvSpPr>
            <p:spPr>
              <a:xfrm>
                <a:off x="0" y="0"/>
                <a:ext cx="3194790" cy="3194790"/>
              </a:xfrm>
              <a:prstGeom prst="ellipse">
                <a:avLst/>
              </a:prstGeom>
              <a:noFill/>
              <a:ln w="3175" cap="flat">
                <a:solidFill>
                  <a:srgbClr val="1478FE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</p:grpSp>
        <p:sp>
          <p:nvSpPr>
            <p:cNvPr id="112" name="大屏&amp;移动端"/>
            <p:cNvSpPr txBox="1"/>
            <p:nvPr/>
          </p:nvSpPr>
          <p:spPr>
            <a:xfrm>
              <a:off x="5037661" y="1900402"/>
              <a:ext cx="615554" cy="26007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10000"/>
                </a:lnSpc>
                <a:defRPr sz="36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lang="zh-CN" altLang="en-US" sz="1000" dirty="0"/>
                <a:t>智能物流</a:t>
              </a:r>
              <a:endParaRPr sz="1000" dirty="0"/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7150999" y="2297643"/>
            <a:ext cx="990122" cy="990122"/>
            <a:chOff x="6364238" y="1393382"/>
            <a:chExt cx="990122" cy="990122"/>
          </a:xfrm>
        </p:grpSpPr>
        <p:grpSp>
          <p:nvGrpSpPr>
            <p:cNvPr id="117" name="成组"/>
            <p:cNvGrpSpPr/>
            <p:nvPr/>
          </p:nvGrpSpPr>
          <p:grpSpPr>
            <a:xfrm>
              <a:off x="6364238" y="1393382"/>
              <a:ext cx="990122" cy="990122"/>
              <a:chOff x="0" y="0"/>
              <a:chExt cx="3194789" cy="3194789"/>
            </a:xfrm>
          </p:grpSpPr>
          <p:sp>
            <p:nvSpPr>
              <p:cNvPr id="120" name="圆形"/>
              <p:cNvSpPr/>
              <p:nvPr/>
            </p:nvSpPr>
            <p:spPr>
              <a:xfrm>
                <a:off x="313504" y="313504"/>
                <a:ext cx="2567782" cy="2567782"/>
              </a:xfrm>
              <a:prstGeom prst="ellipse">
                <a:avLst/>
              </a:prstGeom>
              <a:solidFill>
                <a:srgbClr val="1478F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  <p:sp>
            <p:nvSpPr>
              <p:cNvPr id="121" name="圆形"/>
              <p:cNvSpPr/>
              <p:nvPr/>
            </p:nvSpPr>
            <p:spPr>
              <a:xfrm>
                <a:off x="0" y="0"/>
                <a:ext cx="3194789" cy="3194789"/>
              </a:xfrm>
              <a:prstGeom prst="ellipse">
                <a:avLst/>
              </a:prstGeom>
              <a:noFill/>
              <a:ln w="3175" cap="flat">
                <a:solidFill>
                  <a:srgbClr val="1478FE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</p:grpSp>
        <p:sp>
          <p:nvSpPr>
            <p:cNvPr id="118" name="大屏&amp;移动端"/>
            <p:cNvSpPr txBox="1"/>
            <p:nvPr/>
          </p:nvSpPr>
          <p:spPr>
            <a:xfrm>
              <a:off x="6551524" y="1900403"/>
              <a:ext cx="615554" cy="26007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10000"/>
                </a:lnSpc>
                <a:defRPr sz="36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sz="1000" dirty="0" err="1"/>
                <a:t>智能</a:t>
              </a:r>
              <a:r>
                <a:rPr lang="zh-CN" altLang="en-US" sz="1000" dirty="0"/>
                <a:t>医疗</a:t>
              </a:r>
              <a:endParaRPr sz="1000" dirty="0"/>
            </a:p>
          </p:txBody>
        </p:sp>
      </p:grpSp>
      <p:sp>
        <p:nvSpPr>
          <p:cNvPr id="49" name="Shape 687"/>
          <p:cNvSpPr txBox="1"/>
          <p:nvPr/>
        </p:nvSpPr>
        <p:spPr>
          <a:xfrm>
            <a:off x="982802" y="162000"/>
            <a:ext cx="1701984" cy="331096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lvl1pPr defTabSz="821690">
              <a:defRPr sz="46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1800" dirty="0"/>
              <a:t>业务板块 </a:t>
            </a:r>
            <a:r>
              <a:rPr lang="en-US" altLang="zh-CN" sz="1800" dirty="0"/>
              <a:t>– </a:t>
            </a:r>
            <a:r>
              <a:rPr lang="zh-CN" altLang="en-US" sz="1800" dirty="0"/>
              <a:t>库卡</a:t>
            </a:r>
            <a:endParaRPr sz="1800" dirty="0"/>
          </a:p>
        </p:txBody>
      </p:sp>
      <p:sp>
        <p:nvSpPr>
          <p:cNvPr id="50" name="Shape 687"/>
          <p:cNvSpPr txBox="1"/>
          <p:nvPr/>
        </p:nvSpPr>
        <p:spPr>
          <a:xfrm>
            <a:off x="982802" y="475634"/>
            <a:ext cx="2875382" cy="208114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821055">
              <a:defRPr sz="100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智能制造的基石</a:t>
            </a:r>
            <a:r>
              <a:rPr lang="en-US" altLang="zh-CN" dirty="0"/>
              <a:t>——</a:t>
            </a:r>
            <a:r>
              <a:rPr lang="zh-CN" altLang="en-US" dirty="0"/>
              <a:t>基于机器人的自动化解决方案</a:t>
            </a:r>
          </a:p>
        </p:txBody>
      </p:sp>
      <p:pic>
        <p:nvPicPr>
          <p:cNvPr id="77" name="图片 8" descr="图片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5196" y="2551604"/>
            <a:ext cx="234000" cy="216000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81" name="图片 3" descr="图片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01286" y="2550861"/>
            <a:ext cx="212538" cy="243452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20879" y="2541054"/>
            <a:ext cx="252000" cy="25200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14650" y="2538422"/>
            <a:ext cx="288000" cy="27016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1F83A4C-FEFB-FE2D-C0A9-66134189DCC2}"/>
              </a:ext>
            </a:extLst>
          </p:cNvPr>
          <p:cNvGrpSpPr/>
          <p:nvPr/>
        </p:nvGrpSpPr>
        <p:grpSpPr>
          <a:xfrm>
            <a:off x="4087759" y="2305263"/>
            <a:ext cx="990122" cy="990122"/>
            <a:chOff x="6364238" y="1393382"/>
            <a:chExt cx="990122" cy="990122"/>
          </a:xfrm>
        </p:grpSpPr>
        <p:grpSp>
          <p:nvGrpSpPr>
            <p:cNvPr id="5" name="成组">
              <a:extLst>
                <a:ext uri="{FF2B5EF4-FFF2-40B4-BE49-F238E27FC236}">
                  <a16:creationId xmlns:a16="http://schemas.microsoft.com/office/drawing/2014/main" id="{6EB53F97-0AFD-579B-CC90-6D89218139B3}"/>
                </a:ext>
              </a:extLst>
            </p:cNvPr>
            <p:cNvGrpSpPr/>
            <p:nvPr/>
          </p:nvGrpSpPr>
          <p:grpSpPr>
            <a:xfrm>
              <a:off x="6364238" y="1393382"/>
              <a:ext cx="990122" cy="990122"/>
              <a:chOff x="0" y="0"/>
              <a:chExt cx="3194789" cy="3194789"/>
            </a:xfrm>
          </p:grpSpPr>
          <p:sp>
            <p:nvSpPr>
              <p:cNvPr id="8" name="圆形">
                <a:extLst>
                  <a:ext uri="{FF2B5EF4-FFF2-40B4-BE49-F238E27FC236}">
                    <a16:creationId xmlns:a16="http://schemas.microsoft.com/office/drawing/2014/main" id="{C4C8991F-CDDB-A4F8-37C6-A5D316004E5B}"/>
                  </a:ext>
                </a:extLst>
              </p:cNvPr>
              <p:cNvSpPr/>
              <p:nvPr/>
            </p:nvSpPr>
            <p:spPr>
              <a:xfrm>
                <a:off x="313504" y="313504"/>
                <a:ext cx="2567782" cy="2567782"/>
              </a:xfrm>
              <a:prstGeom prst="ellipse">
                <a:avLst/>
              </a:prstGeom>
              <a:solidFill>
                <a:srgbClr val="1478F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  <p:sp>
            <p:nvSpPr>
              <p:cNvPr id="9" name="圆形">
                <a:extLst>
                  <a:ext uri="{FF2B5EF4-FFF2-40B4-BE49-F238E27FC236}">
                    <a16:creationId xmlns:a16="http://schemas.microsoft.com/office/drawing/2014/main" id="{9C64A2A0-DAB2-8FF5-7A05-F5531714AD06}"/>
                  </a:ext>
                </a:extLst>
              </p:cNvPr>
              <p:cNvSpPr/>
              <p:nvPr/>
            </p:nvSpPr>
            <p:spPr>
              <a:xfrm>
                <a:off x="0" y="0"/>
                <a:ext cx="3194789" cy="3194789"/>
              </a:xfrm>
              <a:prstGeom prst="ellipse">
                <a:avLst/>
              </a:prstGeom>
              <a:noFill/>
              <a:ln w="3175" cap="flat">
                <a:solidFill>
                  <a:srgbClr val="1478FE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1478FE"/>
                    </a:solidFill>
                  </a:defRPr>
                </a:pPr>
                <a:endParaRPr sz="480"/>
              </a:p>
            </p:txBody>
          </p:sp>
        </p:grpSp>
        <p:sp>
          <p:nvSpPr>
            <p:cNvPr id="6" name="大屏&amp;移动端">
              <a:extLst>
                <a:ext uri="{FF2B5EF4-FFF2-40B4-BE49-F238E27FC236}">
                  <a16:creationId xmlns:a16="http://schemas.microsoft.com/office/drawing/2014/main" id="{309B3656-5163-5996-5A56-116586BC9090}"/>
                </a:ext>
              </a:extLst>
            </p:cNvPr>
            <p:cNvSpPr txBox="1"/>
            <p:nvPr/>
          </p:nvSpPr>
          <p:spPr>
            <a:xfrm>
              <a:off x="6487401" y="1900403"/>
              <a:ext cx="743793" cy="26007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10000"/>
                </a:lnSpc>
                <a:defRPr sz="36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lang="zh-CN" altLang="en-US" sz="1000" dirty="0"/>
                <a:t>移动机器人</a:t>
              </a:r>
              <a:endParaRPr sz="1000" dirty="0"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DAF01B34-114F-B79C-B231-FE624BABDF56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0330" y="2546042"/>
            <a:ext cx="270160" cy="2701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文本框 35846"/>
          <p:cNvSpPr txBox="1">
            <a:spLocks noChangeArrowheads="1"/>
          </p:cNvSpPr>
          <p:nvPr/>
        </p:nvSpPr>
        <p:spPr bwMode="auto">
          <a:xfrm>
            <a:off x="1056759" y="518077"/>
            <a:ext cx="1860680" cy="238761"/>
          </a:xfrm>
          <a:prstGeom prst="rect">
            <a:avLst/>
          </a:prstGeom>
          <a:ln w="25400">
            <a:miter lim="400000"/>
          </a:ln>
        </p:spPr>
        <p:txBody>
          <a:bodyPr wrap="none" lIns="26786" tIns="26786" rIns="26786" bIns="26786" anchor="ctr">
            <a:spAutoFit/>
          </a:bodyPr>
          <a:lstStyle>
            <a:defPPr>
              <a:defRPr lang="zh-CN"/>
            </a:defPPr>
            <a:lvl1pPr defTabSz="821690">
              <a:defRPr sz="11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defTabSz="821055">
              <a:defRPr/>
            </a:pP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美的无界联动体" panose="02000500000000000000" pitchFamily="50" charset="-122"/>
                <a:ea typeface="美的无界联动体" panose="02000500000000000000" pitchFamily="50" charset="-122"/>
                <a:sym typeface="+mn-ea"/>
              </a:rPr>
              <a:t>新能源核心技术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美的无界联动体" panose="02000500000000000000" pitchFamily="50" charset="-122"/>
                <a:ea typeface="美的无界联动体" panose="02000500000000000000" pitchFamily="50" charset="-122"/>
                <a:sym typeface="+mn-ea"/>
              </a:rPr>
              <a:t>+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美的无界联动体" panose="02000500000000000000" pitchFamily="50" charset="-122"/>
                <a:ea typeface="美的无界联动体" panose="02000500000000000000" pitchFamily="50" charset="-122"/>
                <a:sym typeface="+mn-ea"/>
              </a:rPr>
              <a:t>解决方案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美的无界联动体" panose="02000500000000000000" pitchFamily="50" charset="-122"/>
              <a:ea typeface="美的无界联动体" panose="02000500000000000000" pitchFamily="50" charset="-122"/>
              <a:sym typeface="微软雅黑" panose="020B0503020204020204" charset="-122"/>
            </a:endParaRPr>
          </a:p>
        </p:txBody>
      </p:sp>
      <p:sp>
        <p:nvSpPr>
          <p:cNvPr id="125" name="文本框 35846"/>
          <p:cNvSpPr txBox="1">
            <a:spLocks noChangeArrowheads="1"/>
          </p:cNvSpPr>
          <p:nvPr/>
        </p:nvSpPr>
        <p:spPr bwMode="auto">
          <a:xfrm>
            <a:off x="984867" y="196439"/>
            <a:ext cx="2370654" cy="33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342900" indent="-342900" defTabSz="457200">
              <a:defRPr sz="1800">
                <a:solidFill>
                  <a:srgbClr val="1178F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 defTabSz="615950">
              <a:defRPr sz="1800">
                <a:solidFill>
                  <a:srgbClr val="1578E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defTabSz="4572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4572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4572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defTabSz="457200" eaLnBrk="0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defTabSz="457200" eaLnBrk="0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defTabSz="457200" eaLnBrk="0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defTabSz="457200" eaLnBrk="0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sym typeface="微软雅黑" panose="020B0503020204020204" charset="-122"/>
              </a:rPr>
              <a:t>业务板块 </a:t>
            </a:r>
            <a:r>
              <a:rPr lang="en-US" altLang="zh-CN" dirty="0"/>
              <a:t>– </a:t>
            </a:r>
            <a:r>
              <a:rPr lang="zh-CN" altLang="en-US" dirty="0">
                <a:sym typeface="微软雅黑" panose="020B0503020204020204" charset="-122"/>
              </a:rPr>
              <a:t>新能源</a:t>
            </a:r>
            <a:endParaRPr lang="zh-CN" altLang="en-US" dirty="0"/>
          </a:p>
        </p:txBody>
      </p:sp>
      <p:cxnSp>
        <p:nvCxnSpPr>
          <p:cNvPr id="204" name="直接连接符 203"/>
          <p:cNvCxnSpPr/>
          <p:nvPr/>
        </p:nvCxnSpPr>
        <p:spPr>
          <a:xfrm>
            <a:off x="2426060" y="1078476"/>
            <a:ext cx="0" cy="2397587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cxnSp>
        <p:nvCxnSpPr>
          <p:cNvPr id="205" name="直接连接符 204"/>
          <p:cNvCxnSpPr/>
          <p:nvPr/>
        </p:nvCxnSpPr>
        <p:spPr>
          <a:xfrm>
            <a:off x="3952482" y="1078476"/>
            <a:ext cx="0" cy="2397587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cxnSp>
        <p:nvCxnSpPr>
          <p:cNvPr id="206" name="直接连接符 205"/>
          <p:cNvCxnSpPr/>
          <p:nvPr/>
        </p:nvCxnSpPr>
        <p:spPr>
          <a:xfrm>
            <a:off x="5478901" y="1078476"/>
            <a:ext cx="0" cy="2397587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cxnSp>
        <p:nvCxnSpPr>
          <p:cNvPr id="207" name="直接连接符 206"/>
          <p:cNvCxnSpPr/>
          <p:nvPr/>
        </p:nvCxnSpPr>
        <p:spPr>
          <a:xfrm>
            <a:off x="7005320" y="1106822"/>
            <a:ext cx="0" cy="2397587"/>
          </a:xfrm>
          <a:prstGeom prst="line">
            <a:avLst/>
          </a:prstGeom>
          <a:noFill/>
          <a:ln w="9525" cap="flat">
            <a:solidFill>
              <a:schemeClr val="bg1">
                <a:lumMod val="95000"/>
              </a:schemeClr>
            </a:solidFill>
            <a:prstDash val="solid"/>
            <a:miter lim="400000"/>
          </a:ln>
          <a:effectLst/>
        </p:spPr>
      </p:cxnSp>
      <p:pic>
        <p:nvPicPr>
          <p:cNvPr id="236" name="图片 235" descr="资源 13@4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02" y="2123528"/>
            <a:ext cx="765188" cy="584633"/>
          </a:xfrm>
          <a:prstGeom prst="rect">
            <a:avLst/>
          </a:prstGeom>
        </p:spPr>
      </p:pic>
      <p:pic>
        <p:nvPicPr>
          <p:cNvPr id="237" name="图片 236" descr="资源 14@4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597" y="1764581"/>
            <a:ext cx="686031" cy="1334619"/>
          </a:xfrm>
          <a:prstGeom prst="rect">
            <a:avLst/>
          </a:prstGeom>
        </p:spPr>
      </p:pic>
      <p:pic>
        <p:nvPicPr>
          <p:cNvPr id="238" name="图片 237" descr="资源 15@4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542" y="2073333"/>
            <a:ext cx="653049" cy="685024"/>
          </a:xfrm>
          <a:prstGeom prst="rect">
            <a:avLst/>
          </a:prstGeom>
        </p:spPr>
      </p:pic>
      <p:pic>
        <p:nvPicPr>
          <p:cNvPr id="239" name="图片 238" descr="资源 16@4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882" y="1772158"/>
            <a:ext cx="824557" cy="1287375"/>
          </a:xfrm>
          <a:prstGeom prst="rect">
            <a:avLst/>
          </a:prstGeom>
        </p:spPr>
      </p:pic>
      <p:pic>
        <p:nvPicPr>
          <p:cNvPr id="240" name="图片 239" descr="资源 17@4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3878" y="2127764"/>
            <a:ext cx="474945" cy="608256"/>
          </a:xfrm>
          <a:prstGeom prst="rect">
            <a:avLst/>
          </a:prstGeom>
        </p:spPr>
      </p:pic>
      <p:pic>
        <p:nvPicPr>
          <p:cNvPr id="249" name="图片 248" descr="科陆LOGO-C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685" y="4046914"/>
            <a:ext cx="1428085" cy="547815"/>
          </a:xfrm>
          <a:prstGeom prst="rect">
            <a:avLst/>
          </a:prstGeom>
        </p:spPr>
      </p:pic>
      <p:pic>
        <p:nvPicPr>
          <p:cNvPr id="250" name="图片 24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993"/>
          <a:stretch>
            <a:fillRect/>
          </a:stretch>
        </p:blipFill>
        <p:spPr>
          <a:xfrm>
            <a:off x="6251428" y="3908738"/>
            <a:ext cx="1524703" cy="824167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B6B3BA2-43CA-4DF0-8AD3-465399266018}"/>
              </a:ext>
            </a:extLst>
          </p:cNvPr>
          <p:cNvGrpSpPr>
            <a:grpSpLocks noChangeAspect="1"/>
          </p:cNvGrpSpPr>
          <p:nvPr/>
        </p:nvGrpSpPr>
        <p:grpSpPr>
          <a:xfrm>
            <a:off x="4146586" y="4130748"/>
            <a:ext cx="1268222" cy="380146"/>
            <a:chOff x="3687759" y="4126779"/>
            <a:chExt cx="1703320" cy="510565"/>
          </a:xfrm>
        </p:grpSpPr>
        <p:pic>
          <p:nvPicPr>
            <p:cNvPr id="251" name="图片 250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1326" y="4443108"/>
              <a:ext cx="996185" cy="194236"/>
            </a:xfrm>
            <a:prstGeom prst="rect">
              <a:avLst/>
            </a:prstGeom>
          </p:spPr>
        </p:pic>
        <p:pic>
          <p:nvPicPr>
            <p:cNvPr id="252" name="图片 251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7759" y="4126779"/>
              <a:ext cx="1703320" cy="2589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0349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肘形连接符 49"/>
          <p:cNvCxnSpPr/>
          <p:nvPr>
            <p:custDataLst>
              <p:tags r:id="rId1"/>
            </p:custDataLst>
          </p:nvPr>
        </p:nvCxnSpPr>
        <p:spPr>
          <a:xfrm rot="10800000" flipV="1">
            <a:off x="5064013" y="1191894"/>
            <a:ext cx="1524113" cy="494821"/>
          </a:xfrm>
          <a:prstGeom prst="bentConnector3">
            <a:avLst>
              <a:gd name="adj1" fmla="val 50000"/>
            </a:avLst>
          </a:prstGeom>
          <a:ln w="12700" cmpd="sng">
            <a:solidFill>
              <a:srgbClr val="1478FE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矩形 87"/>
          <p:cNvSpPr/>
          <p:nvPr>
            <p:custDataLst>
              <p:tags r:id="rId2"/>
            </p:custDataLst>
          </p:nvPr>
        </p:nvSpPr>
        <p:spPr>
          <a:xfrm>
            <a:off x="6144261" y="4026853"/>
            <a:ext cx="794702" cy="187641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47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矩形 86"/>
          <p:cNvSpPr/>
          <p:nvPr>
            <p:custDataLst>
              <p:tags r:id="rId3"/>
            </p:custDataLst>
          </p:nvPr>
        </p:nvSpPr>
        <p:spPr>
          <a:xfrm>
            <a:off x="6146484" y="4270852"/>
            <a:ext cx="792479" cy="187641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47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"/>
            </p:custDataLst>
          </p:nvPr>
        </p:nvSpPr>
        <p:spPr>
          <a:xfrm>
            <a:off x="6077903" y="4258945"/>
            <a:ext cx="86106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保姆式技术带教</a:t>
            </a:r>
          </a:p>
        </p:txBody>
      </p:sp>
      <p:sp>
        <p:nvSpPr>
          <p:cNvPr id="86" name="矩形 85"/>
          <p:cNvSpPr/>
          <p:nvPr>
            <p:custDataLst>
              <p:tags r:id="rId5"/>
            </p:custDataLst>
          </p:nvPr>
        </p:nvSpPr>
        <p:spPr>
          <a:xfrm>
            <a:off x="6077902" y="3793493"/>
            <a:ext cx="863601" cy="187641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47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4" name="肘形连接符 73"/>
          <p:cNvCxnSpPr/>
          <p:nvPr>
            <p:custDataLst>
              <p:tags r:id="rId6"/>
            </p:custDataLst>
          </p:nvPr>
        </p:nvCxnSpPr>
        <p:spPr>
          <a:xfrm rot="10800000">
            <a:off x="4800601" y="3049271"/>
            <a:ext cx="1358265" cy="363221"/>
          </a:xfrm>
          <a:prstGeom prst="bentConnector3">
            <a:avLst>
              <a:gd name="adj1" fmla="val 83661"/>
            </a:avLst>
          </a:prstGeom>
          <a:ln w="12700" cmpd="sng">
            <a:solidFill>
              <a:srgbClr val="1478FE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肘形连接符 74"/>
          <p:cNvCxnSpPr/>
          <p:nvPr>
            <p:custDataLst>
              <p:tags r:id="rId7"/>
            </p:custDataLst>
          </p:nvPr>
        </p:nvCxnSpPr>
        <p:spPr>
          <a:xfrm flipV="1">
            <a:off x="2463691" y="2932722"/>
            <a:ext cx="2080235" cy="478949"/>
          </a:xfrm>
          <a:prstGeom prst="bentConnector3">
            <a:avLst>
              <a:gd name="adj1" fmla="val 80132"/>
            </a:avLst>
          </a:prstGeom>
          <a:ln w="12700" cmpd="sng">
            <a:solidFill>
              <a:srgbClr val="1478FE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矩形 79"/>
          <p:cNvSpPr/>
          <p:nvPr>
            <p:custDataLst>
              <p:tags r:id="rId8"/>
            </p:custDataLst>
          </p:nvPr>
        </p:nvSpPr>
        <p:spPr>
          <a:xfrm>
            <a:off x="6035993" y="1373664"/>
            <a:ext cx="823278" cy="199073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 80"/>
          <p:cNvSpPr/>
          <p:nvPr>
            <p:custDataLst>
              <p:tags r:id="rId9"/>
            </p:custDataLst>
          </p:nvPr>
        </p:nvSpPr>
        <p:spPr>
          <a:xfrm>
            <a:off x="6035992" y="1605280"/>
            <a:ext cx="824230" cy="220980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2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矩形 81"/>
          <p:cNvSpPr/>
          <p:nvPr>
            <p:custDataLst>
              <p:tags r:id="rId10"/>
            </p:custDataLst>
          </p:nvPr>
        </p:nvSpPr>
        <p:spPr>
          <a:xfrm>
            <a:off x="6035992" y="1855787"/>
            <a:ext cx="824230" cy="220980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2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矩形 82"/>
          <p:cNvSpPr/>
          <p:nvPr>
            <p:custDataLst>
              <p:tags r:id="rId11"/>
            </p:custDataLst>
          </p:nvPr>
        </p:nvSpPr>
        <p:spPr>
          <a:xfrm>
            <a:off x="6035992" y="2106295"/>
            <a:ext cx="824230" cy="220980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2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矩形 83"/>
          <p:cNvSpPr/>
          <p:nvPr>
            <p:custDataLst>
              <p:tags r:id="rId12"/>
            </p:custDataLst>
          </p:nvPr>
        </p:nvSpPr>
        <p:spPr>
          <a:xfrm>
            <a:off x="6035992" y="2356802"/>
            <a:ext cx="824230" cy="220980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2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/>
          <p:nvPr>
            <p:custDataLst>
              <p:tags r:id="rId13"/>
            </p:custDataLst>
          </p:nvPr>
        </p:nvSpPr>
        <p:spPr>
          <a:xfrm>
            <a:off x="6035992" y="2607310"/>
            <a:ext cx="824230" cy="220980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2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矩形 75"/>
          <p:cNvSpPr/>
          <p:nvPr>
            <p:custDataLst>
              <p:tags r:id="rId14"/>
            </p:custDataLst>
          </p:nvPr>
        </p:nvSpPr>
        <p:spPr>
          <a:xfrm>
            <a:off x="6115696" y="3563463"/>
            <a:ext cx="824230" cy="187641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47500" lnSpcReduction="20000"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61"/>
          <p:cNvSpPr/>
          <p:nvPr>
            <p:custDataLst>
              <p:tags r:id="rId15"/>
            </p:custDataLst>
          </p:nvPr>
        </p:nvSpPr>
        <p:spPr>
          <a:xfrm>
            <a:off x="3252654" y="4101783"/>
            <a:ext cx="788035" cy="474345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矩形 62"/>
          <p:cNvSpPr/>
          <p:nvPr>
            <p:custDataLst>
              <p:tags r:id="rId16"/>
            </p:custDataLst>
          </p:nvPr>
        </p:nvSpPr>
        <p:spPr>
          <a:xfrm>
            <a:off x="2464619" y="4101783"/>
            <a:ext cx="788035" cy="474345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 60"/>
          <p:cNvSpPr/>
          <p:nvPr>
            <p:custDataLst>
              <p:tags r:id="rId17"/>
            </p:custDataLst>
          </p:nvPr>
        </p:nvSpPr>
        <p:spPr>
          <a:xfrm>
            <a:off x="3252654" y="3627438"/>
            <a:ext cx="788035" cy="474345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矩形 59"/>
          <p:cNvSpPr/>
          <p:nvPr>
            <p:custDataLst>
              <p:tags r:id="rId18"/>
            </p:custDataLst>
          </p:nvPr>
        </p:nvSpPr>
        <p:spPr>
          <a:xfrm>
            <a:off x="2464619" y="3627438"/>
            <a:ext cx="788035" cy="474345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矩形 58"/>
          <p:cNvSpPr/>
          <p:nvPr>
            <p:custDataLst>
              <p:tags r:id="rId19"/>
            </p:custDataLst>
          </p:nvPr>
        </p:nvSpPr>
        <p:spPr>
          <a:xfrm>
            <a:off x="3340947" y="2264410"/>
            <a:ext cx="2551430" cy="867410"/>
          </a:xfrm>
          <a:prstGeom prst="rect">
            <a:avLst/>
          </a:prstGeom>
          <a:solidFill>
            <a:srgbClr val="FFFFFF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defTabSz="914400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>
            <p:custDataLst>
              <p:tags r:id="rId20"/>
            </p:custDataLst>
          </p:nvPr>
        </p:nvSpPr>
        <p:spPr>
          <a:xfrm>
            <a:off x="6110695" y="1092518"/>
            <a:ext cx="1445260" cy="228600"/>
          </a:xfrm>
          <a:prstGeom prst="rect">
            <a:avLst/>
          </a:prstGeom>
          <a:solidFill>
            <a:srgbClr val="147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1478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>
            <p:custDataLst>
              <p:tags r:id="rId21"/>
            </p:custDataLst>
          </p:nvPr>
        </p:nvSpPr>
        <p:spPr>
          <a:xfrm>
            <a:off x="6110695" y="3265592"/>
            <a:ext cx="2065565" cy="253365"/>
          </a:xfrm>
          <a:prstGeom prst="rect">
            <a:avLst/>
          </a:prstGeom>
          <a:solidFill>
            <a:srgbClr val="147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1478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>
            <p:custDataLst>
              <p:tags r:id="rId22"/>
            </p:custDataLst>
          </p:nvPr>
        </p:nvSpPr>
        <p:spPr>
          <a:xfrm>
            <a:off x="774249" y="3282315"/>
            <a:ext cx="1692910" cy="228600"/>
          </a:xfrm>
          <a:prstGeom prst="rect">
            <a:avLst/>
          </a:prstGeom>
          <a:solidFill>
            <a:srgbClr val="147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1478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>
            <p:custDataLst>
              <p:tags r:id="rId23"/>
            </p:custDataLst>
          </p:nvPr>
        </p:nvSpPr>
        <p:spPr>
          <a:xfrm>
            <a:off x="819150" y="1076325"/>
            <a:ext cx="1692910" cy="228600"/>
          </a:xfrm>
          <a:prstGeom prst="rect">
            <a:avLst/>
          </a:prstGeom>
          <a:solidFill>
            <a:srgbClr val="147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rgbClr val="1478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4"/>
            </p:custDataLst>
          </p:nvPr>
        </p:nvSpPr>
        <p:spPr>
          <a:xfrm>
            <a:off x="948511" y="165288"/>
            <a:ext cx="2723823" cy="331096"/>
          </a:xfrm>
          <a:prstGeom prst="rect">
            <a:avLst/>
          </a:prstGeom>
          <a:ln w="12700">
            <a:miter lim="400000"/>
          </a:ln>
        </p:spPr>
        <p:txBody>
          <a:bodyPr wrap="square" lIns="26787" tIns="26787" rIns="26787" bIns="26787" anchor="ctr">
            <a:spAutoFit/>
          </a:bodyPr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821055">
              <a:defRPr sz="18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 smtClean="0"/>
              <a:t>万东医疗</a:t>
            </a:r>
            <a:endParaRPr lang="zh-CN" altLang="en-US" dirty="0"/>
          </a:p>
        </p:txBody>
      </p:sp>
      <p:sp>
        <p:nvSpPr>
          <p:cNvPr id="38" name="Shape 687"/>
          <p:cNvSpPr txBox="1"/>
          <p:nvPr>
            <p:custDataLst>
              <p:tags r:id="rId25"/>
            </p:custDataLst>
          </p:nvPr>
        </p:nvSpPr>
        <p:spPr>
          <a:xfrm>
            <a:off x="948511" y="486872"/>
            <a:ext cx="1849460" cy="207985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lvl1pPr defTabSz="821055">
              <a:defRPr sz="28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中国医学影像设备行业领先企业</a:t>
            </a:r>
          </a:p>
        </p:txBody>
      </p:sp>
      <p:pic>
        <p:nvPicPr>
          <p:cNvPr id="3" name="图片 2" descr="2211519617_huge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5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3040" y="1301115"/>
            <a:ext cx="1290320" cy="633730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27"/>
            </p:custDataLst>
          </p:nvPr>
        </p:nvSpPr>
        <p:spPr>
          <a:xfrm>
            <a:off x="3332480" y="1990090"/>
            <a:ext cx="25514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noProof="0" dirty="0">
                <a:solidFill>
                  <a:srgbClr val="1578F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为各级医院提供优质影像产品及影像服务</a:t>
            </a:r>
          </a:p>
        </p:txBody>
      </p:sp>
      <p:sp>
        <p:nvSpPr>
          <p:cNvPr id="2" name="文本框 1"/>
          <p:cNvSpPr txBox="1"/>
          <p:nvPr>
            <p:custDataLst>
              <p:tags r:id="rId28"/>
            </p:custDataLst>
          </p:nvPr>
        </p:nvSpPr>
        <p:spPr>
          <a:xfrm>
            <a:off x="4246245" y="2804160"/>
            <a:ext cx="7239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联合共赢</a:t>
            </a:r>
          </a:p>
        </p:txBody>
      </p:sp>
      <p:sp>
        <p:nvSpPr>
          <p:cNvPr id="5" name="文本框 4"/>
          <p:cNvSpPr txBox="1"/>
          <p:nvPr>
            <p:custDataLst>
              <p:tags r:id="rId29"/>
            </p:custDataLst>
          </p:nvPr>
        </p:nvSpPr>
        <p:spPr>
          <a:xfrm>
            <a:off x="3328670" y="2571750"/>
            <a:ext cx="2559685" cy="203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lang="zh-CN" altLang="en-US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临床验证  </a:t>
            </a:r>
            <a:r>
              <a:rPr lang="en-US" altLang="zh-CN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 </a:t>
            </a:r>
            <a:r>
              <a:rPr lang="zh-CN" altLang="en-US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 </a:t>
            </a:r>
            <a:r>
              <a:rPr lang="en-US" altLang="zh-CN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 </a:t>
            </a:r>
            <a:r>
              <a:rPr lang="zh-CN" altLang="en-US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科研合作  </a:t>
            </a:r>
            <a:r>
              <a:rPr lang="en-US" altLang="zh-CN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 </a:t>
            </a:r>
            <a:r>
              <a:rPr lang="zh-CN" altLang="en-US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 </a:t>
            </a:r>
            <a:r>
              <a:rPr lang="en-US" altLang="zh-CN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 </a:t>
            </a:r>
            <a:r>
              <a:rPr lang="zh-CN" altLang="en-US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学习培训  </a:t>
            </a:r>
            <a:r>
              <a:rPr lang="en-US" altLang="zh-CN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  </a:t>
            </a:r>
            <a:r>
              <a:rPr lang="zh-CN" altLang="en-US" sz="900" kern="12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 共建平台</a:t>
            </a:r>
            <a:endParaRPr kumimoji="0" lang="zh-CN" altLang="en-US" sz="900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9" name="图片 8" descr="资源 1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57589" y="1480953"/>
            <a:ext cx="2496366" cy="141224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30"/>
            </p:custDataLst>
          </p:nvPr>
        </p:nvSpPr>
        <p:spPr>
          <a:xfrm>
            <a:off x="894080" y="1068070"/>
            <a:ext cx="1543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noProof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全影像链产品解决方案</a:t>
            </a:r>
          </a:p>
        </p:txBody>
      </p:sp>
      <p:sp>
        <p:nvSpPr>
          <p:cNvPr id="11" name="文本框 10"/>
          <p:cNvSpPr txBox="1"/>
          <p:nvPr>
            <p:custDataLst>
              <p:tags r:id="rId31"/>
            </p:custDataLst>
          </p:nvPr>
        </p:nvSpPr>
        <p:spPr>
          <a:xfrm>
            <a:off x="717099" y="1313180"/>
            <a:ext cx="231902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en-US" altLang="zh-CN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根据不同医疗场景，打造多种紧贴需求的产品解决方案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74249" y="2803525"/>
            <a:ext cx="2349316" cy="400685"/>
            <a:chOff x="718820" y="2803525"/>
            <a:chExt cx="2404745" cy="400685"/>
          </a:xfrm>
        </p:grpSpPr>
        <p:sp>
          <p:nvSpPr>
            <p:cNvPr id="26" name="圆角矩形 25"/>
            <p:cNvSpPr/>
            <p:nvPr>
              <p:custDataLst>
                <p:tags r:id="rId51"/>
              </p:custDataLst>
            </p:nvPr>
          </p:nvSpPr>
          <p:spPr>
            <a:xfrm>
              <a:off x="718820" y="2803526"/>
              <a:ext cx="751205" cy="309880"/>
            </a:xfrm>
            <a:prstGeom prst="roundRect">
              <a:avLst>
                <a:gd name="adj" fmla="val 3448"/>
              </a:avLst>
            </a:prstGeom>
            <a:gradFill>
              <a:gsLst>
                <a:gs pos="0">
                  <a:srgbClr val="1478FE">
                    <a:alpha val="17000"/>
                  </a:srgbClr>
                </a:gs>
                <a:gs pos="100000">
                  <a:srgbClr val="64AEFF">
                    <a:alpha val="0"/>
                  </a:srgbClr>
                </a:gs>
              </a:gsLst>
              <a:lin ang="5400000" scaled="0"/>
            </a:gradFill>
            <a:ln w="6350">
              <a:noFill/>
            </a:ln>
          </p:spPr>
          <p:txBody>
            <a:bodyPr lIns="0" tIns="0" rIns="0" bIns="0" anchor="ctr"/>
            <a:lstStyle/>
            <a:p>
              <a:pPr algn="ctr" defTabSz="85725"/>
              <a:endParaRPr lang="zh-CN" altLang="en-US" sz="1600" b="1" dirty="0">
                <a:solidFill>
                  <a:srgbClr val="1478F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7" name="圆角矩形 26"/>
            <p:cNvSpPr/>
            <p:nvPr>
              <p:custDataLst>
                <p:tags r:id="rId52"/>
              </p:custDataLst>
            </p:nvPr>
          </p:nvSpPr>
          <p:spPr>
            <a:xfrm>
              <a:off x="1545590" y="2803525"/>
              <a:ext cx="751205" cy="400685"/>
            </a:xfrm>
            <a:prstGeom prst="roundRect">
              <a:avLst>
                <a:gd name="adj" fmla="val 3448"/>
              </a:avLst>
            </a:prstGeom>
            <a:gradFill>
              <a:gsLst>
                <a:gs pos="0">
                  <a:srgbClr val="1478FE">
                    <a:alpha val="17000"/>
                  </a:srgbClr>
                </a:gs>
                <a:gs pos="100000">
                  <a:srgbClr val="64AEFF">
                    <a:alpha val="0"/>
                  </a:srgbClr>
                </a:gs>
              </a:gsLst>
              <a:lin ang="5400000" scaled="0"/>
            </a:gradFill>
            <a:ln w="6350">
              <a:noFill/>
            </a:ln>
          </p:spPr>
          <p:txBody>
            <a:bodyPr lIns="0" tIns="0" rIns="0" bIns="0" anchor="ctr"/>
            <a:lstStyle/>
            <a:p>
              <a:pPr algn="ctr" defTabSz="85725"/>
              <a:endParaRPr lang="zh-CN" altLang="en-US" sz="1600" b="1" dirty="0">
                <a:solidFill>
                  <a:srgbClr val="1478F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8" name="圆角矩形 27"/>
            <p:cNvSpPr/>
            <p:nvPr>
              <p:custDataLst>
                <p:tags r:id="rId53"/>
              </p:custDataLst>
            </p:nvPr>
          </p:nvSpPr>
          <p:spPr>
            <a:xfrm>
              <a:off x="2372360" y="2803525"/>
              <a:ext cx="751205" cy="400685"/>
            </a:xfrm>
            <a:prstGeom prst="roundRect">
              <a:avLst>
                <a:gd name="adj" fmla="val 3448"/>
              </a:avLst>
            </a:prstGeom>
            <a:gradFill>
              <a:gsLst>
                <a:gs pos="0">
                  <a:srgbClr val="1478FE">
                    <a:alpha val="17000"/>
                  </a:srgbClr>
                </a:gs>
                <a:gs pos="100000">
                  <a:srgbClr val="64AEFF">
                    <a:alpha val="0"/>
                  </a:srgbClr>
                </a:gs>
              </a:gsLst>
              <a:lin ang="5400000" scaled="0"/>
            </a:gradFill>
            <a:ln w="6350">
              <a:noFill/>
            </a:ln>
          </p:spPr>
          <p:txBody>
            <a:bodyPr lIns="0" tIns="0" rIns="0" bIns="0" anchor="ctr"/>
            <a:lstStyle/>
            <a:p>
              <a:pPr algn="ctr" defTabSz="85725"/>
              <a:endParaRPr lang="zh-CN" altLang="en-US" sz="1600" b="1" dirty="0">
                <a:solidFill>
                  <a:srgbClr val="1478F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54"/>
              </p:custDataLst>
            </p:nvPr>
          </p:nvSpPr>
          <p:spPr>
            <a:xfrm>
              <a:off x="780415" y="2804160"/>
              <a:ext cx="596900" cy="352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700" kern="1200" cap="none" spc="0" normalizeH="0" baseline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DR/RF</a:t>
              </a:r>
            </a:p>
            <a:p>
              <a:pPr algn="ctr" defTabSz="4572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sz="1000" b="1" kern="1200" cap="none" spc="0" normalizeH="0" baseline="0" noProof="0" dirty="0">
                  <a:solidFill>
                    <a:srgbClr val="1578FE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TOP1</a:t>
              </a:r>
            </a:p>
          </p:txBody>
        </p:sp>
        <p:sp>
          <p:nvSpPr>
            <p:cNvPr id="14" name="文本框 13"/>
            <p:cNvSpPr txBox="1"/>
            <p:nvPr>
              <p:custDataLst>
                <p:tags r:id="rId55"/>
              </p:custDataLst>
            </p:nvPr>
          </p:nvSpPr>
          <p:spPr>
            <a:xfrm>
              <a:off x="1595755" y="2804160"/>
              <a:ext cx="596900" cy="352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700" kern="1200" cap="none" spc="0" normalizeH="0" baseline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MRI</a:t>
              </a:r>
            </a:p>
            <a:p>
              <a:pPr algn="ctr" defTabSz="4572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sz="1000" b="1" kern="1200" cap="none" spc="0" normalizeH="0" baseline="0" noProof="0" dirty="0">
                  <a:solidFill>
                    <a:srgbClr val="1578FE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TOP</a:t>
              </a:r>
              <a:r>
                <a:rPr kumimoji="0" lang="en-US" altLang="zh-CN" sz="1000" b="1" kern="1200" cap="none" spc="0" normalizeH="0" baseline="0" noProof="0" dirty="0">
                  <a:solidFill>
                    <a:srgbClr val="1578FE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2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56"/>
              </p:custDataLst>
            </p:nvPr>
          </p:nvSpPr>
          <p:spPr>
            <a:xfrm>
              <a:off x="2449195" y="2804160"/>
              <a:ext cx="596900" cy="352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700" kern="1200" cap="none" spc="0" normalizeH="0" baseline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DSA</a:t>
              </a:r>
            </a:p>
            <a:p>
              <a:pPr algn="ctr" defTabSz="4572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sz="1000" b="1" kern="1200" cap="none" spc="0" normalizeH="0" baseline="0" noProof="0" dirty="0">
                  <a:solidFill>
                    <a:srgbClr val="1578FE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rPr>
                <a:t>领先</a:t>
              </a:r>
            </a:p>
          </p:txBody>
        </p:sp>
      </p:grpSp>
      <p:cxnSp>
        <p:nvCxnSpPr>
          <p:cNvPr id="19" name="肘形连接符 18"/>
          <p:cNvCxnSpPr>
            <a:endCxn id="10" idx="3"/>
          </p:cNvCxnSpPr>
          <p:nvPr>
            <p:custDataLst>
              <p:tags r:id="rId32"/>
            </p:custDataLst>
          </p:nvPr>
        </p:nvCxnSpPr>
        <p:spPr>
          <a:xfrm rot="10800000">
            <a:off x="2437130" y="1190625"/>
            <a:ext cx="1565910" cy="511175"/>
          </a:xfrm>
          <a:prstGeom prst="bentConnector3">
            <a:avLst>
              <a:gd name="adj1" fmla="val 50000"/>
            </a:avLst>
          </a:prstGeom>
          <a:ln w="12700" cmpd="sng">
            <a:solidFill>
              <a:srgbClr val="1478FE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33"/>
            </p:custDataLst>
          </p:nvPr>
        </p:nvSpPr>
        <p:spPr>
          <a:xfrm>
            <a:off x="6278970" y="1084263"/>
            <a:ext cx="11087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noProof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智能影像云服务</a:t>
            </a:r>
          </a:p>
        </p:txBody>
      </p:sp>
      <p:pic>
        <p:nvPicPr>
          <p:cNvPr id="23" name="图片 22" descr="资源 2"/>
          <p:cNvPicPr>
            <a:picLocks noChangeAspect="1"/>
          </p:cNvPicPr>
          <p:nvPr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1995" y="1417006"/>
            <a:ext cx="565785" cy="269875"/>
          </a:xfrm>
          <a:prstGeom prst="rect">
            <a:avLst/>
          </a:prstGeom>
        </p:spPr>
      </p:pic>
      <p:pic>
        <p:nvPicPr>
          <p:cNvPr id="24" name="图片 23" descr="资源 3"/>
          <p:cNvPicPr>
            <a:picLocks noChangeAspect="1"/>
          </p:cNvPicPr>
          <p:nvPr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8491" y="1787844"/>
            <a:ext cx="1615440" cy="90805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4"/>
            </p:custDataLst>
          </p:nvPr>
        </p:nvSpPr>
        <p:spPr>
          <a:xfrm>
            <a:off x="1020629" y="3282315"/>
            <a:ext cx="11887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noProof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智能服务系统</a:t>
            </a:r>
          </a:p>
        </p:txBody>
      </p:sp>
      <p:sp>
        <p:nvSpPr>
          <p:cNvPr id="31" name="文本框 30"/>
          <p:cNvSpPr txBox="1"/>
          <p:nvPr>
            <p:custDataLst>
              <p:tags r:id="rId35"/>
            </p:custDataLst>
          </p:nvPr>
        </p:nvSpPr>
        <p:spPr>
          <a:xfrm>
            <a:off x="2464619" y="3689033"/>
            <a:ext cx="75057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noProof="0" dirty="0">
                <a:solidFill>
                  <a:srgbClr val="1578F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300</a:t>
            </a: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多名</a:t>
            </a:r>
          </a:p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高级工程师</a:t>
            </a:r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2464619" y="4167823"/>
            <a:ext cx="75057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noProof="0" dirty="0">
                <a:solidFill>
                  <a:srgbClr val="1578F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90</a:t>
            </a: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余家</a:t>
            </a:r>
          </a:p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特约维修站</a:t>
            </a:r>
          </a:p>
        </p:txBody>
      </p:sp>
      <p:sp>
        <p:nvSpPr>
          <p:cNvPr id="33" name="文本框 32"/>
          <p:cNvSpPr txBox="1"/>
          <p:nvPr>
            <p:custDataLst>
              <p:tags r:id="rId37"/>
            </p:custDataLst>
          </p:nvPr>
        </p:nvSpPr>
        <p:spPr>
          <a:xfrm>
            <a:off x="3252654" y="3689033"/>
            <a:ext cx="82740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覆盖全国</a:t>
            </a:r>
            <a:r>
              <a:rPr kumimoji="0" lang="zh-CN" altLang="en-US" sz="1000" b="1" kern="1200" cap="none" spc="0" normalizeH="0" baseline="0" noProof="0" dirty="0" smtClean="0">
                <a:solidFill>
                  <a:srgbClr val="1578F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31</a:t>
            </a: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个</a:t>
            </a:r>
          </a:p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省市自治区</a:t>
            </a:r>
          </a:p>
        </p:txBody>
      </p:sp>
      <p:sp>
        <p:nvSpPr>
          <p:cNvPr id="34" name="文本框 33"/>
          <p:cNvSpPr txBox="1"/>
          <p:nvPr>
            <p:custDataLst>
              <p:tags r:id="rId38"/>
            </p:custDataLst>
          </p:nvPr>
        </p:nvSpPr>
        <p:spPr>
          <a:xfrm>
            <a:off x="3290119" y="4167823"/>
            <a:ext cx="75057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noProof="0" dirty="0">
                <a:solidFill>
                  <a:srgbClr val="1578F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7x24</a:t>
            </a: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小时</a:t>
            </a:r>
          </a:p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全天候服务</a:t>
            </a:r>
          </a:p>
        </p:txBody>
      </p:sp>
      <p:sp>
        <p:nvSpPr>
          <p:cNvPr id="36" name="文本框 35"/>
          <p:cNvSpPr txBox="1"/>
          <p:nvPr>
            <p:custDataLst>
              <p:tags r:id="rId39"/>
            </p:custDataLst>
          </p:nvPr>
        </p:nvSpPr>
        <p:spPr>
          <a:xfrm>
            <a:off x="6147797" y="3274059"/>
            <a:ext cx="1991360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1000" b="1" kern="1200" cap="none" spc="0" normalizeH="0" baseline="0" noProof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基层医院介入学科建设赋能计划</a:t>
            </a:r>
          </a:p>
        </p:txBody>
      </p:sp>
      <p:sp>
        <p:nvSpPr>
          <p:cNvPr id="40" name="文本框 39"/>
          <p:cNvSpPr txBox="1"/>
          <p:nvPr>
            <p:custDataLst>
              <p:tags r:id="rId40"/>
            </p:custDataLst>
          </p:nvPr>
        </p:nvSpPr>
        <p:spPr>
          <a:xfrm>
            <a:off x="5906452" y="4517385"/>
            <a:ext cx="289687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en-US" altLang="zh-CN" sz="700" kern="1200" cap="none" spc="0" normalizeH="0" baseline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助力基层医院短时间内建立综合介入导管室，</a:t>
            </a:r>
            <a:r>
              <a:rPr kumimoji="0" lang="en-US" altLang="zh-CN" sz="700" kern="1200" cap="none" spc="0" normalizeH="0" baseline="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提升医院诊治能力</a:t>
            </a:r>
            <a:endParaRPr kumimoji="0" lang="en-US" altLang="zh-CN" sz="700" kern="1200" cap="none" spc="0" normalizeH="0" baseline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41"/>
            </p:custDataLst>
          </p:nvPr>
        </p:nvSpPr>
        <p:spPr>
          <a:xfrm>
            <a:off x="6123554" y="1373823"/>
            <a:ext cx="66675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影像中心</a:t>
            </a:r>
          </a:p>
        </p:txBody>
      </p:sp>
      <p:sp>
        <p:nvSpPr>
          <p:cNvPr id="43" name="文本框 42"/>
          <p:cNvSpPr txBox="1"/>
          <p:nvPr>
            <p:custDataLst>
              <p:tags r:id="rId42"/>
            </p:custDataLst>
          </p:nvPr>
        </p:nvSpPr>
        <p:spPr>
          <a:xfrm>
            <a:off x="6192838" y="1616393"/>
            <a:ext cx="51308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云胶片</a:t>
            </a:r>
          </a:p>
        </p:txBody>
      </p:sp>
      <p:sp>
        <p:nvSpPr>
          <p:cNvPr id="44" name="文本框 43"/>
          <p:cNvSpPr txBox="1"/>
          <p:nvPr>
            <p:custDataLst>
              <p:tags r:id="rId43"/>
            </p:custDataLst>
          </p:nvPr>
        </p:nvSpPr>
        <p:spPr>
          <a:xfrm>
            <a:off x="6192838" y="1866900"/>
            <a:ext cx="51308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医共体</a:t>
            </a:r>
          </a:p>
        </p:txBody>
      </p:sp>
      <p:sp>
        <p:nvSpPr>
          <p:cNvPr id="45" name="文本框 44"/>
          <p:cNvSpPr txBox="1"/>
          <p:nvPr>
            <p:custDataLst>
              <p:tags r:id="rId44"/>
            </p:custDataLst>
          </p:nvPr>
        </p:nvSpPr>
        <p:spPr>
          <a:xfrm>
            <a:off x="6035993" y="2117408"/>
            <a:ext cx="82677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多学科联合会诊</a:t>
            </a:r>
          </a:p>
        </p:txBody>
      </p:sp>
      <p:sp>
        <p:nvSpPr>
          <p:cNvPr id="46" name="文本框 45"/>
          <p:cNvSpPr txBox="1"/>
          <p:nvPr>
            <p:custDataLst>
              <p:tags r:id="rId45"/>
            </p:custDataLst>
          </p:nvPr>
        </p:nvSpPr>
        <p:spPr>
          <a:xfrm>
            <a:off x="6160453" y="2367915"/>
            <a:ext cx="57785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智慧影像</a:t>
            </a:r>
          </a:p>
        </p:txBody>
      </p:sp>
      <p:sp>
        <p:nvSpPr>
          <p:cNvPr id="47" name="文本框 46"/>
          <p:cNvSpPr txBox="1"/>
          <p:nvPr>
            <p:custDataLst>
              <p:tags r:id="rId46"/>
            </p:custDataLst>
          </p:nvPr>
        </p:nvSpPr>
        <p:spPr>
          <a:xfrm>
            <a:off x="6160453" y="2618423"/>
            <a:ext cx="57785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智慧数据</a:t>
            </a:r>
          </a:p>
        </p:txBody>
      </p:sp>
      <p:sp>
        <p:nvSpPr>
          <p:cNvPr id="48" name="文本框 47"/>
          <p:cNvSpPr txBox="1"/>
          <p:nvPr>
            <p:custDataLst>
              <p:tags r:id="rId47"/>
            </p:custDataLst>
          </p:nvPr>
        </p:nvSpPr>
        <p:spPr>
          <a:xfrm>
            <a:off x="6970714" y="2696029"/>
            <a:ext cx="1872615" cy="2165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defTabSz="457200" eaLnBrk="1" hangingPunct="1">
              <a:lnSpc>
                <a:spcPts val="1000"/>
              </a:lnSpc>
              <a:buClrTx/>
              <a:buSzTx/>
              <a:buFontTx/>
              <a:buNone/>
              <a:defRPr/>
            </a:pPr>
            <a:r>
              <a:rPr kumimoji="0" lang="en-US" altLang="zh-CN" sz="700" kern="1200" cap="none" spc="0" normalizeH="0" baseline="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实现优质医疗影像资源云端协同共享</a:t>
            </a:r>
            <a:endParaRPr kumimoji="0" lang="en-US" altLang="zh-CN" sz="700" kern="1200" cap="none" spc="0" normalizeH="0" baseline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49" name="图片 48" descr="大图1"/>
          <p:cNvPicPr>
            <a:picLocks noChangeAspect="1"/>
          </p:cNvPicPr>
          <p:nvPr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116" y="3532506"/>
            <a:ext cx="1503045" cy="882015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48"/>
            </p:custDataLst>
          </p:nvPr>
        </p:nvSpPr>
        <p:spPr>
          <a:xfrm>
            <a:off x="6154102" y="3796346"/>
            <a:ext cx="785823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先进</a:t>
            </a:r>
            <a:r>
              <a:rPr kumimoji="0" lang="en-US" altLang="zh-CN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DSA</a:t>
            </a:r>
            <a:r>
              <a:rPr kumimoji="0" lang="zh-CN" altLang="en-US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设备</a:t>
            </a:r>
            <a:r>
              <a:rPr kumimoji="0" lang="en-US" altLang="zh-CN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54" name="文本框 53"/>
          <p:cNvSpPr txBox="1"/>
          <p:nvPr>
            <p:custDataLst>
              <p:tags r:id="rId49"/>
            </p:custDataLst>
          </p:nvPr>
        </p:nvSpPr>
        <p:spPr>
          <a:xfrm>
            <a:off x="6077903" y="4019390"/>
            <a:ext cx="84328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精细化科室管理</a:t>
            </a:r>
          </a:p>
        </p:txBody>
      </p:sp>
      <p:sp>
        <p:nvSpPr>
          <p:cNvPr id="55" name="文本框 54"/>
          <p:cNvSpPr txBox="1"/>
          <p:nvPr>
            <p:custDataLst>
              <p:tags r:id="rId50"/>
            </p:custDataLst>
          </p:nvPr>
        </p:nvSpPr>
        <p:spPr>
          <a:xfrm>
            <a:off x="6080444" y="3556796"/>
            <a:ext cx="86106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hangingPunct="1">
              <a:buClrTx/>
              <a:buSzTx/>
              <a:buFontTx/>
              <a:buNone/>
              <a:defRPr/>
            </a:pPr>
            <a:r>
              <a:rPr kumimoji="0" lang="zh-CN" altLang="en-US" sz="700" kern="1200" cap="none" spc="0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成熟的运营管理</a:t>
            </a:r>
          </a:p>
        </p:txBody>
      </p:sp>
      <p:pic>
        <p:nvPicPr>
          <p:cNvPr id="56" name="图片 55" descr="acff382f2656c602a0fb015805d62be"/>
          <p:cNvPicPr>
            <a:picLocks noChangeAspect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249" y="3606483"/>
            <a:ext cx="1690370" cy="1010920"/>
          </a:xfrm>
          <a:prstGeom prst="rect">
            <a:avLst/>
          </a:prstGeom>
        </p:spPr>
      </p:pic>
      <p:pic>
        <p:nvPicPr>
          <p:cNvPr id="69" name="图片 68" descr="资源 5"/>
          <p:cNvPicPr>
            <a:picLocks noChangeAspect="1"/>
          </p:cNvPicPr>
          <p:nvPr/>
        </p:nvPicPr>
        <p:blipFill>
          <a:blip r:embed="rId6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4415" y="2350770"/>
            <a:ext cx="232410" cy="232410"/>
          </a:xfrm>
          <a:prstGeom prst="rect">
            <a:avLst/>
          </a:prstGeom>
        </p:spPr>
      </p:pic>
      <p:pic>
        <p:nvPicPr>
          <p:cNvPr id="71" name="图片 70" descr="资源 6"/>
          <p:cNvPicPr>
            <a:picLocks noChangeAspect="1"/>
          </p:cNvPicPr>
          <p:nvPr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1310" y="2334260"/>
            <a:ext cx="246380" cy="265430"/>
          </a:xfrm>
          <a:prstGeom prst="rect">
            <a:avLst/>
          </a:prstGeom>
        </p:spPr>
      </p:pic>
      <p:pic>
        <p:nvPicPr>
          <p:cNvPr id="72" name="图片 71" descr="资源 7"/>
          <p:cNvPicPr>
            <a:picLocks noChangeAspect="1"/>
          </p:cNvPicPr>
          <p:nvPr/>
        </p:nvPicPr>
        <p:blipFill>
          <a:blip r:embed="rId6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3380" y="2360295"/>
            <a:ext cx="231140" cy="213995"/>
          </a:xfrm>
          <a:prstGeom prst="rect">
            <a:avLst/>
          </a:prstGeom>
        </p:spPr>
      </p:pic>
      <p:pic>
        <p:nvPicPr>
          <p:cNvPr id="73" name="图片 72" descr="资源 8"/>
          <p:cNvPicPr>
            <a:picLocks noChangeAspect="1"/>
          </p:cNvPicPr>
          <p:nvPr/>
        </p:nvPicPr>
        <p:blipFill>
          <a:blip r:embed="rId6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0600" y="2351405"/>
            <a:ext cx="237490" cy="23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6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文本框 35846"/>
          <p:cNvSpPr txBox="1">
            <a:spLocks noChangeArrowheads="1"/>
          </p:cNvSpPr>
          <p:nvPr/>
        </p:nvSpPr>
        <p:spPr bwMode="auto">
          <a:xfrm>
            <a:off x="1008690" y="446329"/>
            <a:ext cx="6517403" cy="206188"/>
          </a:xfrm>
          <a:prstGeom prst="rect">
            <a:avLst/>
          </a:prstGeom>
          <a:ln w="25400">
            <a:miter lim="400000"/>
          </a:ln>
        </p:spPr>
        <p:txBody>
          <a:bodyPr wrap="none" lIns="26786" tIns="26786" rIns="26786" bIns="26786" anchor="ctr">
            <a:spAutoFit/>
          </a:bodyPr>
          <a:lstStyle>
            <a:defPPr>
              <a:defRPr lang="zh-CN"/>
            </a:defPPr>
            <a:lvl1pPr defTabSz="821690">
              <a:defRPr sz="1100">
                <a:solidFill>
                  <a:srgbClr val="2323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just" defTabSz="3429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tx1"/>
                </a:solidFill>
                <a:cs typeface="Midea Type" panose="02000500000000000000" pitchFamily="2" charset="-122"/>
              </a:rPr>
              <a:t>安得智联是由美的集团孵化的一体化、数智化供应链物流解决方案提供商，致力于成为最值得信赖的供应链解决方案合作伙伴。</a:t>
            </a:r>
          </a:p>
        </p:txBody>
      </p:sp>
      <p:sp>
        <p:nvSpPr>
          <p:cNvPr id="123" name="矩形"/>
          <p:cNvSpPr/>
          <p:nvPr/>
        </p:nvSpPr>
        <p:spPr>
          <a:xfrm>
            <a:off x="924500" y="222810"/>
            <a:ext cx="10800" cy="432000"/>
          </a:xfrm>
          <a:prstGeom prst="rect">
            <a:avLst/>
          </a:prstGeom>
          <a:solidFill>
            <a:srgbClr val="1478F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499">
              <a:latin typeface="微软雅黑" panose="020B0503020204020204" pitchFamily="34" charset="-122"/>
              <a:ea typeface="微软雅黑" panose="020B0503020204020204" pitchFamily="34" charset="-122"/>
              <a:cs typeface="美的无界联动体" panose="02000500000000000000" pitchFamily="50" charset="-122"/>
            </a:endParaRPr>
          </a:p>
        </p:txBody>
      </p:sp>
      <p:pic>
        <p:nvPicPr>
          <p:cNvPr id="124" name="图像" descr="图像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29977" y="228602"/>
            <a:ext cx="516998" cy="6953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5" name="文本框 35846"/>
          <p:cNvSpPr txBox="1">
            <a:spLocks noChangeArrowheads="1"/>
          </p:cNvSpPr>
          <p:nvPr/>
        </p:nvSpPr>
        <p:spPr bwMode="auto">
          <a:xfrm>
            <a:off x="984867" y="155619"/>
            <a:ext cx="2163649" cy="331096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defPPr>
              <a:defRPr lang="zh-CN"/>
            </a:defPPr>
            <a:lvl1pPr defTabSz="821690">
              <a:defRPr sz="1800">
                <a:solidFill>
                  <a:srgbClr val="14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业务板块 </a:t>
            </a:r>
            <a:r>
              <a:rPr lang="en-US" altLang="zh-CN" dirty="0"/>
              <a:t>– </a:t>
            </a:r>
            <a:r>
              <a:rPr lang="zh-CN" altLang="en-US" dirty="0">
                <a:cs typeface="美的无界联动体" panose="02000500000000000000" pitchFamily="50" charset="-122"/>
                <a:sym typeface="微软雅黑" panose="020B0503020204020204" pitchFamily="34" charset="-122"/>
              </a:rPr>
              <a:t>安得智联</a:t>
            </a:r>
            <a:endParaRPr lang="zh-CN" altLang="en-US" dirty="0">
              <a:cs typeface="美的无界联动体" panose="02000500000000000000" pitchFamily="50" charset="-122"/>
            </a:endParaRPr>
          </a:p>
        </p:txBody>
      </p:sp>
      <p:pic>
        <p:nvPicPr>
          <p:cNvPr id="126" name="图片 12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76131" y="249588"/>
            <a:ext cx="1021549" cy="359434"/>
          </a:xfrm>
          <a:prstGeom prst="rect">
            <a:avLst/>
          </a:prstGeom>
        </p:spPr>
      </p:pic>
      <p:sp>
        <p:nvSpPr>
          <p:cNvPr id="860" name="圆角矩形 859"/>
          <p:cNvSpPr/>
          <p:nvPr/>
        </p:nvSpPr>
        <p:spPr>
          <a:xfrm>
            <a:off x="391886" y="1058314"/>
            <a:ext cx="8400862" cy="3344120"/>
          </a:xfrm>
          <a:prstGeom prst="roundRect">
            <a:avLst>
              <a:gd name="adj" fmla="val 276"/>
            </a:avLst>
          </a:prstGeom>
          <a:noFill/>
          <a:ln w="6350" cap="flat">
            <a:solidFill>
              <a:srgbClr val="1178FE"/>
            </a:solidFill>
            <a:prstDash val="solid"/>
            <a:miter lim="400000"/>
          </a:ln>
        </p:spPr>
        <p:txBody>
          <a:bodyPr wrap="square" lIns="0" tIns="0" rIns="0" bIns="0" numCol="1" rtlCol="0" anchor="ctr">
            <a:noAutofit/>
          </a:bodyPr>
          <a:lstStyle/>
          <a:p>
            <a:pPr defTabSz="144304"/>
            <a:endParaRPr kumimoji="1" lang="zh-CN" altLang="en-US" sz="375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61" name="圆角矩形 860"/>
          <p:cNvSpPr/>
          <p:nvPr/>
        </p:nvSpPr>
        <p:spPr>
          <a:xfrm>
            <a:off x="388068" y="1045058"/>
            <a:ext cx="8404679" cy="256396"/>
          </a:xfrm>
          <a:prstGeom prst="roundRect">
            <a:avLst>
              <a:gd name="adj" fmla="val 7733"/>
            </a:avLst>
          </a:prstGeom>
          <a:solidFill>
            <a:srgbClr val="1178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US" altLang="zh-CN" sz="1001" b="1" noProof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rPr>
              <a:t>1+3</a:t>
            </a:r>
            <a:r>
              <a:rPr lang="zh-CN" altLang="en-US" sz="1001" b="1" noProof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rPr>
              <a:t>供应链物流</a:t>
            </a:r>
            <a:r>
              <a:rPr lang="zh-CN" altLang="en-US" sz="1001" b="1" noProof="1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rPr>
              <a:t>模型</a:t>
            </a:r>
            <a:endParaRPr lang="en-GB" sz="1001" b="1" noProof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dea Type" panose="02000500000000000000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47552" y="3081230"/>
            <a:ext cx="8334794" cy="1275248"/>
            <a:chOff x="494553" y="3156943"/>
            <a:chExt cx="8259154" cy="1307107"/>
          </a:xfrm>
        </p:grpSpPr>
        <p:grpSp>
          <p:nvGrpSpPr>
            <p:cNvPr id="302" name="组合 301"/>
            <p:cNvGrpSpPr/>
            <p:nvPr/>
          </p:nvGrpSpPr>
          <p:grpSpPr>
            <a:xfrm>
              <a:off x="496688" y="3156943"/>
              <a:ext cx="8202518" cy="1088920"/>
              <a:chOff x="373817" y="2844508"/>
              <a:chExt cx="3827265" cy="1233131"/>
            </a:xfrm>
            <a:solidFill>
              <a:srgbClr val="1178FE">
                <a:alpha val="5000"/>
              </a:srgbClr>
            </a:solidFill>
          </p:grpSpPr>
          <p:sp>
            <p:nvSpPr>
              <p:cNvPr id="265" name="圆角矩形 264"/>
              <p:cNvSpPr/>
              <p:nvPr/>
            </p:nvSpPr>
            <p:spPr>
              <a:xfrm>
                <a:off x="373817" y="2844508"/>
                <a:ext cx="1235528" cy="1233131"/>
              </a:xfrm>
              <a:prstGeom prst="roundRect">
                <a:avLst>
                  <a:gd name="adj" fmla="val 871"/>
                </a:avLst>
              </a:prstGeom>
              <a:grpFill/>
              <a:ln w="6350">
                <a:solidFill>
                  <a:srgbClr val="1178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>
                  <a:defRPr/>
                </a:pPr>
                <a:endParaRPr kumimoji="1" lang="zh-CN" altLang="en-US" sz="18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圆角矩形 299"/>
              <p:cNvSpPr/>
              <p:nvPr/>
            </p:nvSpPr>
            <p:spPr>
              <a:xfrm>
                <a:off x="1669685" y="2844508"/>
                <a:ext cx="1235528" cy="1233131"/>
              </a:xfrm>
              <a:prstGeom prst="roundRect">
                <a:avLst>
                  <a:gd name="adj" fmla="val 871"/>
                </a:avLst>
              </a:prstGeom>
              <a:grpFill/>
              <a:ln w="6350">
                <a:solidFill>
                  <a:srgbClr val="1178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>
                  <a:defRPr/>
                </a:pPr>
                <a:endParaRPr kumimoji="1" lang="zh-CN" altLang="en-US" sz="18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1" name="圆角矩形 300"/>
              <p:cNvSpPr/>
              <p:nvPr/>
            </p:nvSpPr>
            <p:spPr>
              <a:xfrm>
                <a:off x="2965554" y="2844508"/>
                <a:ext cx="1235528" cy="1233131"/>
              </a:xfrm>
              <a:prstGeom prst="roundRect">
                <a:avLst>
                  <a:gd name="adj" fmla="val 871"/>
                </a:avLst>
              </a:prstGeom>
              <a:grpFill/>
              <a:ln w="6350">
                <a:solidFill>
                  <a:srgbClr val="1178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>
                  <a:defRPr/>
                </a:pPr>
                <a:endParaRPr kumimoji="1" lang="zh-CN" altLang="en-US" sz="18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494553" y="4206459"/>
              <a:ext cx="2652230" cy="252503"/>
            </a:xfrm>
            <a:prstGeom prst="rect">
              <a:avLst/>
            </a:prstGeom>
            <a:solidFill>
              <a:srgbClr val="1178FE"/>
            </a:solidFill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zh-CN" altLang="en-US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灯塔工厂</a:t>
              </a:r>
              <a:r>
                <a:rPr lang="en-US" altLang="zh-CN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+</a:t>
              </a:r>
              <a:r>
                <a:rPr lang="zh-CN" altLang="en-US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运包一体</a:t>
              </a:r>
              <a:endParaRPr lang="en-US" sz="1001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046973" y="4202837"/>
              <a:ext cx="2654370" cy="252503"/>
            </a:xfrm>
            <a:prstGeom prst="rect">
              <a:avLst/>
            </a:prstGeom>
            <a:solidFill>
              <a:srgbClr val="1178FE"/>
            </a:solidFill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zh-CN" altLang="en-US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用户直达</a:t>
              </a:r>
              <a:r>
                <a:rPr lang="en-US" altLang="zh-CN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+</a:t>
              </a:r>
              <a:r>
                <a:rPr lang="zh-CN" altLang="en-US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一工多能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4231160" y="3318825"/>
              <a:ext cx="1604543" cy="2602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7200">
                <a:defRPr/>
              </a:pPr>
              <a:r>
                <a:rPr lang="zh-CN" altLang="en-US" sz="1050" b="1" dirty="0">
                  <a:solidFill>
                    <a:srgbClr val="1178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一盘货统仓统配</a:t>
              </a:r>
              <a:endParaRPr lang="en-US" altLang="zh-CN" sz="1050" b="1" dirty="0">
                <a:solidFill>
                  <a:srgbClr val="11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708358" y="3322269"/>
              <a:ext cx="716712" cy="2602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457200">
                <a:defRPr/>
              </a:pPr>
              <a:r>
                <a:rPr lang="zh-CN" altLang="en-US" sz="1050" b="1" dirty="0">
                  <a:solidFill>
                    <a:srgbClr val="1178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生产物流</a:t>
              </a:r>
              <a:endParaRPr lang="en-US" altLang="zh-CN" sz="1050" b="1" dirty="0">
                <a:solidFill>
                  <a:srgbClr val="11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935229" y="3322269"/>
              <a:ext cx="1818478" cy="2602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7200">
                <a:defRPr/>
              </a:pPr>
              <a:r>
                <a:rPr lang="zh-CN" altLang="en-US" sz="1050" b="1" dirty="0">
                  <a:solidFill>
                    <a:srgbClr val="1178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最后一公里送装一体</a:t>
              </a:r>
              <a:endParaRPr lang="en-US" altLang="zh-CN" sz="1050" b="1" dirty="0">
                <a:solidFill>
                  <a:srgbClr val="11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71830" y="4211547"/>
              <a:ext cx="2650095" cy="252503"/>
            </a:xfrm>
            <a:prstGeom prst="rect">
              <a:avLst/>
            </a:prstGeom>
            <a:solidFill>
              <a:srgbClr val="1178FE"/>
            </a:solidFill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zh-CN" altLang="en-US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少一跳 </a:t>
              </a:r>
              <a:r>
                <a:rPr lang="en-US" altLang="zh-CN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+ </a:t>
              </a:r>
              <a:r>
                <a:rPr lang="zh-CN" altLang="en-US" sz="1001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新增长</a:t>
              </a:r>
              <a:endParaRPr lang="en-US" sz="1001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Arial" panose="020B0604020202020204" pitchFamily="34" charset="0"/>
              </a:endParaRPr>
            </a:p>
          </p:txBody>
        </p:sp>
        <p:grpSp>
          <p:nvGrpSpPr>
            <p:cNvPr id="21" name="图形 21"/>
            <p:cNvGrpSpPr/>
            <p:nvPr/>
          </p:nvGrpSpPr>
          <p:grpSpPr>
            <a:xfrm>
              <a:off x="1280304" y="3287823"/>
              <a:ext cx="273535" cy="328966"/>
              <a:chOff x="1207389" y="1375393"/>
              <a:chExt cx="273535" cy="328966"/>
            </a:xfrm>
            <a:solidFill>
              <a:srgbClr val="1178FE"/>
            </a:solidFill>
          </p:grpSpPr>
          <p:sp>
            <p:nvSpPr>
              <p:cNvPr id="23" name="任意形状 22"/>
              <p:cNvSpPr/>
              <p:nvPr/>
            </p:nvSpPr>
            <p:spPr>
              <a:xfrm>
                <a:off x="1284324" y="1586989"/>
                <a:ext cx="69778" cy="69944"/>
              </a:xfrm>
              <a:custGeom>
                <a:avLst/>
                <a:gdLst>
                  <a:gd name="connsiteX0" fmla="*/ 34979 w 69778"/>
                  <a:gd name="connsiteY0" fmla="*/ 1 h 69944"/>
                  <a:gd name="connsiteX1" fmla="*/ 2677 w 69778"/>
                  <a:gd name="connsiteY1" fmla="*/ 21515 h 69944"/>
                  <a:gd name="connsiteX2" fmla="*/ 10240 w 69778"/>
                  <a:gd name="connsiteY2" fmla="*/ 59673 h 69944"/>
                  <a:gd name="connsiteX3" fmla="*/ 48312 w 69778"/>
                  <a:gd name="connsiteY3" fmla="*/ 67252 h 69944"/>
                  <a:gd name="connsiteX4" fmla="*/ 69778 w 69778"/>
                  <a:gd name="connsiteY4" fmla="*/ 34865 h 69944"/>
                  <a:gd name="connsiteX5" fmla="*/ 34992 w 69778"/>
                  <a:gd name="connsiteY5" fmla="*/ 1 h 69944"/>
                  <a:gd name="connsiteX6" fmla="*/ 42691 w 69778"/>
                  <a:gd name="connsiteY6" fmla="*/ 53726 h 69944"/>
                  <a:gd name="connsiteX7" fmla="*/ 20559 w 69778"/>
                  <a:gd name="connsiteY7" fmla="*/ 49317 h 69944"/>
                  <a:gd name="connsiteX8" fmla="*/ 16160 w 69778"/>
                  <a:gd name="connsiteY8" fmla="*/ 27136 h 69944"/>
                  <a:gd name="connsiteX9" fmla="*/ 34938 w 69778"/>
                  <a:gd name="connsiteY9" fmla="*/ 14630 h 69944"/>
                  <a:gd name="connsiteX10" fmla="*/ 55155 w 69778"/>
                  <a:gd name="connsiteY10" fmla="*/ 34892 h 69944"/>
                  <a:gd name="connsiteX11" fmla="*/ 42677 w 69778"/>
                  <a:gd name="connsiteY11" fmla="*/ 53712 h 69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9778" h="69944">
                    <a:moveTo>
                      <a:pt x="34979" y="1"/>
                    </a:moveTo>
                    <a:cubicBezTo>
                      <a:pt x="20844" y="-108"/>
                      <a:pt x="8054" y="8411"/>
                      <a:pt x="2677" y="21515"/>
                    </a:cubicBezTo>
                    <a:cubicBezTo>
                      <a:pt x="-2754" y="34593"/>
                      <a:pt x="233" y="49671"/>
                      <a:pt x="10240" y="59673"/>
                    </a:cubicBezTo>
                    <a:cubicBezTo>
                      <a:pt x="20179" y="69743"/>
                      <a:pt x="35209" y="72695"/>
                      <a:pt x="48312" y="67252"/>
                    </a:cubicBezTo>
                    <a:cubicBezTo>
                      <a:pt x="61319" y="61782"/>
                      <a:pt x="69778" y="49017"/>
                      <a:pt x="69778" y="34865"/>
                    </a:cubicBezTo>
                    <a:cubicBezTo>
                      <a:pt x="69330" y="15841"/>
                      <a:pt x="53960" y="559"/>
                      <a:pt x="34992" y="1"/>
                    </a:cubicBezTo>
                    <a:close/>
                    <a:moveTo>
                      <a:pt x="42691" y="53726"/>
                    </a:moveTo>
                    <a:cubicBezTo>
                      <a:pt x="35074" y="56883"/>
                      <a:pt x="26343" y="55168"/>
                      <a:pt x="20559" y="49317"/>
                    </a:cubicBezTo>
                    <a:cubicBezTo>
                      <a:pt x="14734" y="43506"/>
                      <a:pt x="12996" y="34743"/>
                      <a:pt x="16160" y="27136"/>
                    </a:cubicBezTo>
                    <a:cubicBezTo>
                      <a:pt x="19283" y="19515"/>
                      <a:pt x="26723" y="14575"/>
                      <a:pt x="34938" y="14630"/>
                    </a:cubicBezTo>
                    <a:cubicBezTo>
                      <a:pt x="45963" y="14956"/>
                      <a:pt x="54897" y="23842"/>
                      <a:pt x="55155" y="34892"/>
                    </a:cubicBezTo>
                    <a:cubicBezTo>
                      <a:pt x="55155" y="43111"/>
                      <a:pt x="50240" y="50528"/>
                      <a:pt x="42677" y="53712"/>
                    </a:cubicBezTo>
                    <a:close/>
                  </a:path>
                </a:pathLst>
              </a:custGeom>
              <a:grpFill/>
              <a:ln w="1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任意形状 23"/>
              <p:cNvSpPr/>
              <p:nvPr/>
            </p:nvSpPr>
            <p:spPr>
              <a:xfrm>
                <a:off x="1392786" y="1491273"/>
                <a:ext cx="43149" cy="43243"/>
              </a:xfrm>
              <a:custGeom>
                <a:avLst/>
                <a:gdLst>
                  <a:gd name="connsiteX0" fmla="*/ 43150 w 43149"/>
                  <a:gd name="connsiteY0" fmla="*/ 21593 h 43243"/>
                  <a:gd name="connsiteX1" fmla="*/ 29816 w 43149"/>
                  <a:gd name="connsiteY1" fmla="*/ 1657 h 43243"/>
                  <a:gd name="connsiteX2" fmla="*/ 6313 w 43149"/>
                  <a:gd name="connsiteY2" fmla="*/ 6393 h 43243"/>
                  <a:gd name="connsiteX3" fmla="*/ 1656 w 43149"/>
                  <a:gd name="connsiteY3" fmla="*/ 29949 h 43243"/>
                  <a:gd name="connsiteX4" fmla="*/ 21683 w 43149"/>
                  <a:gd name="connsiteY4" fmla="*/ 43244 h 43243"/>
                  <a:gd name="connsiteX5" fmla="*/ 21615 w 43149"/>
                  <a:gd name="connsiteY5" fmla="*/ 43108 h 43243"/>
                  <a:gd name="connsiteX6" fmla="*/ 43150 w 43149"/>
                  <a:gd name="connsiteY6" fmla="*/ 21593 h 43243"/>
                  <a:gd name="connsiteX7" fmla="*/ 28377 w 43149"/>
                  <a:gd name="connsiteY7" fmla="*/ 28370 h 43243"/>
                  <a:gd name="connsiteX8" fmla="*/ 21683 w 43149"/>
                  <a:gd name="connsiteY8" fmla="*/ 31132 h 43243"/>
                  <a:gd name="connsiteX9" fmla="*/ 12165 w 43149"/>
                  <a:gd name="connsiteY9" fmla="*/ 21661 h 43243"/>
                  <a:gd name="connsiteX10" fmla="*/ 14922 w 43149"/>
                  <a:gd name="connsiteY10" fmla="*/ 14884 h 43243"/>
                  <a:gd name="connsiteX11" fmla="*/ 21615 w 43149"/>
                  <a:gd name="connsiteY11" fmla="*/ 12122 h 43243"/>
                  <a:gd name="connsiteX12" fmla="*/ 31133 w 43149"/>
                  <a:gd name="connsiteY12" fmla="*/ 21661 h 43243"/>
                  <a:gd name="connsiteX13" fmla="*/ 28377 w 43149"/>
                  <a:gd name="connsiteY13" fmla="*/ 28370 h 43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149" h="43243">
                    <a:moveTo>
                      <a:pt x="43150" y="21593"/>
                    </a:moveTo>
                    <a:cubicBezTo>
                      <a:pt x="43150" y="12843"/>
                      <a:pt x="37895" y="4937"/>
                      <a:pt x="29816" y="1657"/>
                    </a:cubicBezTo>
                    <a:cubicBezTo>
                      <a:pt x="21751" y="-1718"/>
                      <a:pt x="12450" y="160"/>
                      <a:pt x="6313" y="6393"/>
                    </a:cubicBezTo>
                    <a:cubicBezTo>
                      <a:pt x="135" y="12571"/>
                      <a:pt x="-1698" y="21879"/>
                      <a:pt x="1656" y="29949"/>
                    </a:cubicBezTo>
                    <a:cubicBezTo>
                      <a:pt x="5037" y="38032"/>
                      <a:pt x="12939" y="43284"/>
                      <a:pt x="21683" y="43244"/>
                    </a:cubicBezTo>
                    <a:lnTo>
                      <a:pt x="21615" y="43108"/>
                    </a:lnTo>
                    <a:cubicBezTo>
                      <a:pt x="33428" y="42903"/>
                      <a:pt x="42960" y="33432"/>
                      <a:pt x="43150" y="21593"/>
                    </a:cubicBezTo>
                    <a:close/>
                    <a:moveTo>
                      <a:pt x="28377" y="28370"/>
                    </a:moveTo>
                    <a:cubicBezTo>
                      <a:pt x="26598" y="30139"/>
                      <a:pt x="24182" y="31132"/>
                      <a:pt x="21683" y="31132"/>
                    </a:cubicBezTo>
                    <a:cubicBezTo>
                      <a:pt x="16497" y="31064"/>
                      <a:pt x="12233" y="26859"/>
                      <a:pt x="12165" y="21661"/>
                    </a:cubicBezTo>
                    <a:cubicBezTo>
                      <a:pt x="12165" y="19157"/>
                      <a:pt x="13156" y="16721"/>
                      <a:pt x="14922" y="14884"/>
                    </a:cubicBezTo>
                    <a:cubicBezTo>
                      <a:pt x="16700" y="13102"/>
                      <a:pt x="19117" y="12122"/>
                      <a:pt x="21615" y="12122"/>
                    </a:cubicBezTo>
                    <a:cubicBezTo>
                      <a:pt x="26802" y="12258"/>
                      <a:pt x="31011" y="16463"/>
                      <a:pt x="31133" y="21661"/>
                    </a:cubicBezTo>
                    <a:cubicBezTo>
                      <a:pt x="31133" y="24165"/>
                      <a:pt x="30142" y="26601"/>
                      <a:pt x="28377" y="28370"/>
                    </a:cubicBezTo>
                    <a:close/>
                  </a:path>
                </a:pathLst>
              </a:custGeom>
              <a:grpFill/>
              <a:ln w="1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任意形状 24"/>
              <p:cNvSpPr/>
              <p:nvPr/>
            </p:nvSpPr>
            <p:spPr>
              <a:xfrm>
                <a:off x="1207389" y="1375393"/>
                <a:ext cx="273535" cy="328966"/>
              </a:xfrm>
              <a:custGeom>
                <a:avLst/>
                <a:gdLst>
                  <a:gd name="connsiteX0" fmla="*/ 271887 w 273535"/>
                  <a:gd name="connsiteY0" fmla="*/ 291721 h 328966"/>
                  <a:gd name="connsiteX1" fmla="*/ 267556 w 273535"/>
                  <a:gd name="connsiteY1" fmla="*/ 289939 h 328966"/>
                  <a:gd name="connsiteX2" fmla="*/ 166510 w 273535"/>
                  <a:gd name="connsiteY2" fmla="*/ 289939 h 328966"/>
                  <a:gd name="connsiteX3" fmla="*/ 181350 w 273535"/>
                  <a:gd name="connsiteY3" fmla="*/ 249468 h 328966"/>
                  <a:gd name="connsiteX4" fmla="*/ 226728 w 273535"/>
                  <a:gd name="connsiteY4" fmla="*/ 183864 h 328966"/>
                  <a:gd name="connsiteX5" fmla="*/ 257128 w 273535"/>
                  <a:gd name="connsiteY5" fmla="*/ 137610 h 328966"/>
                  <a:gd name="connsiteX6" fmla="*/ 253055 w 273535"/>
                  <a:gd name="connsiteY6" fmla="*/ 118068 h 328966"/>
                  <a:gd name="connsiteX7" fmla="*/ 257196 w 273535"/>
                  <a:gd name="connsiteY7" fmla="*/ 49497 h 328966"/>
                  <a:gd name="connsiteX8" fmla="*/ 260020 w 273535"/>
                  <a:gd name="connsiteY8" fmla="*/ 37386 h 328966"/>
                  <a:gd name="connsiteX9" fmla="*/ 242491 w 273535"/>
                  <a:gd name="connsiteY9" fmla="*/ 10796 h 328966"/>
                  <a:gd name="connsiteX10" fmla="*/ 211235 w 273535"/>
                  <a:gd name="connsiteY10" fmla="*/ 16851 h 328966"/>
                  <a:gd name="connsiteX11" fmla="*/ 210909 w 273535"/>
                  <a:gd name="connsiteY11" fmla="*/ 17246 h 328966"/>
                  <a:gd name="connsiteX12" fmla="*/ 208615 w 273535"/>
                  <a:gd name="connsiteY12" fmla="*/ 16851 h 328966"/>
                  <a:gd name="connsiteX13" fmla="*/ 142111 w 273535"/>
                  <a:gd name="connsiteY13" fmla="*/ 16851 h 328966"/>
                  <a:gd name="connsiteX14" fmla="*/ 123658 w 273535"/>
                  <a:gd name="connsiteY14" fmla="*/ 9421 h 328966"/>
                  <a:gd name="connsiteX15" fmla="*/ 97331 w 273535"/>
                  <a:gd name="connsiteY15" fmla="*/ 29820 h 328966"/>
                  <a:gd name="connsiteX16" fmla="*/ 83998 w 273535"/>
                  <a:gd name="connsiteY16" fmla="*/ 29820 h 328966"/>
                  <a:gd name="connsiteX17" fmla="*/ 48261 w 273535"/>
                  <a:gd name="connsiteY17" fmla="*/ 4 h 328966"/>
                  <a:gd name="connsiteX18" fmla="*/ 25151 w 273535"/>
                  <a:gd name="connsiteY18" fmla="*/ 8224 h 328966"/>
                  <a:gd name="connsiteX19" fmla="*/ 22857 w 273535"/>
                  <a:gd name="connsiteY19" fmla="*/ 12633 h 328966"/>
                  <a:gd name="connsiteX20" fmla="*/ 24106 w 273535"/>
                  <a:gd name="connsiteY20" fmla="*/ 16443 h 328966"/>
                  <a:gd name="connsiteX21" fmla="*/ 28763 w 273535"/>
                  <a:gd name="connsiteY21" fmla="*/ 18620 h 328966"/>
                  <a:gd name="connsiteX22" fmla="*/ 32307 w 273535"/>
                  <a:gd name="connsiteY22" fmla="*/ 17368 h 328966"/>
                  <a:gd name="connsiteX23" fmla="*/ 47935 w 273535"/>
                  <a:gd name="connsiteY23" fmla="*/ 11912 h 328966"/>
                  <a:gd name="connsiteX24" fmla="*/ 72103 w 273535"/>
                  <a:gd name="connsiteY24" fmla="*/ 34610 h 328966"/>
                  <a:gd name="connsiteX25" fmla="*/ 72361 w 273535"/>
                  <a:gd name="connsiteY25" fmla="*/ 37835 h 328966"/>
                  <a:gd name="connsiteX26" fmla="*/ 48261 w 273535"/>
                  <a:gd name="connsiteY26" fmla="*/ 61064 h 328966"/>
                  <a:gd name="connsiteX27" fmla="*/ 33352 w 273535"/>
                  <a:gd name="connsiteY27" fmla="*/ 56192 h 328966"/>
                  <a:gd name="connsiteX28" fmla="*/ 29809 w 273535"/>
                  <a:gd name="connsiteY28" fmla="*/ 54804 h 328966"/>
                  <a:gd name="connsiteX29" fmla="*/ 25341 w 273535"/>
                  <a:gd name="connsiteY29" fmla="*/ 57104 h 328966"/>
                  <a:gd name="connsiteX30" fmla="*/ 23766 w 273535"/>
                  <a:gd name="connsiteY30" fmla="*/ 61377 h 328966"/>
                  <a:gd name="connsiteX31" fmla="*/ 26061 w 273535"/>
                  <a:gd name="connsiteY31" fmla="*/ 65786 h 328966"/>
                  <a:gd name="connsiteX32" fmla="*/ 47921 w 273535"/>
                  <a:gd name="connsiteY32" fmla="*/ 72958 h 328966"/>
                  <a:gd name="connsiteX33" fmla="*/ 84038 w 273535"/>
                  <a:gd name="connsiteY33" fmla="*/ 41564 h 328966"/>
                  <a:gd name="connsiteX34" fmla="*/ 96774 w 273535"/>
                  <a:gd name="connsiteY34" fmla="*/ 41564 h 328966"/>
                  <a:gd name="connsiteX35" fmla="*/ 123631 w 273535"/>
                  <a:gd name="connsiteY35" fmla="*/ 64207 h 328966"/>
                  <a:gd name="connsiteX36" fmla="*/ 145763 w 273535"/>
                  <a:gd name="connsiteY36" fmla="*/ 52818 h 328966"/>
                  <a:gd name="connsiteX37" fmla="*/ 145967 w 273535"/>
                  <a:gd name="connsiteY37" fmla="*/ 52886 h 328966"/>
                  <a:gd name="connsiteX38" fmla="*/ 206497 w 273535"/>
                  <a:gd name="connsiteY38" fmla="*/ 52886 h 328966"/>
                  <a:gd name="connsiteX39" fmla="*/ 207678 w 273535"/>
                  <a:gd name="connsiteY39" fmla="*/ 52355 h 328966"/>
                  <a:gd name="connsiteX40" fmla="*/ 208139 w 273535"/>
                  <a:gd name="connsiteY40" fmla="*/ 53144 h 328966"/>
                  <a:gd name="connsiteX41" fmla="*/ 207936 w 273535"/>
                  <a:gd name="connsiteY41" fmla="*/ 53348 h 328966"/>
                  <a:gd name="connsiteX42" fmla="*/ 187257 w 273535"/>
                  <a:gd name="connsiteY42" fmla="*/ 90526 h 328966"/>
                  <a:gd name="connsiteX43" fmla="*/ 187189 w 273535"/>
                  <a:gd name="connsiteY43" fmla="*/ 91179 h 328966"/>
                  <a:gd name="connsiteX44" fmla="*/ 171303 w 273535"/>
                  <a:gd name="connsiteY44" fmla="*/ 101834 h 328966"/>
                  <a:gd name="connsiteX45" fmla="*/ 159096 w 273535"/>
                  <a:gd name="connsiteY45" fmla="*/ 122096 h 328966"/>
                  <a:gd name="connsiteX46" fmla="*/ 158703 w 273535"/>
                  <a:gd name="connsiteY46" fmla="*/ 122232 h 328966"/>
                  <a:gd name="connsiteX47" fmla="*/ 83848 w 273535"/>
                  <a:gd name="connsiteY47" fmla="*/ 181591 h 328966"/>
                  <a:gd name="connsiteX48" fmla="*/ 45246 w 273535"/>
                  <a:gd name="connsiteY48" fmla="*/ 221993 h 328966"/>
                  <a:gd name="connsiteX49" fmla="*/ 56082 w 273535"/>
                  <a:gd name="connsiteY49" fmla="*/ 289830 h 328966"/>
                  <a:gd name="connsiteX50" fmla="*/ 5912 w 273535"/>
                  <a:gd name="connsiteY50" fmla="*/ 289830 h 328966"/>
                  <a:gd name="connsiteX51" fmla="*/ 1648 w 273535"/>
                  <a:gd name="connsiteY51" fmla="*/ 291667 h 328966"/>
                  <a:gd name="connsiteX52" fmla="*/ 5 w 273535"/>
                  <a:gd name="connsiteY52" fmla="*/ 296076 h 328966"/>
                  <a:gd name="connsiteX53" fmla="*/ 5 w 273535"/>
                  <a:gd name="connsiteY53" fmla="*/ 323510 h 328966"/>
                  <a:gd name="connsiteX54" fmla="*/ 5912 w 273535"/>
                  <a:gd name="connsiteY54" fmla="*/ 328967 h 328966"/>
                  <a:gd name="connsiteX55" fmla="*/ 267556 w 273535"/>
                  <a:gd name="connsiteY55" fmla="*/ 328967 h 328966"/>
                  <a:gd name="connsiteX56" fmla="*/ 271752 w 273535"/>
                  <a:gd name="connsiteY56" fmla="*/ 327252 h 328966"/>
                  <a:gd name="connsiteX57" fmla="*/ 273530 w 273535"/>
                  <a:gd name="connsiteY57" fmla="*/ 323034 h 328966"/>
                  <a:gd name="connsiteX58" fmla="*/ 273530 w 273535"/>
                  <a:gd name="connsiteY58" fmla="*/ 296049 h 328966"/>
                  <a:gd name="connsiteX59" fmla="*/ 271887 w 273535"/>
                  <a:gd name="connsiteY59" fmla="*/ 291640 h 328966"/>
                  <a:gd name="connsiteX60" fmla="*/ 271887 w 273535"/>
                  <a:gd name="connsiteY60" fmla="*/ 291640 h 328966"/>
                  <a:gd name="connsiteX61" fmla="*/ 231371 w 273535"/>
                  <a:gd name="connsiteY61" fmla="*/ 20349 h 328966"/>
                  <a:gd name="connsiteX62" fmla="*/ 248316 w 273535"/>
                  <a:gd name="connsiteY62" fmla="*/ 37332 h 328966"/>
                  <a:gd name="connsiteX63" fmla="*/ 231371 w 273535"/>
                  <a:gd name="connsiteY63" fmla="*/ 54246 h 328966"/>
                  <a:gd name="connsiteX64" fmla="*/ 214494 w 273535"/>
                  <a:gd name="connsiteY64" fmla="*/ 37332 h 328966"/>
                  <a:gd name="connsiteX65" fmla="*/ 219409 w 273535"/>
                  <a:gd name="connsiteY65" fmla="*/ 25329 h 328966"/>
                  <a:gd name="connsiteX66" fmla="*/ 231358 w 273535"/>
                  <a:gd name="connsiteY66" fmla="*/ 20349 h 328966"/>
                  <a:gd name="connsiteX67" fmla="*/ 231358 w 273535"/>
                  <a:gd name="connsiteY67" fmla="*/ 20349 h 328966"/>
                  <a:gd name="connsiteX68" fmla="*/ 129470 w 273535"/>
                  <a:gd name="connsiteY68" fmla="*/ 51076 h 328966"/>
                  <a:gd name="connsiteX69" fmla="*/ 112660 w 273535"/>
                  <a:gd name="connsiteY69" fmla="*/ 47714 h 328966"/>
                  <a:gd name="connsiteX70" fmla="*/ 109307 w 273535"/>
                  <a:gd name="connsiteY70" fmla="*/ 30868 h 328966"/>
                  <a:gd name="connsiteX71" fmla="*/ 123618 w 273535"/>
                  <a:gd name="connsiteY71" fmla="*/ 21328 h 328966"/>
                  <a:gd name="connsiteX72" fmla="*/ 138974 w 273535"/>
                  <a:gd name="connsiteY72" fmla="*/ 36733 h 328966"/>
                  <a:gd name="connsiteX73" fmla="*/ 129456 w 273535"/>
                  <a:gd name="connsiteY73" fmla="*/ 51076 h 328966"/>
                  <a:gd name="connsiteX74" fmla="*/ 129456 w 273535"/>
                  <a:gd name="connsiteY74" fmla="*/ 51076 h 328966"/>
                  <a:gd name="connsiteX75" fmla="*/ 149565 w 273535"/>
                  <a:gd name="connsiteY75" fmla="*/ 28500 h 328966"/>
                  <a:gd name="connsiteX76" fmla="*/ 204460 w 273535"/>
                  <a:gd name="connsiteY76" fmla="*/ 28500 h 328966"/>
                  <a:gd name="connsiteX77" fmla="*/ 203279 w 273535"/>
                  <a:gd name="connsiteY77" fmla="*/ 41128 h 328966"/>
                  <a:gd name="connsiteX78" fmla="*/ 150556 w 273535"/>
                  <a:gd name="connsiteY78" fmla="*/ 41128 h 328966"/>
                  <a:gd name="connsiteX79" fmla="*/ 151018 w 273535"/>
                  <a:gd name="connsiteY79" fmla="*/ 36855 h 328966"/>
                  <a:gd name="connsiteX80" fmla="*/ 149578 w 273535"/>
                  <a:gd name="connsiteY80" fmla="*/ 28500 h 328966"/>
                  <a:gd name="connsiteX81" fmla="*/ 149578 w 273535"/>
                  <a:gd name="connsiteY81" fmla="*/ 28500 h 328966"/>
                  <a:gd name="connsiteX82" fmla="*/ 217264 w 273535"/>
                  <a:gd name="connsiteY82" fmla="*/ 61799 h 328966"/>
                  <a:gd name="connsiteX83" fmla="*/ 231385 w 273535"/>
                  <a:gd name="connsiteY83" fmla="*/ 65813 h 328966"/>
                  <a:gd name="connsiteX84" fmla="*/ 244840 w 273535"/>
                  <a:gd name="connsiteY84" fmla="*/ 62330 h 328966"/>
                  <a:gd name="connsiteX85" fmla="*/ 242410 w 273535"/>
                  <a:gd name="connsiteY85" fmla="*/ 102147 h 328966"/>
                  <a:gd name="connsiteX86" fmla="*/ 225994 w 273535"/>
                  <a:gd name="connsiteY86" fmla="*/ 91029 h 328966"/>
                  <a:gd name="connsiteX87" fmla="*/ 202423 w 273535"/>
                  <a:gd name="connsiteY87" fmla="*/ 87477 h 328966"/>
                  <a:gd name="connsiteX88" fmla="*/ 217264 w 273535"/>
                  <a:gd name="connsiteY88" fmla="*/ 61812 h 328966"/>
                  <a:gd name="connsiteX89" fmla="*/ 207026 w 273535"/>
                  <a:gd name="connsiteY89" fmla="*/ 99235 h 328966"/>
                  <a:gd name="connsiteX90" fmla="*/ 240170 w 273535"/>
                  <a:gd name="connsiteY90" fmla="*/ 118422 h 328966"/>
                  <a:gd name="connsiteX91" fmla="*/ 240170 w 273535"/>
                  <a:gd name="connsiteY91" fmla="*/ 156783 h 328966"/>
                  <a:gd name="connsiteX92" fmla="*/ 207026 w 273535"/>
                  <a:gd name="connsiteY92" fmla="*/ 175971 h 328966"/>
                  <a:gd name="connsiteX93" fmla="*/ 168750 w 273535"/>
                  <a:gd name="connsiteY93" fmla="*/ 137610 h 328966"/>
                  <a:gd name="connsiteX94" fmla="*/ 207026 w 273535"/>
                  <a:gd name="connsiteY94" fmla="*/ 99248 h 328966"/>
                  <a:gd name="connsiteX95" fmla="*/ 207026 w 273535"/>
                  <a:gd name="connsiteY95" fmla="*/ 99248 h 328966"/>
                  <a:gd name="connsiteX96" fmla="*/ 156734 w 273535"/>
                  <a:gd name="connsiteY96" fmla="*/ 139243 h 328966"/>
                  <a:gd name="connsiteX97" fmla="*/ 160481 w 273535"/>
                  <a:gd name="connsiteY97" fmla="*/ 156947 h 328966"/>
                  <a:gd name="connsiteX98" fmla="*/ 207026 w 273535"/>
                  <a:gd name="connsiteY98" fmla="*/ 187946 h 328966"/>
                  <a:gd name="connsiteX99" fmla="*/ 210502 w 273535"/>
                  <a:gd name="connsiteY99" fmla="*/ 187551 h 328966"/>
                  <a:gd name="connsiteX100" fmla="*/ 180033 w 273535"/>
                  <a:gd name="connsiteY100" fmla="*/ 231778 h 328966"/>
                  <a:gd name="connsiteX101" fmla="*/ 176883 w 273535"/>
                  <a:gd name="connsiteY101" fmla="*/ 220986 h 328966"/>
                  <a:gd name="connsiteX102" fmla="*/ 110705 w 273535"/>
                  <a:gd name="connsiteY102" fmla="*/ 175916 h 328966"/>
                  <a:gd name="connsiteX103" fmla="*/ 109850 w 273535"/>
                  <a:gd name="connsiteY103" fmla="*/ 175984 h 328966"/>
                  <a:gd name="connsiteX104" fmla="*/ 156734 w 273535"/>
                  <a:gd name="connsiteY104" fmla="*/ 139270 h 328966"/>
                  <a:gd name="connsiteX105" fmla="*/ 56475 w 273535"/>
                  <a:gd name="connsiteY105" fmla="*/ 225382 h 328966"/>
                  <a:gd name="connsiteX106" fmla="*/ 111886 w 273535"/>
                  <a:gd name="connsiteY106" fmla="*/ 187415 h 328966"/>
                  <a:gd name="connsiteX107" fmla="*/ 153190 w 273535"/>
                  <a:gd name="connsiteY107" fmla="*/ 204657 h 328966"/>
                  <a:gd name="connsiteX108" fmla="*/ 169932 w 273535"/>
                  <a:gd name="connsiteY108" fmla="*/ 246379 h 328966"/>
                  <a:gd name="connsiteX109" fmla="*/ 150692 w 273535"/>
                  <a:gd name="connsiteY109" fmla="*/ 289939 h 328966"/>
                  <a:gd name="connsiteX110" fmla="*/ 72158 w 273535"/>
                  <a:gd name="connsiteY110" fmla="*/ 289939 h 328966"/>
                  <a:gd name="connsiteX111" fmla="*/ 56462 w 273535"/>
                  <a:gd name="connsiteY111" fmla="*/ 225382 h 328966"/>
                  <a:gd name="connsiteX112" fmla="*/ 56462 w 273535"/>
                  <a:gd name="connsiteY112" fmla="*/ 225382 h 328966"/>
                  <a:gd name="connsiteX113" fmla="*/ 261324 w 273535"/>
                  <a:gd name="connsiteY113" fmla="*/ 316978 h 328966"/>
                  <a:gd name="connsiteX114" fmla="*/ 11818 w 273535"/>
                  <a:gd name="connsiteY114" fmla="*/ 316978 h 328966"/>
                  <a:gd name="connsiteX115" fmla="*/ 11818 w 273535"/>
                  <a:gd name="connsiteY115" fmla="*/ 301315 h 328966"/>
                  <a:gd name="connsiteX116" fmla="*/ 261378 w 273535"/>
                  <a:gd name="connsiteY116" fmla="*/ 301315 h 328966"/>
                  <a:gd name="connsiteX117" fmla="*/ 261378 w 273535"/>
                  <a:gd name="connsiteY117" fmla="*/ 316978 h 328966"/>
                  <a:gd name="connsiteX118" fmla="*/ 261310 w 273535"/>
                  <a:gd name="connsiteY118" fmla="*/ 316978 h 328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</a:cxnLst>
                <a:rect l="l" t="t" r="r" b="b"/>
                <a:pathLst>
                  <a:path w="273535" h="328966">
                    <a:moveTo>
                      <a:pt x="271887" y="291721"/>
                    </a:moveTo>
                    <a:cubicBezTo>
                      <a:pt x="270774" y="290524"/>
                      <a:pt x="269185" y="289884"/>
                      <a:pt x="267556" y="289939"/>
                    </a:cubicBezTo>
                    <a:lnTo>
                      <a:pt x="166510" y="289939"/>
                    </a:lnTo>
                    <a:cubicBezTo>
                      <a:pt x="175702" y="278222"/>
                      <a:pt x="180753" y="264083"/>
                      <a:pt x="181350" y="249468"/>
                    </a:cubicBezTo>
                    <a:lnTo>
                      <a:pt x="226728" y="183864"/>
                    </a:lnTo>
                    <a:cubicBezTo>
                      <a:pt x="245166" y="175903"/>
                      <a:pt x="257115" y="157722"/>
                      <a:pt x="257128" y="137610"/>
                    </a:cubicBezTo>
                    <a:cubicBezTo>
                      <a:pt x="257128" y="130765"/>
                      <a:pt x="255621" y="124124"/>
                      <a:pt x="253055" y="118068"/>
                    </a:cubicBezTo>
                    <a:lnTo>
                      <a:pt x="257196" y="49497"/>
                    </a:lnTo>
                    <a:cubicBezTo>
                      <a:pt x="258975" y="45809"/>
                      <a:pt x="260020" y="41727"/>
                      <a:pt x="260020" y="37386"/>
                    </a:cubicBezTo>
                    <a:cubicBezTo>
                      <a:pt x="260102" y="25778"/>
                      <a:pt x="253177" y="15286"/>
                      <a:pt x="242491" y="10796"/>
                    </a:cubicBezTo>
                    <a:cubicBezTo>
                      <a:pt x="231792" y="6319"/>
                      <a:pt x="219518" y="8686"/>
                      <a:pt x="211235" y="16851"/>
                    </a:cubicBezTo>
                    <a:cubicBezTo>
                      <a:pt x="211099" y="16987"/>
                      <a:pt x="211032" y="17110"/>
                      <a:pt x="210909" y="17246"/>
                    </a:cubicBezTo>
                    <a:cubicBezTo>
                      <a:pt x="210190" y="16987"/>
                      <a:pt x="209470" y="16715"/>
                      <a:pt x="208615" y="16851"/>
                    </a:cubicBezTo>
                    <a:lnTo>
                      <a:pt x="142111" y="16851"/>
                    </a:lnTo>
                    <a:cubicBezTo>
                      <a:pt x="137250" y="12238"/>
                      <a:pt x="130814" y="9421"/>
                      <a:pt x="123658" y="9421"/>
                    </a:cubicBezTo>
                    <a:cubicBezTo>
                      <a:pt x="110990" y="9421"/>
                      <a:pt x="100413" y="18103"/>
                      <a:pt x="97331" y="29820"/>
                    </a:cubicBezTo>
                    <a:lnTo>
                      <a:pt x="83998" y="29820"/>
                    </a:lnTo>
                    <a:cubicBezTo>
                      <a:pt x="80739" y="12578"/>
                      <a:pt x="65749" y="73"/>
                      <a:pt x="48261" y="4"/>
                    </a:cubicBezTo>
                    <a:cubicBezTo>
                      <a:pt x="39788" y="-132"/>
                      <a:pt x="31642" y="2835"/>
                      <a:pt x="25151" y="8224"/>
                    </a:cubicBezTo>
                    <a:cubicBezTo>
                      <a:pt x="23712" y="9217"/>
                      <a:pt x="22789" y="10850"/>
                      <a:pt x="22857" y="12633"/>
                    </a:cubicBezTo>
                    <a:cubicBezTo>
                      <a:pt x="22925" y="14007"/>
                      <a:pt x="23386" y="15327"/>
                      <a:pt x="24106" y="16443"/>
                    </a:cubicBezTo>
                    <a:cubicBezTo>
                      <a:pt x="25287" y="17831"/>
                      <a:pt x="26998" y="18552"/>
                      <a:pt x="28763" y="18620"/>
                    </a:cubicBezTo>
                    <a:cubicBezTo>
                      <a:pt x="30080" y="18688"/>
                      <a:pt x="31384" y="18226"/>
                      <a:pt x="32307" y="17368"/>
                    </a:cubicBezTo>
                    <a:cubicBezTo>
                      <a:pt x="36706" y="13749"/>
                      <a:pt x="42287" y="11775"/>
                      <a:pt x="47935" y="11912"/>
                    </a:cubicBezTo>
                    <a:cubicBezTo>
                      <a:pt x="60739" y="12116"/>
                      <a:pt x="70854" y="22050"/>
                      <a:pt x="72103" y="34610"/>
                    </a:cubicBezTo>
                    <a:cubicBezTo>
                      <a:pt x="71859" y="35685"/>
                      <a:pt x="71954" y="36814"/>
                      <a:pt x="72361" y="37835"/>
                    </a:cubicBezTo>
                    <a:cubicBezTo>
                      <a:pt x="71764" y="50667"/>
                      <a:pt x="61268" y="61064"/>
                      <a:pt x="48261" y="61064"/>
                    </a:cubicBezTo>
                    <a:cubicBezTo>
                      <a:pt x="42870" y="61064"/>
                      <a:pt x="37684" y="59349"/>
                      <a:pt x="33352" y="56192"/>
                    </a:cubicBezTo>
                    <a:cubicBezTo>
                      <a:pt x="32388" y="55294"/>
                      <a:pt x="31126" y="54791"/>
                      <a:pt x="29809" y="54804"/>
                    </a:cubicBezTo>
                    <a:cubicBezTo>
                      <a:pt x="28030" y="54872"/>
                      <a:pt x="26400" y="55730"/>
                      <a:pt x="25341" y="57104"/>
                    </a:cubicBezTo>
                    <a:cubicBezTo>
                      <a:pt x="24160" y="58220"/>
                      <a:pt x="23631" y="59798"/>
                      <a:pt x="23766" y="61377"/>
                    </a:cubicBezTo>
                    <a:cubicBezTo>
                      <a:pt x="23766" y="63160"/>
                      <a:pt x="24622" y="64793"/>
                      <a:pt x="26061" y="65786"/>
                    </a:cubicBezTo>
                    <a:cubicBezTo>
                      <a:pt x="32429" y="70386"/>
                      <a:pt x="40114" y="72889"/>
                      <a:pt x="47921" y="72958"/>
                    </a:cubicBezTo>
                    <a:cubicBezTo>
                      <a:pt x="66170" y="72699"/>
                      <a:pt x="81146" y="59200"/>
                      <a:pt x="84038" y="41564"/>
                    </a:cubicBezTo>
                    <a:lnTo>
                      <a:pt x="96774" y="41564"/>
                    </a:lnTo>
                    <a:cubicBezTo>
                      <a:pt x="99055" y="54641"/>
                      <a:pt x="110379" y="64180"/>
                      <a:pt x="123631" y="64207"/>
                    </a:cubicBezTo>
                    <a:cubicBezTo>
                      <a:pt x="132755" y="64207"/>
                      <a:pt x="140766" y="59662"/>
                      <a:pt x="145763" y="52818"/>
                    </a:cubicBezTo>
                    <a:cubicBezTo>
                      <a:pt x="145831" y="52818"/>
                      <a:pt x="145899" y="52886"/>
                      <a:pt x="145967" y="52886"/>
                    </a:cubicBezTo>
                    <a:lnTo>
                      <a:pt x="206497" y="52886"/>
                    </a:lnTo>
                    <a:cubicBezTo>
                      <a:pt x="206958" y="52886"/>
                      <a:pt x="207284" y="52491"/>
                      <a:pt x="207678" y="52355"/>
                    </a:cubicBezTo>
                    <a:cubicBezTo>
                      <a:pt x="207814" y="52613"/>
                      <a:pt x="207936" y="52886"/>
                      <a:pt x="208139" y="53144"/>
                    </a:cubicBezTo>
                    <a:cubicBezTo>
                      <a:pt x="208072" y="53212"/>
                      <a:pt x="207936" y="53280"/>
                      <a:pt x="207936" y="53348"/>
                    </a:cubicBezTo>
                    <a:lnTo>
                      <a:pt x="187257" y="90526"/>
                    </a:lnTo>
                    <a:cubicBezTo>
                      <a:pt x="187121" y="90716"/>
                      <a:pt x="187257" y="90988"/>
                      <a:pt x="187189" y="91179"/>
                    </a:cubicBezTo>
                    <a:cubicBezTo>
                      <a:pt x="181350" y="93683"/>
                      <a:pt x="175960" y="97166"/>
                      <a:pt x="171303" y="101834"/>
                    </a:cubicBezTo>
                    <a:cubicBezTo>
                      <a:pt x="165519" y="107631"/>
                      <a:pt x="161527" y="114598"/>
                      <a:pt x="159096" y="122096"/>
                    </a:cubicBezTo>
                    <a:cubicBezTo>
                      <a:pt x="158961" y="122164"/>
                      <a:pt x="158838" y="122164"/>
                      <a:pt x="158703" y="122232"/>
                    </a:cubicBezTo>
                    <a:lnTo>
                      <a:pt x="83848" y="181591"/>
                    </a:lnTo>
                    <a:cubicBezTo>
                      <a:pt x="66319" y="189021"/>
                      <a:pt x="52076" y="203309"/>
                      <a:pt x="45246" y="221993"/>
                    </a:cubicBezTo>
                    <a:cubicBezTo>
                      <a:pt x="36706" y="245222"/>
                      <a:pt x="41173" y="270819"/>
                      <a:pt x="56082" y="289830"/>
                    </a:cubicBezTo>
                    <a:lnTo>
                      <a:pt x="5912" y="289830"/>
                    </a:lnTo>
                    <a:cubicBezTo>
                      <a:pt x="4269" y="289830"/>
                      <a:pt x="2762" y="290483"/>
                      <a:pt x="1648" y="291667"/>
                    </a:cubicBezTo>
                    <a:cubicBezTo>
                      <a:pt x="535" y="292919"/>
                      <a:pt x="-63" y="294429"/>
                      <a:pt x="5" y="296076"/>
                    </a:cubicBezTo>
                    <a:lnTo>
                      <a:pt x="5" y="323510"/>
                    </a:lnTo>
                    <a:cubicBezTo>
                      <a:pt x="263" y="326599"/>
                      <a:pt x="2829" y="328967"/>
                      <a:pt x="5912" y="328967"/>
                    </a:cubicBezTo>
                    <a:lnTo>
                      <a:pt x="267556" y="328967"/>
                    </a:lnTo>
                    <a:cubicBezTo>
                      <a:pt x="269131" y="328967"/>
                      <a:pt x="270638" y="328368"/>
                      <a:pt x="271752" y="327252"/>
                    </a:cubicBezTo>
                    <a:cubicBezTo>
                      <a:pt x="272865" y="326136"/>
                      <a:pt x="273530" y="324626"/>
                      <a:pt x="273530" y="323034"/>
                    </a:cubicBezTo>
                    <a:lnTo>
                      <a:pt x="273530" y="296049"/>
                    </a:lnTo>
                    <a:cubicBezTo>
                      <a:pt x="273598" y="294416"/>
                      <a:pt x="273014" y="292824"/>
                      <a:pt x="271887" y="291640"/>
                    </a:cubicBezTo>
                    <a:lnTo>
                      <a:pt x="271887" y="291640"/>
                    </a:lnTo>
                    <a:close/>
                    <a:moveTo>
                      <a:pt x="231371" y="20349"/>
                    </a:moveTo>
                    <a:cubicBezTo>
                      <a:pt x="240699" y="20417"/>
                      <a:pt x="248235" y="27983"/>
                      <a:pt x="248316" y="37332"/>
                    </a:cubicBezTo>
                    <a:cubicBezTo>
                      <a:pt x="248316" y="46680"/>
                      <a:pt x="240767" y="54246"/>
                      <a:pt x="231371" y="54246"/>
                    </a:cubicBezTo>
                    <a:cubicBezTo>
                      <a:pt x="221975" y="54246"/>
                      <a:pt x="214494" y="46680"/>
                      <a:pt x="214494" y="37332"/>
                    </a:cubicBezTo>
                    <a:cubicBezTo>
                      <a:pt x="214480" y="32841"/>
                      <a:pt x="216245" y="28513"/>
                      <a:pt x="219409" y="25329"/>
                    </a:cubicBezTo>
                    <a:cubicBezTo>
                      <a:pt x="222573" y="22145"/>
                      <a:pt x="226877" y="20349"/>
                      <a:pt x="231358" y="20349"/>
                    </a:cubicBezTo>
                    <a:lnTo>
                      <a:pt x="231358" y="20349"/>
                    </a:lnTo>
                    <a:close/>
                    <a:moveTo>
                      <a:pt x="129470" y="51076"/>
                    </a:moveTo>
                    <a:cubicBezTo>
                      <a:pt x="123753" y="53512"/>
                      <a:pt x="117060" y="52192"/>
                      <a:pt x="112660" y="47714"/>
                    </a:cubicBezTo>
                    <a:cubicBezTo>
                      <a:pt x="108261" y="43305"/>
                      <a:pt x="106944" y="36597"/>
                      <a:pt x="109307" y="30868"/>
                    </a:cubicBezTo>
                    <a:cubicBezTo>
                      <a:pt x="111737" y="25071"/>
                      <a:pt x="117385" y="21328"/>
                      <a:pt x="123618" y="21328"/>
                    </a:cubicBezTo>
                    <a:cubicBezTo>
                      <a:pt x="132090" y="21396"/>
                      <a:pt x="138920" y="28241"/>
                      <a:pt x="138974" y="36733"/>
                    </a:cubicBezTo>
                    <a:cubicBezTo>
                      <a:pt x="139042" y="43047"/>
                      <a:pt x="135227" y="48708"/>
                      <a:pt x="129456" y="51076"/>
                    </a:cubicBezTo>
                    <a:lnTo>
                      <a:pt x="129456" y="51076"/>
                    </a:lnTo>
                    <a:close/>
                    <a:moveTo>
                      <a:pt x="149565" y="28500"/>
                    </a:moveTo>
                    <a:lnTo>
                      <a:pt x="204460" y="28500"/>
                    </a:lnTo>
                    <a:cubicBezTo>
                      <a:pt x="203143" y="32582"/>
                      <a:pt x="202681" y="36787"/>
                      <a:pt x="203279" y="41128"/>
                    </a:cubicBezTo>
                    <a:lnTo>
                      <a:pt x="150556" y="41128"/>
                    </a:lnTo>
                    <a:cubicBezTo>
                      <a:pt x="150760" y="39740"/>
                      <a:pt x="151018" y="38298"/>
                      <a:pt x="151018" y="36855"/>
                    </a:cubicBezTo>
                    <a:cubicBezTo>
                      <a:pt x="151018" y="33957"/>
                      <a:pt x="150420" y="31194"/>
                      <a:pt x="149578" y="28500"/>
                    </a:cubicBezTo>
                    <a:lnTo>
                      <a:pt x="149578" y="28500"/>
                    </a:lnTo>
                    <a:close/>
                    <a:moveTo>
                      <a:pt x="217264" y="61799"/>
                    </a:moveTo>
                    <a:cubicBezTo>
                      <a:pt x="221459" y="64235"/>
                      <a:pt x="226252" y="65813"/>
                      <a:pt x="231385" y="65813"/>
                    </a:cubicBezTo>
                    <a:cubicBezTo>
                      <a:pt x="236517" y="65813"/>
                      <a:pt x="240835" y="64493"/>
                      <a:pt x="244840" y="62330"/>
                    </a:cubicBezTo>
                    <a:lnTo>
                      <a:pt x="242410" y="102147"/>
                    </a:lnTo>
                    <a:cubicBezTo>
                      <a:pt x="237821" y="97479"/>
                      <a:pt x="232294" y="93587"/>
                      <a:pt x="225994" y="91029"/>
                    </a:cubicBezTo>
                    <a:cubicBezTo>
                      <a:pt x="218540" y="87981"/>
                      <a:pt x="210448" y="86756"/>
                      <a:pt x="202423" y="87477"/>
                    </a:cubicBezTo>
                    <a:lnTo>
                      <a:pt x="217264" y="61812"/>
                    </a:lnTo>
                    <a:close/>
                    <a:moveTo>
                      <a:pt x="207026" y="99235"/>
                    </a:moveTo>
                    <a:cubicBezTo>
                      <a:pt x="220699" y="99235"/>
                      <a:pt x="233340" y="106542"/>
                      <a:pt x="240170" y="118422"/>
                    </a:cubicBezTo>
                    <a:cubicBezTo>
                      <a:pt x="247013" y="130288"/>
                      <a:pt x="247013" y="144917"/>
                      <a:pt x="240170" y="156783"/>
                    </a:cubicBezTo>
                    <a:cubicBezTo>
                      <a:pt x="233326" y="168650"/>
                      <a:pt x="220699" y="175971"/>
                      <a:pt x="207026" y="175971"/>
                    </a:cubicBezTo>
                    <a:cubicBezTo>
                      <a:pt x="185885" y="175971"/>
                      <a:pt x="168750" y="158797"/>
                      <a:pt x="168750" y="137610"/>
                    </a:cubicBezTo>
                    <a:cubicBezTo>
                      <a:pt x="168750" y="116422"/>
                      <a:pt x="185885" y="99248"/>
                      <a:pt x="207026" y="99248"/>
                    </a:cubicBezTo>
                    <a:lnTo>
                      <a:pt x="207026" y="99248"/>
                    </a:lnTo>
                    <a:close/>
                    <a:moveTo>
                      <a:pt x="156734" y="139243"/>
                    </a:moveTo>
                    <a:cubicBezTo>
                      <a:pt x="156938" y="145230"/>
                      <a:pt x="158051" y="151218"/>
                      <a:pt x="160481" y="156947"/>
                    </a:cubicBezTo>
                    <a:cubicBezTo>
                      <a:pt x="168302" y="175780"/>
                      <a:pt x="186687" y="188014"/>
                      <a:pt x="207026" y="187946"/>
                    </a:cubicBezTo>
                    <a:cubicBezTo>
                      <a:pt x="208207" y="187946"/>
                      <a:pt x="209321" y="187687"/>
                      <a:pt x="210502" y="187551"/>
                    </a:cubicBezTo>
                    <a:lnTo>
                      <a:pt x="180033" y="231778"/>
                    </a:lnTo>
                    <a:cubicBezTo>
                      <a:pt x="179246" y="228158"/>
                      <a:pt x="178200" y="224538"/>
                      <a:pt x="176883" y="220986"/>
                    </a:cubicBezTo>
                    <a:cubicBezTo>
                      <a:pt x="166320" y="193634"/>
                      <a:pt x="139965" y="175685"/>
                      <a:pt x="110705" y="175916"/>
                    </a:cubicBezTo>
                    <a:cubicBezTo>
                      <a:pt x="110379" y="175916"/>
                      <a:pt x="110121" y="175984"/>
                      <a:pt x="109850" y="175984"/>
                    </a:cubicBezTo>
                    <a:lnTo>
                      <a:pt x="156734" y="139270"/>
                    </a:lnTo>
                    <a:close/>
                    <a:moveTo>
                      <a:pt x="56475" y="225382"/>
                    </a:moveTo>
                    <a:cubicBezTo>
                      <a:pt x="65179" y="202330"/>
                      <a:pt x="87297" y="187170"/>
                      <a:pt x="111886" y="187415"/>
                    </a:cubicBezTo>
                    <a:cubicBezTo>
                      <a:pt x="127433" y="187252"/>
                      <a:pt x="142355" y="193484"/>
                      <a:pt x="153190" y="204657"/>
                    </a:cubicBezTo>
                    <a:cubicBezTo>
                      <a:pt x="164093" y="215775"/>
                      <a:pt x="170122" y="230784"/>
                      <a:pt x="169932" y="246379"/>
                    </a:cubicBezTo>
                    <a:cubicBezTo>
                      <a:pt x="169932" y="262967"/>
                      <a:pt x="162912" y="278753"/>
                      <a:pt x="150692" y="289939"/>
                    </a:cubicBezTo>
                    <a:lnTo>
                      <a:pt x="72158" y="289939"/>
                    </a:lnTo>
                    <a:cubicBezTo>
                      <a:pt x="54126" y="273731"/>
                      <a:pt x="47894" y="248080"/>
                      <a:pt x="56462" y="225382"/>
                    </a:cubicBezTo>
                    <a:lnTo>
                      <a:pt x="56462" y="225382"/>
                    </a:lnTo>
                    <a:close/>
                    <a:moveTo>
                      <a:pt x="261324" y="316978"/>
                    </a:moveTo>
                    <a:lnTo>
                      <a:pt x="11818" y="316978"/>
                    </a:lnTo>
                    <a:lnTo>
                      <a:pt x="11818" y="301315"/>
                    </a:lnTo>
                    <a:lnTo>
                      <a:pt x="261378" y="301315"/>
                    </a:lnTo>
                    <a:lnTo>
                      <a:pt x="261378" y="316978"/>
                    </a:lnTo>
                    <a:lnTo>
                      <a:pt x="261310" y="316978"/>
                    </a:lnTo>
                    <a:close/>
                  </a:path>
                </a:pathLst>
              </a:custGeom>
              <a:grpFill/>
              <a:ln w="1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6" name="图形 20"/>
            <p:cNvGrpSpPr/>
            <p:nvPr/>
          </p:nvGrpSpPr>
          <p:grpSpPr>
            <a:xfrm>
              <a:off x="4058550" y="3302399"/>
              <a:ext cx="478126" cy="270223"/>
              <a:chOff x="3976109" y="1393412"/>
              <a:chExt cx="478126" cy="270223"/>
            </a:xfrm>
            <a:solidFill>
              <a:srgbClr val="1178FE"/>
            </a:solidFill>
          </p:grpSpPr>
          <p:sp>
            <p:nvSpPr>
              <p:cNvPr id="27" name="任意形状 26"/>
              <p:cNvSpPr/>
              <p:nvPr/>
            </p:nvSpPr>
            <p:spPr>
              <a:xfrm>
                <a:off x="3985813" y="1643954"/>
                <a:ext cx="83545" cy="19681"/>
              </a:xfrm>
              <a:custGeom>
                <a:avLst/>
                <a:gdLst>
                  <a:gd name="connsiteX0" fmla="*/ 73688 w 83545"/>
                  <a:gd name="connsiteY0" fmla="*/ 19681 h 19681"/>
                  <a:gd name="connsiteX1" fmla="*/ 9858 w 83545"/>
                  <a:gd name="connsiteY1" fmla="*/ 19681 h 19681"/>
                  <a:gd name="connsiteX2" fmla="*/ 0 w 83545"/>
                  <a:gd name="connsiteY2" fmla="*/ 9841 h 19681"/>
                  <a:gd name="connsiteX3" fmla="*/ 0 w 83545"/>
                  <a:gd name="connsiteY3" fmla="*/ 9841 h 19681"/>
                  <a:gd name="connsiteX4" fmla="*/ 9858 w 83545"/>
                  <a:gd name="connsiteY4" fmla="*/ 0 h 19681"/>
                  <a:gd name="connsiteX5" fmla="*/ 73688 w 83545"/>
                  <a:gd name="connsiteY5" fmla="*/ 0 h 19681"/>
                  <a:gd name="connsiteX6" fmla="*/ 83546 w 83545"/>
                  <a:gd name="connsiteY6" fmla="*/ 9841 h 19681"/>
                  <a:gd name="connsiteX7" fmla="*/ 83546 w 83545"/>
                  <a:gd name="connsiteY7" fmla="*/ 9841 h 19681"/>
                  <a:gd name="connsiteX8" fmla="*/ 73688 w 83545"/>
                  <a:gd name="connsiteY8" fmla="*/ 19681 h 19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545" h="19681">
                    <a:moveTo>
                      <a:pt x="73688" y="19681"/>
                    </a:moveTo>
                    <a:lnTo>
                      <a:pt x="9858" y="19681"/>
                    </a:lnTo>
                    <a:cubicBezTo>
                      <a:pt x="4407" y="19681"/>
                      <a:pt x="0" y="15268"/>
                      <a:pt x="0" y="9841"/>
                    </a:cubicBezTo>
                    <a:lnTo>
                      <a:pt x="0" y="9841"/>
                    </a:lnTo>
                    <a:cubicBezTo>
                      <a:pt x="0" y="4400"/>
                      <a:pt x="4407" y="0"/>
                      <a:pt x="9858" y="0"/>
                    </a:cubicBezTo>
                    <a:lnTo>
                      <a:pt x="73688" y="0"/>
                    </a:lnTo>
                    <a:cubicBezTo>
                      <a:pt x="79138" y="0"/>
                      <a:pt x="83546" y="4414"/>
                      <a:pt x="83546" y="9841"/>
                    </a:cubicBezTo>
                    <a:lnTo>
                      <a:pt x="83546" y="9841"/>
                    </a:lnTo>
                    <a:cubicBezTo>
                      <a:pt x="83546" y="15282"/>
                      <a:pt x="79125" y="19681"/>
                      <a:pt x="73688" y="19681"/>
                    </a:cubicBez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任意形状 27"/>
              <p:cNvSpPr/>
              <p:nvPr/>
            </p:nvSpPr>
            <p:spPr>
              <a:xfrm>
                <a:off x="4364599" y="1643954"/>
                <a:ext cx="83545" cy="19681"/>
              </a:xfrm>
              <a:custGeom>
                <a:avLst/>
                <a:gdLst>
                  <a:gd name="connsiteX0" fmla="*/ 73688 w 83545"/>
                  <a:gd name="connsiteY0" fmla="*/ 19681 h 19681"/>
                  <a:gd name="connsiteX1" fmla="*/ 9858 w 83545"/>
                  <a:gd name="connsiteY1" fmla="*/ 19681 h 19681"/>
                  <a:gd name="connsiteX2" fmla="*/ 0 w 83545"/>
                  <a:gd name="connsiteY2" fmla="*/ 9841 h 19681"/>
                  <a:gd name="connsiteX3" fmla="*/ 0 w 83545"/>
                  <a:gd name="connsiteY3" fmla="*/ 9841 h 19681"/>
                  <a:gd name="connsiteX4" fmla="*/ 9858 w 83545"/>
                  <a:gd name="connsiteY4" fmla="*/ 0 h 19681"/>
                  <a:gd name="connsiteX5" fmla="*/ 73688 w 83545"/>
                  <a:gd name="connsiteY5" fmla="*/ 0 h 19681"/>
                  <a:gd name="connsiteX6" fmla="*/ 83546 w 83545"/>
                  <a:gd name="connsiteY6" fmla="*/ 9841 h 19681"/>
                  <a:gd name="connsiteX7" fmla="*/ 83546 w 83545"/>
                  <a:gd name="connsiteY7" fmla="*/ 9841 h 19681"/>
                  <a:gd name="connsiteX8" fmla="*/ 73688 w 83545"/>
                  <a:gd name="connsiteY8" fmla="*/ 19681 h 19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545" h="19681">
                    <a:moveTo>
                      <a:pt x="73688" y="19681"/>
                    </a:moveTo>
                    <a:lnTo>
                      <a:pt x="9858" y="19681"/>
                    </a:lnTo>
                    <a:cubicBezTo>
                      <a:pt x="4407" y="19681"/>
                      <a:pt x="0" y="15268"/>
                      <a:pt x="0" y="9841"/>
                    </a:cubicBezTo>
                    <a:lnTo>
                      <a:pt x="0" y="9841"/>
                    </a:lnTo>
                    <a:cubicBezTo>
                      <a:pt x="0" y="4400"/>
                      <a:pt x="4421" y="0"/>
                      <a:pt x="9858" y="0"/>
                    </a:cubicBezTo>
                    <a:lnTo>
                      <a:pt x="73688" y="0"/>
                    </a:lnTo>
                    <a:cubicBezTo>
                      <a:pt x="79138" y="0"/>
                      <a:pt x="83546" y="4414"/>
                      <a:pt x="83546" y="9841"/>
                    </a:cubicBezTo>
                    <a:lnTo>
                      <a:pt x="83546" y="9841"/>
                    </a:lnTo>
                    <a:cubicBezTo>
                      <a:pt x="83546" y="15282"/>
                      <a:pt x="79138" y="19681"/>
                      <a:pt x="73688" y="19681"/>
                    </a:cubicBez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任意形状 28"/>
              <p:cNvSpPr/>
              <p:nvPr/>
            </p:nvSpPr>
            <p:spPr>
              <a:xfrm>
                <a:off x="4074462" y="1643954"/>
                <a:ext cx="286216" cy="19681"/>
              </a:xfrm>
              <a:custGeom>
                <a:avLst/>
                <a:gdLst>
                  <a:gd name="connsiteX0" fmla="*/ 276359 w 286216"/>
                  <a:gd name="connsiteY0" fmla="*/ 19681 h 19681"/>
                  <a:gd name="connsiteX1" fmla="*/ 9858 w 286216"/>
                  <a:gd name="connsiteY1" fmla="*/ 19681 h 19681"/>
                  <a:gd name="connsiteX2" fmla="*/ 0 w 286216"/>
                  <a:gd name="connsiteY2" fmla="*/ 9841 h 19681"/>
                  <a:gd name="connsiteX3" fmla="*/ 0 w 286216"/>
                  <a:gd name="connsiteY3" fmla="*/ 9841 h 19681"/>
                  <a:gd name="connsiteX4" fmla="*/ 9858 w 286216"/>
                  <a:gd name="connsiteY4" fmla="*/ 0 h 19681"/>
                  <a:gd name="connsiteX5" fmla="*/ 276359 w 286216"/>
                  <a:gd name="connsiteY5" fmla="*/ 0 h 19681"/>
                  <a:gd name="connsiteX6" fmla="*/ 286217 w 286216"/>
                  <a:gd name="connsiteY6" fmla="*/ 9841 h 19681"/>
                  <a:gd name="connsiteX7" fmla="*/ 286217 w 286216"/>
                  <a:gd name="connsiteY7" fmla="*/ 9841 h 19681"/>
                  <a:gd name="connsiteX8" fmla="*/ 276359 w 286216"/>
                  <a:gd name="connsiteY8" fmla="*/ 19681 h 19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216" h="19681">
                    <a:moveTo>
                      <a:pt x="276359" y="19681"/>
                    </a:moveTo>
                    <a:lnTo>
                      <a:pt x="9858" y="19681"/>
                    </a:lnTo>
                    <a:cubicBezTo>
                      <a:pt x="4407" y="19681"/>
                      <a:pt x="0" y="15268"/>
                      <a:pt x="0" y="9841"/>
                    </a:cubicBezTo>
                    <a:lnTo>
                      <a:pt x="0" y="9841"/>
                    </a:lnTo>
                    <a:cubicBezTo>
                      <a:pt x="0" y="4400"/>
                      <a:pt x="4407" y="0"/>
                      <a:pt x="9858" y="0"/>
                    </a:cubicBezTo>
                    <a:lnTo>
                      <a:pt x="276359" y="0"/>
                    </a:lnTo>
                    <a:cubicBezTo>
                      <a:pt x="281809" y="0"/>
                      <a:pt x="286217" y="4414"/>
                      <a:pt x="286217" y="9841"/>
                    </a:cubicBezTo>
                    <a:lnTo>
                      <a:pt x="286217" y="9841"/>
                    </a:lnTo>
                    <a:cubicBezTo>
                      <a:pt x="286217" y="15282"/>
                      <a:pt x="281795" y="19681"/>
                      <a:pt x="276359" y="19681"/>
                    </a:cubicBez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任意形状 29"/>
              <p:cNvSpPr/>
              <p:nvPr/>
            </p:nvSpPr>
            <p:spPr>
              <a:xfrm>
                <a:off x="3998020" y="1532264"/>
                <a:ext cx="19006" cy="122738"/>
              </a:xfrm>
              <a:custGeom>
                <a:avLst/>
                <a:gdLst>
                  <a:gd name="connsiteX0" fmla="*/ 0 w 19006"/>
                  <a:gd name="connsiteY0" fmla="*/ 0 h 122738"/>
                  <a:gd name="connsiteX1" fmla="*/ 19006 w 19006"/>
                  <a:gd name="connsiteY1" fmla="*/ 0 h 122738"/>
                  <a:gd name="connsiteX2" fmla="*/ 19006 w 19006"/>
                  <a:gd name="connsiteY2" fmla="*/ 122738 h 122738"/>
                  <a:gd name="connsiteX3" fmla="*/ 0 w 19006"/>
                  <a:gd name="connsiteY3" fmla="*/ 122738 h 12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06" h="122738">
                    <a:moveTo>
                      <a:pt x="0" y="0"/>
                    </a:moveTo>
                    <a:lnTo>
                      <a:pt x="19006" y="0"/>
                    </a:lnTo>
                    <a:lnTo>
                      <a:pt x="19006" y="122738"/>
                    </a:lnTo>
                    <a:lnTo>
                      <a:pt x="0" y="122738"/>
                    </a:ln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任意形状 30"/>
              <p:cNvSpPr/>
              <p:nvPr/>
            </p:nvSpPr>
            <p:spPr>
              <a:xfrm>
                <a:off x="4081761" y="1532264"/>
                <a:ext cx="19006" cy="122738"/>
              </a:xfrm>
              <a:custGeom>
                <a:avLst/>
                <a:gdLst>
                  <a:gd name="connsiteX0" fmla="*/ 0 w 19006"/>
                  <a:gd name="connsiteY0" fmla="*/ 0 h 122738"/>
                  <a:gd name="connsiteX1" fmla="*/ 19006 w 19006"/>
                  <a:gd name="connsiteY1" fmla="*/ 0 h 122738"/>
                  <a:gd name="connsiteX2" fmla="*/ 19006 w 19006"/>
                  <a:gd name="connsiteY2" fmla="*/ 122738 h 122738"/>
                  <a:gd name="connsiteX3" fmla="*/ 0 w 19006"/>
                  <a:gd name="connsiteY3" fmla="*/ 122738 h 12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06" h="122738">
                    <a:moveTo>
                      <a:pt x="0" y="0"/>
                    </a:moveTo>
                    <a:lnTo>
                      <a:pt x="19006" y="0"/>
                    </a:lnTo>
                    <a:lnTo>
                      <a:pt x="19006" y="122738"/>
                    </a:lnTo>
                    <a:lnTo>
                      <a:pt x="0" y="122738"/>
                    </a:ln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任意形状 31"/>
              <p:cNvSpPr/>
              <p:nvPr/>
            </p:nvSpPr>
            <p:spPr>
              <a:xfrm>
                <a:off x="4332927" y="1532264"/>
                <a:ext cx="19006" cy="122738"/>
              </a:xfrm>
              <a:custGeom>
                <a:avLst/>
                <a:gdLst>
                  <a:gd name="connsiteX0" fmla="*/ 0 w 19006"/>
                  <a:gd name="connsiteY0" fmla="*/ 0 h 122738"/>
                  <a:gd name="connsiteX1" fmla="*/ 19006 w 19006"/>
                  <a:gd name="connsiteY1" fmla="*/ 0 h 122738"/>
                  <a:gd name="connsiteX2" fmla="*/ 19006 w 19006"/>
                  <a:gd name="connsiteY2" fmla="*/ 122738 h 122738"/>
                  <a:gd name="connsiteX3" fmla="*/ 0 w 19006"/>
                  <a:gd name="connsiteY3" fmla="*/ 122738 h 12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06" h="122738">
                    <a:moveTo>
                      <a:pt x="0" y="0"/>
                    </a:moveTo>
                    <a:lnTo>
                      <a:pt x="19006" y="0"/>
                    </a:lnTo>
                    <a:lnTo>
                      <a:pt x="19006" y="122738"/>
                    </a:lnTo>
                    <a:lnTo>
                      <a:pt x="0" y="122738"/>
                    </a:ln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任意形状 32"/>
              <p:cNvSpPr/>
              <p:nvPr/>
            </p:nvSpPr>
            <p:spPr>
              <a:xfrm>
                <a:off x="4058042" y="1393412"/>
                <a:ext cx="313189" cy="155327"/>
              </a:xfrm>
              <a:custGeom>
                <a:avLst/>
                <a:gdLst>
                  <a:gd name="connsiteX0" fmla="*/ 313189 w 313189"/>
                  <a:gd name="connsiteY0" fmla="*/ 155328 h 155327"/>
                  <a:gd name="connsiteX1" fmla="*/ 156650 w 313189"/>
                  <a:gd name="connsiteY1" fmla="*/ 111 h 155327"/>
                  <a:gd name="connsiteX2" fmla="*/ 156650 w 313189"/>
                  <a:gd name="connsiteY2" fmla="*/ 0 h 155327"/>
                  <a:gd name="connsiteX3" fmla="*/ 156595 w 313189"/>
                  <a:gd name="connsiteY3" fmla="*/ 56 h 155327"/>
                  <a:gd name="connsiteX4" fmla="*/ 156539 w 313189"/>
                  <a:gd name="connsiteY4" fmla="*/ 0 h 155327"/>
                  <a:gd name="connsiteX5" fmla="*/ 156539 w 313189"/>
                  <a:gd name="connsiteY5" fmla="*/ 111 h 155327"/>
                  <a:gd name="connsiteX6" fmla="*/ 0 w 313189"/>
                  <a:gd name="connsiteY6" fmla="*/ 155328 h 155327"/>
                  <a:gd name="connsiteX7" fmla="*/ 25638 w 313189"/>
                  <a:gd name="connsiteY7" fmla="*/ 155328 h 155327"/>
                  <a:gd name="connsiteX8" fmla="*/ 156595 w 313189"/>
                  <a:gd name="connsiteY8" fmla="*/ 28384 h 155327"/>
                  <a:gd name="connsiteX9" fmla="*/ 287537 w 313189"/>
                  <a:gd name="connsiteY9" fmla="*/ 155328 h 155327"/>
                  <a:gd name="connsiteX10" fmla="*/ 313189 w 313189"/>
                  <a:gd name="connsiteY10" fmla="*/ 155328 h 155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3189" h="155327">
                    <a:moveTo>
                      <a:pt x="313189" y="155328"/>
                    </a:moveTo>
                    <a:lnTo>
                      <a:pt x="156650" y="111"/>
                    </a:lnTo>
                    <a:lnTo>
                      <a:pt x="156650" y="0"/>
                    </a:lnTo>
                    <a:lnTo>
                      <a:pt x="156595" y="56"/>
                    </a:lnTo>
                    <a:lnTo>
                      <a:pt x="156539" y="0"/>
                    </a:lnTo>
                    <a:lnTo>
                      <a:pt x="156539" y="111"/>
                    </a:lnTo>
                    <a:lnTo>
                      <a:pt x="0" y="155328"/>
                    </a:lnTo>
                    <a:lnTo>
                      <a:pt x="25638" y="155328"/>
                    </a:lnTo>
                    <a:lnTo>
                      <a:pt x="156595" y="28384"/>
                    </a:lnTo>
                    <a:lnTo>
                      <a:pt x="287537" y="155328"/>
                    </a:lnTo>
                    <a:lnTo>
                      <a:pt x="313189" y="155328"/>
                    </a:ln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任意形状 33"/>
              <p:cNvSpPr/>
              <p:nvPr/>
            </p:nvSpPr>
            <p:spPr>
              <a:xfrm>
                <a:off x="3976109" y="1393412"/>
                <a:ext cx="180077" cy="155327"/>
              </a:xfrm>
              <a:custGeom>
                <a:avLst/>
                <a:gdLst>
                  <a:gd name="connsiteX0" fmla="*/ 180078 w 180077"/>
                  <a:gd name="connsiteY0" fmla="*/ 23332 h 155327"/>
                  <a:gd name="connsiteX1" fmla="*/ 156650 w 180077"/>
                  <a:gd name="connsiteY1" fmla="*/ 111 h 155327"/>
                  <a:gd name="connsiteX2" fmla="*/ 156650 w 180077"/>
                  <a:gd name="connsiteY2" fmla="*/ 0 h 155327"/>
                  <a:gd name="connsiteX3" fmla="*/ 156595 w 180077"/>
                  <a:gd name="connsiteY3" fmla="*/ 56 h 155327"/>
                  <a:gd name="connsiteX4" fmla="*/ 156539 w 180077"/>
                  <a:gd name="connsiteY4" fmla="*/ 0 h 155327"/>
                  <a:gd name="connsiteX5" fmla="*/ 156539 w 180077"/>
                  <a:gd name="connsiteY5" fmla="*/ 111 h 155327"/>
                  <a:gd name="connsiteX6" fmla="*/ 0 w 180077"/>
                  <a:gd name="connsiteY6" fmla="*/ 155328 h 155327"/>
                  <a:gd name="connsiteX7" fmla="*/ 25638 w 180077"/>
                  <a:gd name="connsiteY7" fmla="*/ 155328 h 155327"/>
                  <a:gd name="connsiteX8" fmla="*/ 156595 w 180077"/>
                  <a:gd name="connsiteY8" fmla="*/ 28384 h 155327"/>
                  <a:gd name="connsiteX9" fmla="*/ 165701 w 180077"/>
                  <a:gd name="connsiteY9" fmla="*/ 37198 h 155327"/>
                  <a:gd name="connsiteX10" fmla="*/ 180078 w 180077"/>
                  <a:gd name="connsiteY10" fmla="*/ 23332 h 155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0077" h="155327">
                    <a:moveTo>
                      <a:pt x="180078" y="23332"/>
                    </a:moveTo>
                    <a:lnTo>
                      <a:pt x="156650" y="111"/>
                    </a:lnTo>
                    <a:lnTo>
                      <a:pt x="156650" y="0"/>
                    </a:lnTo>
                    <a:lnTo>
                      <a:pt x="156595" y="56"/>
                    </a:lnTo>
                    <a:lnTo>
                      <a:pt x="156539" y="0"/>
                    </a:lnTo>
                    <a:lnTo>
                      <a:pt x="156539" y="111"/>
                    </a:lnTo>
                    <a:lnTo>
                      <a:pt x="0" y="155328"/>
                    </a:lnTo>
                    <a:lnTo>
                      <a:pt x="25638" y="155328"/>
                    </a:lnTo>
                    <a:lnTo>
                      <a:pt x="156595" y="28384"/>
                    </a:lnTo>
                    <a:lnTo>
                      <a:pt x="165701" y="37198"/>
                    </a:lnTo>
                    <a:lnTo>
                      <a:pt x="180078" y="23332"/>
                    </a:ln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任意形状 34"/>
              <p:cNvSpPr/>
              <p:nvPr/>
            </p:nvSpPr>
            <p:spPr>
              <a:xfrm>
                <a:off x="4270403" y="1393412"/>
                <a:ext cx="183831" cy="155327"/>
              </a:xfrm>
              <a:custGeom>
                <a:avLst/>
                <a:gdLst>
                  <a:gd name="connsiteX0" fmla="*/ 183832 w 183831"/>
                  <a:gd name="connsiteY0" fmla="*/ 155328 h 155327"/>
                  <a:gd name="connsiteX1" fmla="*/ 27292 w 183831"/>
                  <a:gd name="connsiteY1" fmla="*/ 111 h 155327"/>
                  <a:gd name="connsiteX2" fmla="*/ 27292 w 183831"/>
                  <a:gd name="connsiteY2" fmla="*/ 0 h 155327"/>
                  <a:gd name="connsiteX3" fmla="*/ 27237 w 183831"/>
                  <a:gd name="connsiteY3" fmla="*/ 56 h 155327"/>
                  <a:gd name="connsiteX4" fmla="*/ 27181 w 183831"/>
                  <a:gd name="connsiteY4" fmla="*/ 0 h 155327"/>
                  <a:gd name="connsiteX5" fmla="*/ 27181 w 183831"/>
                  <a:gd name="connsiteY5" fmla="*/ 111 h 155327"/>
                  <a:gd name="connsiteX6" fmla="*/ 0 w 183831"/>
                  <a:gd name="connsiteY6" fmla="*/ 27038 h 155327"/>
                  <a:gd name="connsiteX7" fmla="*/ 14460 w 183831"/>
                  <a:gd name="connsiteY7" fmla="*/ 40862 h 155327"/>
                  <a:gd name="connsiteX8" fmla="*/ 27237 w 183831"/>
                  <a:gd name="connsiteY8" fmla="*/ 28384 h 155327"/>
                  <a:gd name="connsiteX9" fmla="*/ 158180 w 183831"/>
                  <a:gd name="connsiteY9" fmla="*/ 155328 h 155327"/>
                  <a:gd name="connsiteX10" fmla="*/ 183832 w 183831"/>
                  <a:gd name="connsiteY10" fmla="*/ 155328 h 155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3831" h="155327">
                    <a:moveTo>
                      <a:pt x="183832" y="155328"/>
                    </a:moveTo>
                    <a:lnTo>
                      <a:pt x="27292" y="111"/>
                    </a:lnTo>
                    <a:lnTo>
                      <a:pt x="27292" y="0"/>
                    </a:lnTo>
                    <a:lnTo>
                      <a:pt x="27237" y="56"/>
                    </a:lnTo>
                    <a:lnTo>
                      <a:pt x="27181" y="0"/>
                    </a:lnTo>
                    <a:lnTo>
                      <a:pt x="27181" y="111"/>
                    </a:lnTo>
                    <a:lnTo>
                      <a:pt x="0" y="27038"/>
                    </a:lnTo>
                    <a:lnTo>
                      <a:pt x="14460" y="40862"/>
                    </a:lnTo>
                    <a:lnTo>
                      <a:pt x="27237" y="28384"/>
                    </a:lnTo>
                    <a:lnTo>
                      <a:pt x="158180" y="155328"/>
                    </a:lnTo>
                    <a:lnTo>
                      <a:pt x="183832" y="155328"/>
                    </a:ln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任意形状 35"/>
              <p:cNvSpPr/>
              <p:nvPr/>
            </p:nvSpPr>
            <p:spPr>
              <a:xfrm>
                <a:off x="4417140" y="1532264"/>
                <a:ext cx="19006" cy="122738"/>
              </a:xfrm>
              <a:custGeom>
                <a:avLst/>
                <a:gdLst>
                  <a:gd name="connsiteX0" fmla="*/ 0 w 19006"/>
                  <a:gd name="connsiteY0" fmla="*/ 0 h 122738"/>
                  <a:gd name="connsiteX1" fmla="*/ 19006 w 19006"/>
                  <a:gd name="connsiteY1" fmla="*/ 0 h 122738"/>
                  <a:gd name="connsiteX2" fmla="*/ 19006 w 19006"/>
                  <a:gd name="connsiteY2" fmla="*/ 122738 h 122738"/>
                  <a:gd name="connsiteX3" fmla="*/ 0 w 19006"/>
                  <a:gd name="connsiteY3" fmla="*/ 122738 h 122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06" h="122738">
                    <a:moveTo>
                      <a:pt x="0" y="0"/>
                    </a:moveTo>
                    <a:lnTo>
                      <a:pt x="19006" y="0"/>
                    </a:lnTo>
                    <a:lnTo>
                      <a:pt x="19006" y="122738"/>
                    </a:lnTo>
                    <a:lnTo>
                      <a:pt x="0" y="122738"/>
                    </a:ln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任意形状 36"/>
              <p:cNvSpPr/>
              <p:nvPr/>
            </p:nvSpPr>
            <p:spPr>
              <a:xfrm>
                <a:off x="4202323" y="1546898"/>
                <a:ext cx="24667" cy="24625"/>
              </a:xfrm>
              <a:custGeom>
                <a:avLst/>
                <a:gdLst>
                  <a:gd name="connsiteX0" fmla="*/ 24437 w 24667"/>
                  <a:gd name="connsiteY0" fmla="*/ 9905 h 24625"/>
                  <a:gd name="connsiteX1" fmla="*/ 9922 w 24667"/>
                  <a:gd name="connsiteY1" fmla="*/ 24395 h 24625"/>
                  <a:gd name="connsiteX2" fmla="*/ 231 w 24667"/>
                  <a:gd name="connsiteY2" fmla="*/ 14721 h 24625"/>
                  <a:gd name="connsiteX3" fmla="*/ 14746 w 24667"/>
                  <a:gd name="connsiteY3" fmla="*/ 231 h 24625"/>
                  <a:gd name="connsiteX4" fmla="*/ 24437 w 24667"/>
                  <a:gd name="connsiteY4" fmla="*/ 9905 h 2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67" h="24625">
                    <a:moveTo>
                      <a:pt x="24437" y="9905"/>
                    </a:moveTo>
                    <a:cubicBezTo>
                      <a:pt x="26091" y="18580"/>
                      <a:pt x="18611" y="26047"/>
                      <a:pt x="9922" y="24395"/>
                    </a:cubicBezTo>
                    <a:cubicBezTo>
                      <a:pt x="5069" y="23479"/>
                      <a:pt x="1149" y="19565"/>
                      <a:pt x="231" y="14721"/>
                    </a:cubicBezTo>
                    <a:cubicBezTo>
                      <a:pt x="-1423" y="6046"/>
                      <a:pt x="6057" y="-1421"/>
                      <a:pt x="14746" y="231"/>
                    </a:cubicBezTo>
                    <a:cubicBezTo>
                      <a:pt x="19599" y="1147"/>
                      <a:pt x="23519" y="5061"/>
                      <a:pt x="24437" y="9905"/>
                    </a:cubicBez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任意形状 37"/>
              <p:cNvSpPr/>
              <p:nvPr/>
            </p:nvSpPr>
            <p:spPr>
              <a:xfrm>
                <a:off x="4149346" y="1497343"/>
                <a:ext cx="126549" cy="126319"/>
              </a:xfrm>
              <a:custGeom>
                <a:avLst/>
                <a:gdLst>
                  <a:gd name="connsiteX0" fmla="*/ 121238 w 126549"/>
                  <a:gd name="connsiteY0" fmla="*/ 52632 h 126319"/>
                  <a:gd name="connsiteX1" fmla="*/ 111534 w 126549"/>
                  <a:gd name="connsiteY1" fmla="*/ 29078 h 126319"/>
                  <a:gd name="connsiteX2" fmla="*/ 115079 w 126549"/>
                  <a:gd name="connsiteY2" fmla="*/ 25539 h 126319"/>
                  <a:gd name="connsiteX3" fmla="*/ 100564 w 126549"/>
                  <a:gd name="connsiteY3" fmla="*/ 11048 h 126319"/>
                  <a:gd name="connsiteX4" fmla="*/ 96838 w 126549"/>
                  <a:gd name="connsiteY4" fmla="*/ 14768 h 126319"/>
                  <a:gd name="connsiteX5" fmla="*/ 73827 w 126549"/>
                  <a:gd name="connsiteY5" fmla="*/ 5927 h 126319"/>
                  <a:gd name="connsiteX6" fmla="*/ 73827 w 126549"/>
                  <a:gd name="connsiteY6" fmla="*/ 0 h 126319"/>
                  <a:gd name="connsiteX7" fmla="*/ 53292 w 126549"/>
                  <a:gd name="connsiteY7" fmla="*/ 0 h 126319"/>
                  <a:gd name="connsiteX8" fmla="*/ 53292 w 126549"/>
                  <a:gd name="connsiteY8" fmla="*/ 6523 h 126319"/>
                  <a:gd name="connsiteX9" fmla="*/ 31450 w 126549"/>
                  <a:gd name="connsiteY9" fmla="*/ 16489 h 126319"/>
                  <a:gd name="connsiteX10" fmla="*/ 25999 w 126549"/>
                  <a:gd name="connsiteY10" fmla="*/ 11048 h 126319"/>
                  <a:gd name="connsiteX11" fmla="*/ 11470 w 126549"/>
                  <a:gd name="connsiteY11" fmla="*/ 25539 h 126319"/>
                  <a:gd name="connsiteX12" fmla="*/ 17449 w 126549"/>
                  <a:gd name="connsiteY12" fmla="*/ 31507 h 126319"/>
                  <a:gd name="connsiteX13" fmla="*/ 9385 w 126549"/>
                  <a:gd name="connsiteY13" fmla="*/ 52632 h 126319"/>
                  <a:gd name="connsiteX14" fmla="*/ 0 w 126549"/>
                  <a:gd name="connsiteY14" fmla="*/ 52632 h 126319"/>
                  <a:gd name="connsiteX15" fmla="*/ 0 w 126549"/>
                  <a:gd name="connsiteY15" fmla="*/ 73132 h 126319"/>
                  <a:gd name="connsiteX16" fmla="*/ 9691 w 126549"/>
                  <a:gd name="connsiteY16" fmla="*/ 73132 h 126319"/>
                  <a:gd name="connsiteX17" fmla="*/ 18130 w 126549"/>
                  <a:gd name="connsiteY17" fmla="*/ 93341 h 126319"/>
                  <a:gd name="connsiteX18" fmla="*/ 11081 w 126549"/>
                  <a:gd name="connsiteY18" fmla="*/ 100378 h 126319"/>
                  <a:gd name="connsiteX19" fmla="*/ 25596 w 126549"/>
                  <a:gd name="connsiteY19" fmla="*/ 114868 h 126319"/>
                  <a:gd name="connsiteX20" fmla="*/ 32465 w 126549"/>
                  <a:gd name="connsiteY20" fmla="*/ 108012 h 126319"/>
                  <a:gd name="connsiteX21" fmla="*/ 53278 w 126549"/>
                  <a:gd name="connsiteY21" fmla="*/ 117214 h 126319"/>
                  <a:gd name="connsiteX22" fmla="*/ 53278 w 126549"/>
                  <a:gd name="connsiteY22" fmla="*/ 126319 h 126319"/>
                  <a:gd name="connsiteX23" fmla="*/ 73813 w 126549"/>
                  <a:gd name="connsiteY23" fmla="*/ 126319 h 126319"/>
                  <a:gd name="connsiteX24" fmla="*/ 73813 w 126549"/>
                  <a:gd name="connsiteY24" fmla="*/ 117811 h 126319"/>
                  <a:gd name="connsiteX25" fmla="*/ 95711 w 126549"/>
                  <a:gd name="connsiteY25" fmla="*/ 109650 h 126319"/>
                  <a:gd name="connsiteX26" fmla="*/ 100953 w 126549"/>
                  <a:gd name="connsiteY26" fmla="*/ 114882 h 126319"/>
                  <a:gd name="connsiteX27" fmla="*/ 115468 w 126549"/>
                  <a:gd name="connsiteY27" fmla="*/ 100392 h 126319"/>
                  <a:gd name="connsiteX28" fmla="*/ 110769 w 126549"/>
                  <a:gd name="connsiteY28" fmla="*/ 95687 h 126319"/>
                  <a:gd name="connsiteX29" fmla="*/ 120932 w 126549"/>
                  <a:gd name="connsiteY29" fmla="*/ 73132 h 126319"/>
                  <a:gd name="connsiteX30" fmla="*/ 126549 w 126549"/>
                  <a:gd name="connsiteY30" fmla="*/ 73132 h 126319"/>
                  <a:gd name="connsiteX31" fmla="*/ 126549 w 126549"/>
                  <a:gd name="connsiteY31" fmla="*/ 52632 h 126319"/>
                  <a:gd name="connsiteX32" fmla="*/ 121238 w 126549"/>
                  <a:gd name="connsiteY32" fmla="*/ 52632 h 126319"/>
                  <a:gd name="connsiteX33" fmla="*/ 94363 w 126549"/>
                  <a:gd name="connsiteY33" fmla="*/ 79309 h 126319"/>
                  <a:gd name="connsiteX34" fmla="*/ 78972 w 126549"/>
                  <a:gd name="connsiteY34" fmla="*/ 92938 h 126319"/>
                  <a:gd name="connsiteX35" fmla="*/ 73813 w 126549"/>
                  <a:gd name="connsiteY35" fmla="*/ 94632 h 126319"/>
                  <a:gd name="connsiteX36" fmla="*/ 65305 w 126549"/>
                  <a:gd name="connsiteY36" fmla="*/ 95839 h 126319"/>
                  <a:gd name="connsiteX37" fmla="*/ 53278 w 126549"/>
                  <a:gd name="connsiteY37" fmla="*/ 93549 h 126319"/>
                  <a:gd name="connsiteX38" fmla="*/ 48996 w 126549"/>
                  <a:gd name="connsiteY38" fmla="*/ 91509 h 126319"/>
                  <a:gd name="connsiteX39" fmla="*/ 34814 w 126549"/>
                  <a:gd name="connsiteY39" fmla="*/ 76685 h 126319"/>
                  <a:gd name="connsiteX40" fmla="*/ 33341 w 126549"/>
                  <a:gd name="connsiteY40" fmla="*/ 73146 h 126319"/>
                  <a:gd name="connsiteX41" fmla="*/ 31269 w 126549"/>
                  <a:gd name="connsiteY41" fmla="*/ 61890 h 126319"/>
                  <a:gd name="connsiteX42" fmla="*/ 32701 w 126549"/>
                  <a:gd name="connsiteY42" fmla="*/ 52660 h 126319"/>
                  <a:gd name="connsiteX43" fmla="*/ 34161 w 126549"/>
                  <a:gd name="connsiteY43" fmla="*/ 48260 h 126319"/>
                  <a:gd name="connsiteX44" fmla="*/ 47814 w 126549"/>
                  <a:gd name="connsiteY44" fmla="*/ 32895 h 126319"/>
                  <a:gd name="connsiteX45" fmla="*/ 53250 w 126549"/>
                  <a:gd name="connsiteY45" fmla="*/ 30230 h 126319"/>
                  <a:gd name="connsiteX46" fmla="*/ 65277 w 126549"/>
                  <a:gd name="connsiteY46" fmla="*/ 27940 h 126319"/>
                  <a:gd name="connsiteX47" fmla="*/ 73786 w 126549"/>
                  <a:gd name="connsiteY47" fmla="*/ 29147 h 126319"/>
                  <a:gd name="connsiteX48" fmla="*/ 80098 w 126549"/>
                  <a:gd name="connsiteY48" fmla="*/ 31479 h 126319"/>
                  <a:gd name="connsiteX49" fmla="*/ 94961 w 126549"/>
                  <a:gd name="connsiteY49" fmla="*/ 45636 h 126319"/>
                  <a:gd name="connsiteX50" fmla="*/ 97853 w 126549"/>
                  <a:gd name="connsiteY50" fmla="*/ 52673 h 126319"/>
                  <a:gd name="connsiteX51" fmla="*/ 99285 w 126549"/>
                  <a:gd name="connsiteY51" fmla="*/ 61903 h 126319"/>
                  <a:gd name="connsiteX52" fmla="*/ 97213 w 126549"/>
                  <a:gd name="connsiteY52" fmla="*/ 73160 h 126319"/>
                  <a:gd name="connsiteX53" fmla="*/ 94307 w 126549"/>
                  <a:gd name="connsiteY53" fmla="*/ 79336 h 126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26549" h="126319">
                    <a:moveTo>
                      <a:pt x="121238" y="52632"/>
                    </a:moveTo>
                    <a:cubicBezTo>
                      <a:pt x="119806" y="43957"/>
                      <a:pt x="116441" y="35962"/>
                      <a:pt x="111534" y="29078"/>
                    </a:cubicBezTo>
                    <a:lnTo>
                      <a:pt x="115079" y="25539"/>
                    </a:lnTo>
                    <a:lnTo>
                      <a:pt x="100564" y="11048"/>
                    </a:lnTo>
                    <a:lnTo>
                      <a:pt x="96838" y="14768"/>
                    </a:lnTo>
                    <a:cubicBezTo>
                      <a:pt x="90053" y="10243"/>
                      <a:pt x="82239" y="7190"/>
                      <a:pt x="73827" y="5927"/>
                    </a:cubicBezTo>
                    <a:lnTo>
                      <a:pt x="73827" y="0"/>
                    </a:lnTo>
                    <a:lnTo>
                      <a:pt x="53292" y="0"/>
                    </a:lnTo>
                    <a:lnTo>
                      <a:pt x="53292" y="6523"/>
                    </a:lnTo>
                    <a:cubicBezTo>
                      <a:pt x="45228" y="8258"/>
                      <a:pt x="37831" y="11728"/>
                      <a:pt x="31450" y="16489"/>
                    </a:cubicBezTo>
                    <a:lnTo>
                      <a:pt x="25999" y="11048"/>
                    </a:lnTo>
                    <a:lnTo>
                      <a:pt x="11470" y="25539"/>
                    </a:lnTo>
                    <a:lnTo>
                      <a:pt x="17449" y="31507"/>
                    </a:lnTo>
                    <a:cubicBezTo>
                      <a:pt x="13431" y="37808"/>
                      <a:pt x="10650" y="44956"/>
                      <a:pt x="9385" y="52632"/>
                    </a:cubicBezTo>
                    <a:lnTo>
                      <a:pt x="0" y="52632"/>
                    </a:lnTo>
                    <a:lnTo>
                      <a:pt x="0" y="73132"/>
                    </a:lnTo>
                    <a:lnTo>
                      <a:pt x="9691" y="73132"/>
                    </a:lnTo>
                    <a:cubicBezTo>
                      <a:pt x="11178" y="80488"/>
                      <a:pt x="14084" y="87317"/>
                      <a:pt x="18130" y="93341"/>
                    </a:cubicBezTo>
                    <a:lnTo>
                      <a:pt x="11081" y="100378"/>
                    </a:lnTo>
                    <a:lnTo>
                      <a:pt x="25596" y="114868"/>
                    </a:lnTo>
                    <a:lnTo>
                      <a:pt x="32465" y="108012"/>
                    </a:lnTo>
                    <a:cubicBezTo>
                      <a:pt x="38610" y="112384"/>
                      <a:pt x="45659" y="115576"/>
                      <a:pt x="53278" y="117214"/>
                    </a:cubicBezTo>
                    <a:lnTo>
                      <a:pt x="53278" y="126319"/>
                    </a:lnTo>
                    <a:lnTo>
                      <a:pt x="73813" y="126319"/>
                    </a:lnTo>
                    <a:lnTo>
                      <a:pt x="73813" y="117811"/>
                    </a:lnTo>
                    <a:cubicBezTo>
                      <a:pt x="81780" y="116617"/>
                      <a:pt x="89191" y="113786"/>
                      <a:pt x="95711" y="109650"/>
                    </a:cubicBezTo>
                    <a:lnTo>
                      <a:pt x="100953" y="114882"/>
                    </a:lnTo>
                    <a:lnTo>
                      <a:pt x="115468" y="100392"/>
                    </a:lnTo>
                    <a:lnTo>
                      <a:pt x="110769" y="95687"/>
                    </a:lnTo>
                    <a:cubicBezTo>
                      <a:pt x="115691" y="89122"/>
                      <a:pt x="119250" y="81474"/>
                      <a:pt x="120932" y="73132"/>
                    </a:cubicBezTo>
                    <a:lnTo>
                      <a:pt x="126549" y="73132"/>
                    </a:lnTo>
                    <a:lnTo>
                      <a:pt x="126549" y="52632"/>
                    </a:lnTo>
                    <a:lnTo>
                      <a:pt x="121238" y="52632"/>
                    </a:lnTo>
                    <a:close/>
                    <a:moveTo>
                      <a:pt x="94363" y="79309"/>
                    </a:moveTo>
                    <a:cubicBezTo>
                      <a:pt x="90748" y="85291"/>
                      <a:pt x="85437" y="90107"/>
                      <a:pt x="78972" y="92938"/>
                    </a:cubicBezTo>
                    <a:cubicBezTo>
                      <a:pt x="77331" y="93660"/>
                      <a:pt x="75579" y="94174"/>
                      <a:pt x="73813" y="94632"/>
                    </a:cubicBezTo>
                    <a:cubicBezTo>
                      <a:pt x="71074" y="95340"/>
                      <a:pt x="68252" y="95839"/>
                      <a:pt x="65305" y="95839"/>
                    </a:cubicBezTo>
                    <a:cubicBezTo>
                      <a:pt x="61064" y="95839"/>
                      <a:pt x="57032" y="94965"/>
                      <a:pt x="53278" y="93549"/>
                    </a:cubicBezTo>
                    <a:cubicBezTo>
                      <a:pt x="51790" y="92980"/>
                      <a:pt x="50386" y="92272"/>
                      <a:pt x="48996" y="91509"/>
                    </a:cubicBezTo>
                    <a:cubicBezTo>
                      <a:pt x="42850" y="88136"/>
                      <a:pt x="37901" y="82987"/>
                      <a:pt x="34814" y="76685"/>
                    </a:cubicBezTo>
                    <a:cubicBezTo>
                      <a:pt x="34258" y="75533"/>
                      <a:pt x="33772" y="74354"/>
                      <a:pt x="33341" y="73146"/>
                    </a:cubicBezTo>
                    <a:cubicBezTo>
                      <a:pt x="32089" y="69607"/>
                      <a:pt x="31269" y="65859"/>
                      <a:pt x="31269" y="61890"/>
                    </a:cubicBezTo>
                    <a:cubicBezTo>
                      <a:pt x="31269" y="58669"/>
                      <a:pt x="31867" y="55602"/>
                      <a:pt x="32701" y="52660"/>
                    </a:cubicBezTo>
                    <a:cubicBezTo>
                      <a:pt x="33118" y="51161"/>
                      <a:pt x="33549" y="49662"/>
                      <a:pt x="34161" y="48260"/>
                    </a:cubicBezTo>
                    <a:cubicBezTo>
                      <a:pt x="36997" y="41806"/>
                      <a:pt x="41822" y="36504"/>
                      <a:pt x="47814" y="32895"/>
                    </a:cubicBezTo>
                    <a:cubicBezTo>
                      <a:pt x="49538" y="31854"/>
                      <a:pt x="51345" y="30952"/>
                      <a:pt x="53250" y="30230"/>
                    </a:cubicBezTo>
                    <a:cubicBezTo>
                      <a:pt x="57004" y="28814"/>
                      <a:pt x="61022" y="27940"/>
                      <a:pt x="65277" y="27940"/>
                    </a:cubicBezTo>
                    <a:cubicBezTo>
                      <a:pt x="68238" y="27940"/>
                      <a:pt x="71047" y="28439"/>
                      <a:pt x="73786" y="29147"/>
                    </a:cubicBezTo>
                    <a:cubicBezTo>
                      <a:pt x="75982" y="29716"/>
                      <a:pt x="78096" y="30494"/>
                      <a:pt x="80098" y="31479"/>
                    </a:cubicBezTo>
                    <a:cubicBezTo>
                      <a:pt x="86424" y="34560"/>
                      <a:pt x="91582" y="39515"/>
                      <a:pt x="94961" y="45636"/>
                    </a:cubicBezTo>
                    <a:cubicBezTo>
                      <a:pt x="96184" y="47843"/>
                      <a:pt x="97157" y="50189"/>
                      <a:pt x="97853" y="52673"/>
                    </a:cubicBezTo>
                    <a:cubicBezTo>
                      <a:pt x="98687" y="55630"/>
                      <a:pt x="99285" y="58683"/>
                      <a:pt x="99285" y="61903"/>
                    </a:cubicBezTo>
                    <a:cubicBezTo>
                      <a:pt x="99285" y="65873"/>
                      <a:pt x="98478" y="69634"/>
                      <a:pt x="97213" y="73160"/>
                    </a:cubicBezTo>
                    <a:cubicBezTo>
                      <a:pt x="96434" y="75339"/>
                      <a:pt x="95489" y="77393"/>
                      <a:pt x="94307" y="79336"/>
                    </a:cubicBezTo>
                    <a:close/>
                  </a:path>
                </a:pathLst>
              </a:custGeom>
              <a:grpFill/>
              <a:ln w="13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图形 19"/>
            <p:cNvGrpSpPr/>
            <p:nvPr/>
          </p:nvGrpSpPr>
          <p:grpSpPr>
            <a:xfrm>
              <a:off x="6722578" y="3300875"/>
              <a:ext cx="477819" cy="292094"/>
              <a:chOff x="6722578" y="1388445"/>
              <a:chExt cx="477819" cy="292094"/>
            </a:xfrm>
            <a:solidFill>
              <a:srgbClr val="1178FE"/>
            </a:solidFill>
          </p:grpSpPr>
          <p:sp>
            <p:nvSpPr>
              <p:cNvPr id="40" name="任意形状 39"/>
              <p:cNvSpPr/>
              <p:nvPr/>
            </p:nvSpPr>
            <p:spPr>
              <a:xfrm>
                <a:off x="6945421" y="1415157"/>
                <a:ext cx="41268" cy="40648"/>
              </a:xfrm>
              <a:custGeom>
                <a:avLst/>
                <a:gdLst>
                  <a:gd name="connsiteX0" fmla="*/ 33210 w 41268"/>
                  <a:gd name="connsiteY0" fmla="*/ 40633 h 40648"/>
                  <a:gd name="connsiteX1" fmla="*/ 10516 w 41268"/>
                  <a:gd name="connsiteY1" fmla="*/ 40633 h 40648"/>
                  <a:gd name="connsiteX2" fmla="*/ 0 w 41268"/>
                  <a:gd name="connsiteY2" fmla="*/ 30490 h 40648"/>
                  <a:gd name="connsiteX3" fmla="*/ 0 w 41268"/>
                  <a:gd name="connsiteY3" fmla="*/ 8365 h 40648"/>
                  <a:gd name="connsiteX4" fmla="*/ 8077 w 41268"/>
                  <a:gd name="connsiteY4" fmla="*/ 0 h 40648"/>
                  <a:gd name="connsiteX5" fmla="*/ 8726 w 41268"/>
                  <a:gd name="connsiteY5" fmla="*/ 32 h 40648"/>
                  <a:gd name="connsiteX6" fmla="*/ 9439 w 41268"/>
                  <a:gd name="connsiteY6" fmla="*/ 95 h 40648"/>
                  <a:gd name="connsiteX7" fmla="*/ 41256 w 41268"/>
                  <a:gd name="connsiteY7" fmla="*/ 31808 h 40648"/>
                  <a:gd name="connsiteX8" fmla="*/ 39038 w 41268"/>
                  <a:gd name="connsiteY8" fmla="*/ 38172 h 40648"/>
                  <a:gd name="connsiteX9" fmla="*/ 33210 w 41268"/>
                  <a:gd name="connsiteY9" fmla="*/ 40648 h 40648"/>
                  <a:gd name="connsiteX10" fmla="*/ 11102 w 41268"/>
                  <a:gd name="connsiteY10" fmla="*/ 29506 h 40648"/>
                  <a:gd name="connsiteX11" fmla="*/ 29853 w 41268"/>
                  <a:gd name="connsiteY11" fmla="*/ 29506 h 40648"/>
                  <a:gd name="connsiteX12" fmla="*/ 11102 w 41268"/>
                  <a:gd name="connsiteY12" fmla="*/ 11491 h 40648"/>
                  <a:gd name="connsiteX13" fmla="*/ 11102 w 41268"/>
                  <a:gd name="connsiteY13" fmla="*/ 29506 h 40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268" h="40648">
                    <a:moveTo>
                      <a:pt x="33210" y="40633"/>
                    </a:moveTo>
                    <a:lnTo>
                      <a:pt x="10516" y="40633"/>
                    </a:lnTo>
                    <a:cubicBezTo>
                      <a:pt x="3928" y="40633"/>
                      <a:pt x="0" y="35474"/>
                      <a:pt x="0" y="30490"/>
                    </a:cubicBezTo>
                    <a:lnTo>
                      <a:pt x="0" y="8365"/>
                    </a:lnTo>
                    <a:cubicBezTo>
                      <a:pt x="0" y="2873"/>
                      <a:pt x="4054" y="0"/>
                      <a:pt x="8077" y="0"/>
                    </a:cubicBezTo>
                    <a:cubicBezTo>
                      <a:pt x="8299" y="0"/>
                      <a:pt x="8520" y="0"/>
                      <a:pt x="8726" y="32"/>
                    </a:cubicBezTo>
                    <a:cubicBezTo>
                      <a:pt x="8995" y="32"/>
                      <a:pt x="9201" y="48"/>
                      <a:pt x="9439" y="95"/>
                    </a:cubicBezTo>
                    <a:cubicBezTo>
                      <a:pt x="26717" y="1476"/>
                      <a:pt x="40369" y="15063"/>
                      <a:pt x="41256" y="31808"/>
                    </a:cubicBezTo>
                    <a:cubicBezTo>
                      <a:pt x="41382" y="34300"/>
                      <a:pt x="40590" y="36538"/>
                      <a:pt x="39038" y="38172"/>
                    </a:cubicBezTo>
                    <a:cubicBezTo>
                      <a:pt x="37581" y="39744"/>
                      <a:pt x="35459" y="40648"/>
                      <a:pt x="33210" y="40648"/>
                    </a:cubicBezTo>
                    <a:close/>
                    <a:moveTo>
                      <a:pt x="11102" y="29506"/>
                    </a:moveTo>
                    <a:lnTo>
                      <a:pt x="29853" y="29506"/>
                    </a:lnTo>
                    <a:cubicBezTo>
                      <a:pt x="28142" y="20459"/>
                      <a:pt x="20652" y="13253"/>
                      <a:pt x="11102" y="11491"/>
                    </a:cubicBezTo>
                    <a:lnTo>
                      <a:pt x="11102" y="29506"/>
                    </a:ln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任意形状 40"/>
              <p:cNvSpPr/>
              <p:nvPr/>
            </p:nvSpPr>
            <p:spPr>
              <a:xfrm>
                <a:off x="6894505" y="1423649"/>
                <a:ext cx="91465" cy="175132"/>
              </a:xfrm>
              <a:custGeom>
                <a:avLst/>
                <a:gdLst>
                  <a:gd name="connsiteX0" fmla="*/ 45737 w 91465"/>
                  <a:gd name="connsiteY0" fmla="*/ 175133 h 175132"/>
                  <a:gd name="connsiteX1" fmla="*/ 24912 w 91465"/>
                  <a:gd name="connsiteY1" fmla="*/ 154642 h 175132"/>
                  <a:gd name="connsiteX2" fmla="*/ 24912 w 91465"/>
                  <a:gd name="connsiteY2" fmla="*/ 83583 h 175132"/>
                  <a:gd name="connsiteX3" fmla="*/ 24896 w 91465"/>
                  <a:gd name="connsiteY3" fmla="*/ 83186 h 175132"/>
                  <a:gd name="connsiteX4" fmla="*/ 24310 w 91465"/>
                  <a:gd name="connsiteY4" fmla="*/ 82900 h 175132"/>
                  <a:gd name="connsiteX5" fmla="*/ 23312 w 91465"/>
                  <a:gd name="connsiteY5" fmla="*/ 82392 h 175132"/>
                  <a:gd name="connsiteX6" fmla="*/ 0 w 91465"/>
                  <a:gd name="connsiteY6" fmla="*/ 43331 h 175132"/>
                  <a:gd name="connsiteX7" fmla="*/ 9185 w 91465"/>
                  <a:gd name="connsiteY7" fmla="*/ 16380 h 175132"/>
                  <a:gd name="connsiteX8" fmla="*/ 32323 w 91465"/>
                  <a:gd name="connsiteY8" fmla="*/ 460 h 175132"/>
                  <a:gd name="connsiteX9" fmla="*/ 35332 w 91465"/>
                  <a:gd name="connsiteY9" fmla="*/ 0 h 175132"/>
                  <a:gd name="connsiteX10" fmla="*/ 43805 w 91465"/>
                  <a:gd name="connsiteY10" fmla="*/ 8999 h 175132"/>
                  <a:gd name="connsiteX11" fmla="*/ 43805 w 91465"/>
                  <a:gd name="connsiteY11" fmla="*/ 36252 h 175132"/>
                  <a:gd name="connsiteX12" fmla="*/ 82907 w 91465"/>
                  <a:gd name="connsiteY12" fmla="*/ 36252 h 175132"/>
                  <a:gd name="connsiteX13" fmla="*/ 89178 w 91465"/>
                  <a:gd name="connsiteY13" fmla="*/ 38776 h 175132"/>
                  <a:gd name="connsiteX14" fmla="*/ 91443 w 91465"/>
                  <a:gd name="connsiteY14" fmla="*/ 45299 h 175132"/>
                  <a:gd name="connsiteX15" fmla="*/ 91443 w 91465"/>
                  <a:gd name="connsiteY15" fmla="*/ 45426 h 175132"/>
                  <a:gd name="connsiteX16" fmla="*/ 67149 w 91465"/>
                  <a:gd name="connsiteY16" fmla="*/ 82979 h 175132"/>
                  <a:gd name="connsiteX17" fmla="*/ 66547 w 91465"/>
                  <a:gd name="connsiteY17" fmla="*/ 83265 h 175132"/>
                  <a:gd name="connsiteX18" fmla="*/ 66547 w 91465"/>
                  <a:gd name="connsiteY18" fmla="*/ 154642 h 175132"/>
                  <a:gd name="connsiteX19" fmla="*/ 45753 w 91465"/>
                  <a:gd name="connsiteY19" fmla="*/ 175133 h 175132"/>
                  <a:gd name="connsiteX20" fmla="*/ 32719 w 91465"/>
                  <a:gd name="connsiteY20" fmla="*/ 12095 h 175132"/>
                  <a:gd name="connsiteX21" fmla="*/ 17975 w 91465"/>
                  <a:gd name="connsiteY21" fmla="*/ 23173 h 175132"/>
                  <a:gd name="connsiteX22" fmla="*/ 11086 w 91465"/>
                  <a:gd name="connsiteY22" fmla="*/ 43331 h 175132"/>
                  <a:gd name="connsiteX23" fmla="*/ 28697 w 91465"/>
                  <a:gd name="connsiteY23" fmla="*/ 72678 h 175132"/>
                  <a:gd name="connsiteX24" fmla="*/ 29077 w 91465"/>
                  <a:gd name="connsiteY24" fmla="*/ 72869 h 175132"/>
                  <a:gd name="connsiteX25" fmla="*/ 35998 w 91465"/>
                  <a:gd name="connsiteY25" fmla="*/ 83583 h 175132"/>
                  <a:gd name="connsiteX26" fmla="*/ 35998 w 91465"/>
                  <a:gd name="connsiteY26" fmla="*/ 154642 h 175132"/>
                  <a:gd name="connsiteX27" fmla="*/ 45737 w 91465"/>
                  <a:gd name="connsiteY27" fmla="*/ 164022 h 175132"/>
                  <a:gd name="connsiteX28" fmla="*/ 55446 w 91465"/>
                  <a:gd name="connsiteY28" fmla="*/ 154642 h 175132"/>
                  <a:gd name="connsiteX29" fmla="*/ 55446 w 91465"/>
                  <a:gd name="connsiteY29" fmla="*/ 82964 h 175132"/>
                  <a:gd name="connsiteX30" fmla="*/ 61875 w 91465"/>
                  <a:gd name="connsiteY30" fmla="*/ 73186 h 175132"/>
                  <a:gd name="connsiteX31" fmla="*/ 62113 w 91465"/>
                  <a:gd name="connsiteY31" fmla="*/ 73091 h 175132"/>
                  <a:gd name="connsiteX32" fmla="*/ 80151 w 91465"/>
                  <a:gd name="connsiteY32" fmla="*/ 47394 h 175132"/>
                  <a:gd name="connsiteX33" fmla="*/ 42491 w 91465"/>
                  <a:gd name="connsiteY33" fmla="*/ 47394 h 175132"/>
                  <a:gd name="connsiteX34" fmla="*/ 32719 w 91465"/>
                  <a:gd name="connsiteY34" fmla="*/ 38617 h 175132"/>
                  <a:gd name="connsiteX35" fmla="*/ 32719 w 91465"/>
                  <a:gd name="connsiteY35" fmla="*/ 12095 h 175132"/>
                  <a:gd name="connsiteX36" fmla="*/ 25070 w 91465"/>
                  <a:gd name="connsiteY36" fmla="*/ 83313 h 175132"/>
                  <a:gd name="connsiteX37" fmla="*/ 25070 w 91465"/>
                  <a:gd name="connsiteY37" fmla="*/ 83313 h 175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91465" h="175132">
                    <a:moveTo>
                      <a:pt x="45737" y="175133"/>
                    </a:moveTo>
                    <a:cubicBezTo>
                      <a:pt x="34256" y="175133"/>
                      <a:pt x="24912" y="165943"/>
                      <a:pt x="24912" y="154642"/>
                    </a:cubicBezTo>
                    <a:lnTo>
                      <a:pt x="24912" y="83583"/>
                    </a:lnTo>
                    <a:cubicBezTo>
                      <a:pt x="24912" y="83408"/>
                      <a:pt x="24912" y="83281"/>
                      <a:pt x="24896" y="83186"/>
                    </a:cubicBezTo>
                    <a:cubicBezTo>
                      <a:pt x="24722" y="83091"/>
                      <a:pt x="24500" y="82979"/>
                      <a:pt x="24310" y="82900"/>
                    </a:cubicBezTo>
                    <a:cubicBezTo>
                      <a:pt x="23946" y="82725"/>
                      <a:pt x="23597" y="82551"/>
                      <a:pt x="23312" y="82392"/>
                    </a:cubicBezTo>
                    <a:cubicBezTo>
                      <a:pt x="8948" y="74472"/>
                      <a:pt x="0" y="59489"/>
                      <a:pt x="0" y="43331"/>
                    </a:cubicBezTo>
                    <a:cubicBezTo>
                      <a:pt x="0" y="33490"/>
                      <a:pt x="3183" y="24173"/>
                      <a:pt x="9185" y="16380"/>
                    </a:cubicBezTo>
                    <a:cubicBezTo>
                      <a:pt x="14934" y="8888"/>
                      <a:pt x="23154" y="3222"/>
                      <a:pt x="32323" y="460"/>
                    </a:cubicBezTo>
                    <a:cubicBezTo>
                      <a:pt x="33416" y="143"/>
                      <a:pt x="34382" y="0"/>
                      <a:pt x="35332" y="0"/>
                    </a:cubicBezTo>
                    <a:cubicBezTo>
                      <a:pt x="39545" y="0"/>
                      <a:pt x="43805" y="3095"/>
                      <a:pt x="43805" y="8999"/>
                    </a:cubicBezTo>
                    <a:lnTo>
                      <a:pt x="43805" y="36252"/>
                    </a:lnTo>
                    <a:lnTo>
                      <a:pt x="82907" y="36252"/>
                    </a:lnTo>
                    <a:cubicBezTo>
                      <a:pt x="86059" y="36268"/>
                      <a:pt x="88054" y="37633"/>
                      <a:pt x="89178" y="38776"/>
                    </a:cubicBezTo>
                    <a:cubicBezTo>
                      <a:pt x="90382" y="40045"/>
                      <a:pt x="91649" y="42125"/>
                      <a:pt x="91443" y="45299"/>
                    </a:cubicBezTo>
                    <a:cubicBezTo>
                      <a:pt x="91443" y="45347"/>
                      <a:pt x="91443" y="45394"/>
                      <a:pt x="91443" y="45426"/>
                    </a:cubicBezTo>
                    <a:cubicBezTo>
                      <a:pt x="90699" y="61203"/>
                      <a:pt x="81402" y="75599"/>
                      <a:pt x="67149" y="82979"/>
                    </a:cubicBezTo>
                    <a:cubicBezTo>
                      <a:pt x="66943" y="83091"/>
                      <a:pt x="66753" y="83170"/>
                      <a:pt x="66547" y="83265"/>
                    </a:cubicBezTo>
                    <a:lnTo>
                      <a:pt x="66547" y="154642"/>
                    </a:lnTo>
                    <a:cubicBezTo>
                      <a:pt x="66547" y="165943"/>
                      <a:pt x="57219" y="175133"/>
                      <a:pt x="45753" y="175133"/>
                    </a:cubicBezTo>
                    <a:close/>
                    <a:moveTo>
                      <a:pt x="32719" y="12095"/>
                    </a:moveTo>
                    <a:cubicBezTo>
                      <a:pt x="26875" y="14412"/>
                      <a:pt x="21728" y="18285"/>
                      <a:pt x="17975" y="23173"/>
                    </a:cubicBezTo>
                    <a:cubicBezTo>
                      <a:pt x="13461" y="29014"/>
                      <a:pt x="11086" y="35982"/>
                      <a:pt x="11086" y="43331"/>
                    </a:cubicBezTo>
                    <a:cubicBezTo>
                      <a:pt x="11086" y="55441"/>
                      <a:pt x="17833" y="66679"/>
                      <a:pt x="28697" y="72678"/>
                    </a:cubicBezTo>
                    <a:cubicBezTo>
                      <a:pt x="28823" y="72758"/>
                      <a:pt x="28950" y="72805"/>
                      <a:pt x="29077" y="72869"/>
                    </a:cubicBezTo>
                    <a:cubicBezTo>
                      <a:pt x="30787" y="73678"/>
                      <a:pt x="35998" y="76170"/>
                      <a:pt x="35998" y="83583"/>
                    </a:cubicBezTo>
                    <a:lnTo>
                      <a:pt x="35998" y="154642"/>
                    </a:lnTo>
                    <a:cubicBezTo>
                      <a:pt x="35998" y="159816"/>
                      <a:pt x="40369" y="164022"/>
                      <a:pt x="45737" y="164022"/>
                    </a:cubicBezTo>
                    <a:cubicBezTo>
                      <a:pt x="51106" y="164022"/>
                      <a:pt x="55446" y="159816"/>
                      <a:pt x="55446" y="154642"/>
                    </a:cubicBezTo>
                    <a:lnTo>
                      <a:pt x="55446" y="82964"/>
                    </a:lnTo>
                    <a:cubicBezTo>
                      <a:pt x="55446" y="78361"/>
                      <a:pt x="57599" y="75059"/>
                      <a:pt x="61875" y="73186"/>
                    </a:cubicBezTo>
                    <a:lnTo>
                      <a:pt x="62113" y="73091"/>
                    </a:lnTo>
                    <a:cubicBezTo>
                      <a:pt x="72043" y="67949"/>
                      <a:pt x="78805" y="58251"/>
                      <a:pt x="80151" y="47394"/>
                    </a:cubicBezTo>
                    <a:lnTo>
                      <a:pt x="42491" y="47394"/>
                    </a:lnTo>
                    <a:cubicBezTo>
                      <a:pt x="36077" y="47378"/>
                      <a:pt x="32719" y="42966"/>
                      <a:pt x="32719" y="38617"/>
                    </a:cubicBezTo>
                    <a:lnTo>
                      <a:pt x="32719" y="12095"/>
                    </a:lnTo>
                    <a:close/>
                    <a:moveTo>
                      <a:pt x="25070" y="83313"/>
                    </a:moveTo>
                    <a:lnTo>
                      <a:pt x="25070" y="83313"/>
                    </a:ln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任意形状 41"/>
              <p:cNvSpPr/>
              <p:nvPr/>
            </p:nvSpPr>
            <p:spPr>
              <a:xfrm>
                <a:off x="6936061" y="1474376"/>
                <a:ext cx="12226" cy="17475"/>
              </a:xfrm>
              <a:custGeom>
                <a:avLst/>
                <a:gdLst>
                  <a:gd name="connsiteX0" fmla="*/ 6113 w 12226"/>
                  <a:gd name="connsiteY0" fmla="*/ 0 h 17475"/>
                  <a:gd name="connsiteX1" fmla="*/ 0 w 12226"/>
                  <a:gd name="connsiteY1" fmla="*/ 5968 h 17475"/>
                  <a:gd name="connsiteX2" fmla="*/ 0 w 12226"/>
                  <a:gd name="connsiteY2" fmla="*/ 11507 h 17475"/>
                  <a:gd name="connsiteX3" fmla="*/ 6113 w 12226"/>
                  <a:gd name="connsiteY3" fmla="*/ 17475 h 17475"/>
                  <a:gd name="connsiteX4" fmla="*/ 12226 w 12226"/>
                  <a:gd name="connsiteY4" fmla="*/ 11507 h 17475"/>
                  <a:gd name="connsiteX5" fmla="*/ 12226 w 12226"/>
                  <a:gd name="connsiteY5" fmla="*/ 5968 h 17475"/>
                  <a:gd name="connsiteX6" fmla="*/ 6113 w 12226"/>
                  <a:gd name="connsiteY6" fmla="*/ 0 h 17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226" h="17475">
                    <a:moveTo>
                      <a:pt x="6113" y="0"/>
                    </a:moveTo>
                    <a:cubicBezTo>
                      <a:pt x="2740" y="0"/>
                      <a:pt x="0" y="2682"/>
                      <a:pt x="0" y="5968"/>
                    </a:cubicBezTo>
                    <a:lnTo>
                      <a:pt x="0" y="11507"/>
                    </a:lnTo>
                    <a:cubicBezTo>
                      <a:pt x="0" y="14793"/>
                      <a:pt x="2740" y="17475"/>
                      <a:pt x="6113" y="17475"/>
                    </a:cubicBezTo>
                    <a:cubicBezTo>
                      <a:pt x="9486" y="17475"/>
                      <a:pt x="12226" y="14793"/>
                      <a:pt x="12226" y="11507"/>
                    </a:cubicBezTo>
                    <a:lnTo>
                      <a:pt x="12226" y="5968"/>
                    </a:lnTo>
                    <a:cubicBezTo>
                      <a:pt x="12226" y="2682"/>
                      <a:pt x="9486" y="0"/>
                      <a:pt x="6113" y="0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任意形状 42"/>
              <p:cNvSpPr/>
              <p:nvPr/>
            </p:nvSpPr>
            <p:spPr>
              <a:xfrm>
                <a:off x="6953751" y="1474376"/>
                <a:ext cx="12226" cy="17475"/>
              </a:xfrm>
              <a:custGeom>
                <a:avLst/>
                <a:gdLst>
                  <a:gd name="connsiteX0" fmla="*/ 6113 w 12226"/>
                  <a:gd name="connsiteY0" fmla="*/ 0 h 17475"/>
                  <a:gd name="connsiteX1" fmla="*/ 0 w 12226"/>
                  <a:gd name="connsiteY1" fmla="*/ 5968 h 17475"/>
                  <a:gd name="connsiteX2" fmla="*/ 0 w 12226"/>
                  <a:gd name="connsiteY2" fmla="*/ 11507 h 17475"/>
                  <a:gd name="connsiteX3" fmla="*/ 6113 w 12226"/>
                  <a:gd name="connsiteY3" fmla="*/ 17475 h 17475"/>
                  <a:gd name="connsiteX4" fmla="*/ 12226 w 12226"/>
                  <a:gd name="connsiteY4" fmla="*/ 11507 h 17475"/>
                  <a:gd name="connsiteX5" fmla="*/ 12226 w 12226"/>
                  <a:gd name="connsiteY5" fmla="*/ 5968 h 17475"/>
                  <a:gd name="connsiteX6" fmla="*/ 6113 w 12226"/>
                  <a:gd name="connsiteY6" fmla="*/ 0 h 17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226" h="17475">
                    <a:moveTo>
                      <a:pt x="6113" y="0"/>
                    </a:moveTo>
                    <a:cubicBezTo>
                      <a:pt x="2740" y="0"/>
                      <a:pt x="0" y="2682"/>
                      <a:pt x="0" y="5968"/>
                    </a:cubicBezTo>
                    <a:lnTo>
                      <a:pt x="0" y="11507"/>
                    </a:lnTo>
                    <a:cubicBezTo>
                      <a:pt x="0" y="14793"/>
                      <a:pt x="2740" y="17475"/>
                      <a:pt x="6113" y="17475"/>
                    </a:cubicBezTo>
                    <a:cubicBezTo>
                      <a:pt x="9486" y="17475"/>
                      <a:pt x="12226" y="14793"/>
                      <a:pt x="12226" y="11507"/>
                    </a:cubicBezTo>
                    <a:lnTo>
                      <a:pt x="12226" y="5968"/>
                    </a:lnTo>
                    <a:cubicBezTo>
                      <a:pt x="12226" y="2682"/>
                      <a:pt x="9486" y="0"/>
                      <a:pt x="6113" y="0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任意形状 43"/>
              <p:cNvSpPr/>
              <p:nvPr/>
            </p:nvSpPr>
            <p:spPr>
              <a:xfrm>
                <a:off x="6955002" y="1612368"/>
                <a:ext cx="123307" cy="19935"/>
              </a:xfrm>
              <a:custGeom>
                <a:avLst/>
                <a:gdLst>
                  <a:gd name="connsiteX0" fmla="*/ 113362 w 123307"/>
                  <a:gd name="connsiteY0" fmla="*/ 19935 h 19935"/>
                  <a:gd name="connsiteX1" fmla="*/ 9946 w 123307"/>
                  <a:gd name="connsiteY1" fmla="*/ 19935 h 19935"/>
                  <a:gd name="connsiteX2" fmla="*/ 0 w 123307"/>
                  <a:gd name="connsiteY2" fmla="*/ 9968 h 19935"/>
                  <a:gd name="connsiteX3" fmla="*/ 0 w 123307"/>
                  <a:gd name="connsiteY3" fmla="*/ 9968 h 19935"/>
                  <a:gd name="connsiteX4" fmla="*/ 9946 w 123307"/>
                  <a:gd name="connsiteY4" fmla="*/ 0 h 19935"/>
                  <a:gd name="connsiteX5" fmla="*/ 113362 w 123307"/>
                  <a:gd name="connsiteY5" fmla="*/ 0 h 19935"/>
                  <a:gd name="connsiteX6" fmla="*/ 123307 w 123307"/>
                  <a:gd name="connsiteY6" fmla="*/ 9968 h 19935"/>
                  <a:gd name="connsiteX7" fmla="*/ 123307 w 123307"/>
                  <a:gd name="connsiteY7" fmla="*/ 9968 h 19935"/>
                  <a:gd name="connsiteX8" fmla="*/ 113362 w 123307"/>
                  <a:gd name="connsiteY8" fmla="*/ 19935 h 19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307" h="19935">
                    <a:moveTo>
                      <a:pt x="113362" y="19935"/>
                    </a:moveTo>
                    <a:lnTo>
                      <a:pt x="9946" y="19935"/>
                    </a:lnTo>
                    <a:cubicBezTo>
                      <a:pt x="4450" y="19935"/>
                      <a:pt x="0" y="15475"/>
                      <a:pt x="0" y="9968"/>
                    </a:cubicBezTo>
                    <a:lnTo>
                      <a:pt x="0" y="9968"/>
                    </a:lnTo>
                    <a:cubicBezTo>
                      <a:pt x="0" y="4460"/>
                      <a:pt x="4450" y="0"/>
                      <a:pt x="9946" y="0"/>
                    </a:cubicBezTo>
                    <a:lnTo>
                      <a:pt x="113362" y="0"/>
                    </a:lnTo>
                    <a:cubicBezTo>
                      <a:pt x="118857" y="0"/>
                      <a:pt x="123307" y="4460"/>
                      <a:pt x="123307" y="9968"/>
                    </a:cubicBezTo>
                    <a:lnTo>
                      <a:pt x="123307" y="9968"/>
                    </a:lnTo>
                    <a:cubicBezTo>
                      <a:pt x="123307" y="15475"/>
                      <a:pt x="118857" y="19935"/>
                      <a:pt x="113362" y="19935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任意形状 44"/>
              <p:cNvSpPr/>
              <p:nvPr/>
            </p:nvSpPr>
            <p:spPr>
              <a:xfrm>
                <a:off x="6816602" y="1388445"/>
                <a:ext cx="236162" cy="243494"/>
              </a:xfrm>
              <a:custGeom>
                <a:avLst/>
                <a:gdLst>
                  <a:gd name="connsiteX0" fmla="*/ 228434 w 236162"/>
                  <a:gd name="connsiteY0" fmla="*/ 243478 h 243494"/>
                  <a:gd name="connsiteX1" fmla="*/ 220705 w 236162"/>
                  <a:gd name="connsiteY1" fmla="*/ 235733 h 243494"/>
                  <a:gd name="connsiteX2" fmla="*/ 220705 w 236162"/>
                  <a:gd name="connsiteY2" fmla="*/ 15475 h 243494"/>
                  <a:gd name="connsiteX3" fmla="*/ 15457 w 236162"/>
                  <a:gd name="connsiteY3" fmla="*/ 15475 h 243494"/>
                  <a:gd name="connsiteX4" fmla="*/ 15457 w 236162"/>
                  <a:gd name="connsiteY4" fmla="*/ 72123 h 243494"/>
                  <a:gd name="connsiteX5" fmla="*/ 7728 w 236162"/>
                  <a:gd name="connsiteY5" fmla="*/ 79869 h 243494"/>
                  <a:gd name="connsiteX6" fmla="*/ 0 w 236162"/>
                  <a:gd name="connsiteY6" fmla="*/ 72123 h 243494"/>
                  <a:gd name="connsiteX7" fmla="*/ 0 w 236162"/>
                  <a:gd name="connsiteY7" fmla="*/ 7746 h 243494"/>
                  <a:gd name="connsiteX8" fmla="*/ 7728 w 236162"/>
                  <a:gd name="connsiteY8" fmla="*/ 0 h 243494"/>
                  <a:gd name="connsiteX9" fmla="*/ 228434 w 236162"/>
                  <a:gd name="connsiteY9" fmla="*/ 0 h 243494"/>
                  <a:gd name="connsiteX10" fmla="*/ 236162 w 236162"/>
                  <a:gd name="connsiteY10" fmla="*/ 7746 h 243494"/>
                  <a:gd name="connsiteX11" fmla="*/ 236162 w 236162"/>
                  <a:gd name="connsiteY11" fmla="*/ 235749 h 243494"/>
                  <a:gd name="connsiteX12" fmla="*/ 228434 w 236162"/>
                  <a:gd name="connsiteY12" fmla="*/ 243494 h 243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6162" h="243494">
                    <a:moveTo>
                      <a:pt x="228434" y="243478"/>
                    </a:moveTo>
                    <a:cubicBezTo>
                      <a:pt x="224173" y="243478"/>
                      <a:pt x="220705" y="240018"/>
                      <a:pt x="220705" y="235733"/>
                    </a:cubicBezTo>
                    <a:lnTo>
                      <a:pt x="220705" y="15475"/>
                    </a:lnTo>
                    <a:lnTo>
                      <a:pt x="15457" y="15475"/>
                    </a:lnTo>
                    <a:lnTo>
                      <a:pt x="15457" y="72123"/>
                    </a:lnTo>
                    <a:cubicBezTo>
                      <a:pt x="15457" y="76393"/>
                      <a:pt x="12004" y="79869"/>
                      <a:pt x="7728" y="79869"/>
                    </a:cubicBezTo>
                    <a:cubicBezTo>
                      <a:pt x="3452" y="79869"/>
                      <a:pt x="0" y="76408"/>
                      <a:pt x="0" y="72123"/>
                    </a:cubicBezTo>
                    <a:lnTo>
                      <a:pt x="0" y="7746"/>
                    </a:lnTo>
                    <a:cubicBezTo>
                      <a:pt x="0" y="3476"/>
                      <a:pt x="3452" y="0"/>
                      <a:pt x="7728" y="0"/>
                    </a:cubicBezTo>
                    <a:lnTo>
                      <a:pt x="228434" y="0"/>
                    </a:lnTo>
                    <a:cubicBezTo>
                      <a:pt x="232694" y="0"/>
                      <a:pt x="236162" y="3460"/>
                      <a:pt x="236162" y="7746"/>
                    </a:cubicBezTo>
                    <a:lnTo>
                      <a:pt x="236162" y="235749"/>
                    </a:lnTo>
                    <a:cubicBezTo>
                      <a:pt x="236162" y="240018"/>
                      <a:pt x="232710" y="243494"/>
                      <a:pt x="228434" y="243494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任意形状 45"/>
              <p:cNvSpPr/>
              <p:nvPr/>
            </p:nvSpPr>
            <p:spPr>
              <a:xfrm>
                <a:off x="6816032" y="1580894"/>
                <a:ext cx="46117" cy="50854"/>
              </a:xfrm>
              <a:custGeom>
                <a:avLst/>
                <a:gdLst>
                  <a:gd name="connsiteX0" fmla="*/ 38373 w 46117"/>
                  <a:gd name="connsiteY0" fmla="*/ 50838 h 50854"/>
                  <a:gd name="connsiteX1" fmla="*/ 7728 w 46117"/>
                  <a:gd name="connsiteY1" fmla="*/ 50838 h 50854"/>
                  <a:gd name="connsiteX2" fmla="*/ 0 w 46117"/>
                  <a:gd name="connsiteY2" fmla="*/ 43093 h 50854"/>
                  <a:gd name="connsiteX3" fmla="*/ 0 w 46117"/>
                  <a:gd name="connsiteY3" fmla="*/ 7746 h 50854"/>
                  <a:gd name="connsiteX4" fmla="*/ 7728 w 46117"/>
                  <a:gd name="connsiteY4" fmla="*/ 0 h 50854"/>
                  <a:gd name="connsiteX5" fmla="*/ 15457 w 46117"/>
                  <a:gd name="connsiteY5" fmla="*/ 7746 h 50854"/>
                  <a:gd name="connsiteX6" fmla="*/ 15457 w 46117"/>
                  <a:gd name="connsiteY6" fmla="*/ 35363 h 50854"/>
                  <a:gd name="connsiteX7" fmla="*/ 38389 w 46117"/>
                  <a:gd name="connsiteY7" fmla="*/ 35363 h 50854"/>
                  <a:gd name="connsiteX8" fmla="*/ 46117 w 46117"/>
                  <a:gd name="connsiteY8" fmla="*/ 43109 h 50854"/>
                  <a:gd name="connsiteX9" fmla="*/ 38389 w 46117"/>
                  <a:gd name="connsiteY9" fmla="*/ 50854 h 50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17" h="50854">
                    <a:moveTo>
                      <a:pt x="38373" y="50838"/>
                    </a:moveTo>
                    <a:lnTo>
                      <a:pt x="7728" y="50838"/>
                    </a:lnTo>
                    <a:cubicBezTo>
                      <a:pt x="3468" y="50838"/>
                      <a:pt x="0" y="47378"/>
                      <a:pt x="0" y="43093"/>
                    </a:cubicBezTo>
                    <a:lnTo>
                      <a:pt x="0" y="7746"/>
                    </a:lnTo>
                    <a:cubicBezTo>
                      <a:pt x="0" y="3476"/>
                      <a:pt x="3452" y="0"/>
                      <a:pt x="7728" y="0"/>
                    </a:cubicBezTo>
                    <a:cubicBezTo>
                      <a:pt x="12004" y="0"/>
                      <a:pt x="15457" y="3460"/>
                      <a:pt x="15457" y="7746"/>
                    </a:cubicBezTo>
                    <a:lnTo>
                      <a:pt x="15457" y="35363"/>
                    </a:lnTo>
                    <a:lnTo>
                      <a:pt x="38389" y="35363"/>
                    </a:lnTo>
                    <a:cubicBezTo>
                      <a:pt x="42649" y="35363"/>
                      <a:pt x="46117" y="38823"/>
                      <a:pt x="46117" y="43109"/>
                    </a:cubicBezTo>
                    <a:cubicBezTo>
                      <a:pt x="46117" y="47394"/>
                      <a:pt x="42665" y="50854"/>
                      <a:pt x="38389" y="50854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任意形状 46"/>
              <p:cNvSpPr/>
              <p:nvPr/>
            </p:nvSpPr>
            <p:spPr>
              <a:xfrm>
                <a:off x="6722578" y="1557705"/>
                <a:ext cx="123576" cy="15491"/>
              </a:xfrm>
              <a:custGeom>
                <a:avLst/>
                <a:gdLst>
                  <a:gd name="connsiteX0" fmla="*/ 115848 w 123576"/>
                  <a:gd name="connsiteY0" fmla="*/ 15491 h 15491"/>
                  <a:gd name="connsiteX1" fmla="*/ 7728 w 123576"/>
                  <a:gd name="connsiteY1" fmla="*/ 15491 h 15491"/>
                  <a:gd name="connsiteX2" fmla="*/ 0 w 123576"/>
                  <a:gd name="connsiteY2" fmla="*/ 7746 h 15491"/>
                  <a:gd name="connsiteX3" fmla="*/ 7728 w 123576"/>
                  <a:gd name="connsiteY3" fmla="*/ 0 h 15491"/>
                  <a:gd name="connsiteX4" fmla="*/ 115848 w 123576"/>
                  <a:gd name="connsiteY4" fmla="*/ 0 h 15491"/>
                  <a:gd name="connsiteX5" fmla="*/ 123577 w 123576"/>
                  <a:gd name="connsiteY5" fmla="*/ 7746 h 15491"/>
                  <a:gd name="connsiteX6" fmla="*/ 115848 w 123576"/>
                  <a:gd name="connsiteY6" fmla="*/ 15491 h 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576" h="15491">
                    <a:moveTo>
                      <a:pt x="115848" y="15491"/>
                    </a:moveTo>
                    <a:lnTo>
                      <a:pt x="7728" y="15491"/>
                    </a:lnTo>
                    <a:cubicBezTo>
                      <a:pt x="3468" y="15491"/>
                      <a:pt x="0" y="12031"/>
                      <a:pt x="0" y="7746"/>
                    </a:cubicBezTo>
                    <a:cubicBezTo>
                      <a:pt x="0" y="3460"/>
                      <a:pt x="3452" y="0"/>
                      <a:pt x="7728" y="0"/>
                    </a:cubicBezTo>
                    <a:lnTo>
                      <a:pt x="115848" y="0"/>
                    </a:lnTo>
                    <a:cubicBezTo>
                      <a:pt x="120108" y="0"/>
                      <a:pt x="123577" y="3460"/>
                      <a:pt x="123577" y="7746"/>
                    </a:cubicBezTo>
                    <a:cubicBezTo>
                      <a:pt x="123577" y="12031"/>
                      <a:pt x="120124" y="15491"/>
                      <a:pt x="115848" y="15491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任意形状 47"/>
              <p:cNvSpPr/>
              <p:nvPr/>
            </p:nvSpPr>
            <p:spPr>
              <a:xfrm>
                <a:off x="6739919" y="1517723"/>
                <a:ext cx="123006" cy="15491"/>
              </a:xfrm>
              <a:custGeom>
                <a:avLst/>
                <a:gdLst>
                  <a:gd name="connsiteX0" fmla="*/ 115278 w 123006"/>
                  <a:gd name="connsiteY0" fmla="*/ 15491 h 15491"/>
                  <a:gd name="connsiteX1" fmla="*/ 7728 w 123006"/>
                  <a:gd name="connsiteY1" fmla="*/ 15491 h 15491"/>
                  <a:gd name="connsiteX2" fmla="*/ 0 w 123006"/>
                  <a:gd name="connsiteY2" fmla="*/ 7746 h 15491"/>
                  <a:gd name="connsiteX3" fmla="*/ 7728 w 123006"/>
                  <a:gd name="connsiteY3" fmla="*/ 0 h 15491"/>
                  <a:gd name="connsiteX4" fmla="*/ 115278 w 123006"/>
                  <a:gd name="connsiteY4" fmla="*/ 0 h 15491"/>
                  <a:gd name="connsiteX5" fmla="*/ 123006 w 123006"/>
                  <a:gd name="connsiteY5" fmla="*/ 7746 h 15491"/>
                  <a:gd name="connsiteX6" fmla="*/ 115278 w 123006"/>
                  <a:gd name="connsiteY6" fmla="*/ 15491 h 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006" h="15491">
                    <a:moveTo>
                      <a:pt x="115278" y="15491"/>
                    </a:moveTo>
                    <a:lnTo>
                      <a:pt x="7728" y="15491"/>
                    </a:lnTo>
                    <a:cubicBezTo>
                      <a:pt x="3468" y="15491"/>
                      <a:pt x="0" y="12031"/>
                      <a:pt x="0" y="7746"/>
                    </a:cubicBezTo>
                    <a:cubicBezTo>
                      <a:pt x="0" y="3460"/>
                      <a:pt x="3452" y="0"/>
                      <a:pt x="7728" y="0"/>
                    </a:cubicBezTo>
                    <a:lnTo>
                      <a:pt x="115278" y="0"/>
                    </a:lnTo>
                    <a:cubicBezTo>
                      <a:pt x="119538" y="0"/>
                      <a:pt x="123006" y="3460"/>
                      <a:pt x="123006" y="7746"/>
                    </a:cubicBezTo>
                    <a:cubicBezTo>
                      <a:pt x="123006" y="12031"/>
                      <a:pt x="119554" y="15491"/>
                      <a:pt x="115278" y="15491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任意形状 48"/>
              <p:cNvSpPr/>
              <p:nvPr/>
            </p:nvSpPr>
            <p:spPr>
              <a:xfrm>
                <a:off x="6756691" y="1478900"/>
                <a:ext cx="125318" cy="15491"/>
              </a:xfrm>
              <a:custGeom>
                <a:avLst/>
                <a:gdLst>
                  <a:gd name="connsiteX0" fmla="*/ 117590 w 125318"/>
                  <a:gd name="connsiteY0" fmla="*/ 15491 h 15491"/>
                  <a:gd name="connsiteX1" fmla="*/ 7728 w 125318"/>
                  <a:gd name="connsiteY1" fmla="*/ 15491 h 15491"/>
                  <a:gd name="connsiteX2" fmla="*/ 0 w 125318"/>
                  <a:gd name="connsiteY2" fmla="*/ 7746 h 15491"/>
                  <a:gd name="connsiteX3" fmla="*/ 7728 w 125318"/>
                  <a:gd name="connsiteY3" fmla="*/ 0 h 15491"/>
                  <a:gd name="connsiteX4" fmla="*/ 117590 w 125318"/>
                  <a:gd name="connsiteY4" fmla="*/ 0 h 15491"/>
                  <a:gd name="connsiteX5" fmla="*/ 125319 w 125318"/>
                  <a:gd name="connsiteY5" fmla="*/ 7746 h 15491"/>
                  <a:gd name="connsiteX6" fmla="*/ 117590 w 125318"/>
                  <a:gd name="connsiteY6" fmla="*/ 15491 h 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318" h="15491">
                    <a:moveTo>
                      <a:pt x="117590" y="15491"/>
                    </a:moveTo>
                    <a:lnTo>
                      <a:pt x="7728" y="15491"/>
                    </a:lnTo>
                    <a:cubicBezTo>
                      <a:pt x="3468" y="15491"/>
                      <a:pt x="0" y="12031"/>
                      <a:pt x="0" y="7746"/>
                    </a:cubicBezTo>
                    <a:cubicBezTo>
                      <a:pt x="0" y="3460"/>
                      <a:pt x="3452" y="0"/>
                      <a:pt x="7728" y="0"/>
                    </a:cubicBezTo>
                    <a:lnTo>
                      <a:pt x="117590" y="0"/>
                    </a:lnTo>
                    <a:cubicBezTo>
                      <a:pt x="121850" y="0"/>
                      <a:pt x="125319" y="3460"/>
                      <a:pt x="125319" y="7746"/>
                    </a:cubicBezTo>
                    <a:cubicBezTo>
                      <a:pt x="125319" y="12031"/>
                      <a:pt x="121866" y="15491"/>
                      <a:pt x="117590" y="15491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任意形状 49"/>
              <p:cNvSpPr/>
              <p:nvPr/>
            </p:nvSpPr>
            <p:spPr>
              <a:xfrm>
                <a:off x="7036927" y="1427903"/>
                <a:ext cx="163470" cy="202591"/>
              </a:xfrm>
              <a:custGeom>
                <a:avLst/>
                <a:gdLst>
                  <a:gd name="connsiteX0" fmla="*/ 155757 w 163470"/>
                  <a:gd name="connsiteY0" fmla="*/ 202576 h 202591"/>
                  <a:gd name="connsiteX1" fmla="*/ 130893 w 163470"/>
                  <a:gd name="connsiteY1" fmla="*/ 202576 h 202591"/>
                  <a:gd name="connsiteX2" fmla="*/ 123165 w 163470"/>
                  <a:gd name="connsiteY2" fmla="*/ 194830 h 202591"/>
                  <a:gd name="connsiteX3" fmla="*/ 130893 w 163470"/>
                  <a:gd name="connsiteY3" fmla="*/ 187085 h 202591"/>
                  <a:gd name="connsiteX4" fmla="*/ 148029 w 163470"/>
                  <a:gd name="connsiteY4" fmla="*/ 187085 h 202591"/>
                  <a:gd name="connsiteX5" fmla="*/ 148029 w 163470"/>
                  <a:gd name="connsiteY5" fmla="*/ 64727 h 202591"/>
                  <a:gd name="connsiteX6" fmla="*/ 88228 w 163470"/>
                  <a:gd name="connsiteY6" fmla="*/ 15491 h 202591"/>
                  <a:gd name="connsiteX7" fmla="*/ 7728 w 163470"/>
                  <a:gd name="connsiteY7" fmla="*/ 15491 h 202591"/>
                  <a:gd name="connsiteX8" fmla="*/ 0 w 163470"/>
                  <a:gd name="connsiteY8" fmla="*/ 7746 h 202591"/>
                  <a:gd name="connsiteX9" fmla="*/ 7728 w 163470"/>
                  <a:gd name="connsiteY9" fmla="*/ 0 h 202591"/>
                  <a:gd name="connsiteX10" fmla="*/ 91000 w 163470"/>
                  <a:gd name="connsiteY10" fmla="*/ 0 h 202591"/>
                  <a:gd name="connsiteX11" fmla="*/ 95893 w 163470"/>
                  <a:gd name="connsiteY11" fmla="*/ 1762 h 202591"/>
                  <a:gd name="connsiteX12" fmla="*/ 160651 w 163470"/>
                  <a:gd name="connsiteY12" fmla="*/ 55076 h 202591"/>
                  <a:gd name="connsiteX13" fmla="*/ 163470 w 163470"/>
                  <a:gd name="connsiteY13" fmla="*/ 61060 h 202591"/>
                  <a:gd name="connsiteX14" fmla="*/ 163470 w 163470"/>
                  <a:gd name="connsiteY14" fmla="*/ 194846 h 202591"/>
                  <a:gd name="connsiteX15" fmla="*/ 155742 w 163470"/>
                  <a:gd name="connsiteY15" fmla="*/ 202592 h 202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3470" h="202591">
                    <a:moveTo>
                      <a:pt x="155757" y="202576"/>
                    </a:moveTo>
                    <a:lnTo>
                      <a:pt x="130893" y="202576"/>
                    </a:lnTo>
                    <a:cubicBezTo>
                      <a:pt x="126633" y="202576"/>
                      <a:pt x="123165" y="199116"/>
                      <a:pt x="123165" y="194830"/>
                    </a:cubicBezTo>
                    <a:cubicBezTo>
                      <a:pt x="123165" y="190545"/>
                      <a:pt x="126617" y="187085"/>
                      <a:pt x="130893" y="187085"/>
                    </a:cubicBezTo>
                    <a:lnTo>
                      <a:pt x="148029" y="187085"/>
                    </a:lnTo>
                    <a:lnTo>
                      <a:pt x="148029" y="64727"/>
                    </a:lnTo>
                    <a:lnTo>
                      <a:pt x="88228" y="15491"/>
                    </a:lnTo>
                    <a:lnTo>
                      <a:pt x="7728" y="15491"/>
                    </a:lnTo>
                    <a:cubicBezTo>
                      <a:pt x="3468" y="15491"/>
                      <a:pt x="0" y="12031"/>
                      <a:pt x="0" y="7746"/>
                    </a:cubicBezTo>
                    <a:cubicBezTo>
                      <a:pt x="0" y="3460"/>
                      <a:pt x="3452" y="0"/>
                      <a:pt x="7728" y="0"/>
                    </a:cubicBezTo>
                    <a:lnTo>
                      <a:pt x="91000" y="0"/>
                    </a:lnTo>
                    <a:cubicBezTo>
                      <a:pt x="92789" y="0"/>
                      <a:pt x="94516" y="619"/>
                      <a:pt x="95893" y="1762"/>
                    </a:cubicBezTo>
                    <a:lnTo>
                      <a:pt x="160651" y="55076"/>
                    </a:lnTo>
                    <a:cubicBezTo>
                      <a:pt x="162441" y="56552"/>
                      <a:pt x="163470" y="58743"/>
                      <a:pt x="163470" y="61060"/>
                    </a:cubicBezTo>
                    <a:lnTo>
                      <a:pt x="163470" y="194846"/>
                    </a:lnTo>
                    <a:cubicBezTo>
                      <a:pt x="163470" y="199116"/>
                      <a:pt x="160018" y="202592"/>
                      <a:pt x="155742" y="202592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任意形状 50"/>
              <p:cNvSpPr/>
              <p:nvPr/>
            </p:nvSpPr>
            <p:spPr>
              <a:xfrm>
                <a:off x="7081968" y="1601686"/>
                <a:ext cx="78678" cy="78852"/>
              </a:xfrm>
              <a:custGeom>
                <a:avLst/>
                <a:gdLst>
                  <a:gd name="connsiteX0" fmla="*/ 39339 w 78678"/>
                  <a:gd name="connsiteY0" fmla="*/ 78853 h 78852"/>
                  <a:gd name="connsiteX1" fmla="*/ 0 w 78678"/>
                  <a:gd name="connsiteY1" fmla="*/ 39426 h 78852"/>
                  <a:gd name="connsiteX2" fmla="*/ 39339 w 78678"/>
                  <a:gd name="connsiteY2" fmla="*/ 0 h 78852"/>
                  <a:gd name="connsiteX3" fmla="*/ 78678 w 78678"/>
                  <a:gd name="connsiteY3" fmla="*/ 39426 h 78852"/>
                  <a:gd name="connsiteX4" fmla="*/ 39339 w 78678"/>
                  <a:gd name="connsiteY4" fmla="*/ 78853 h 78852"/>
                  <a:gd name="connsiteX5" fmla="*/ 39339 w 78678"/>
                  <a:gd name="connsiteY5" fmla="*/ 15459 h 78852"/>
                  <a:gd name="connsiteX6" fmla="*/ 15441 w 78678"/>
                  <a:gd name="connsiteY6" fmla="*/ 39410 h 78852"/>
                  <a:gd name="connsiteX7" fmla="*/ 39339 w 78678"/>
                  <a:gd name="connsiteY7" fmla="*/ 63362 h 78852"/>
                  <a:gd name="connsiteX8" fmla="*/ 63237 w 78678"/>
                  <a:gd name="connsiteY8" fmla="*/ 39410 h 78852"/>
                  <a:gd name="connsiteX9" fmla="*/ 39339 w 78678"/>
                  <a:gd name="connsiteY9" fmla="*/ 15459 h 78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8678" h="78852">
                    <a:moveTo>
                      <a:pt x="39339" y="78853"/>
                    </a:moveTo>
                    <a:cubicBezTo>
                      <a:pt x="17643" y="78853"/>
                      <a:pt x="0" y="61171"/>
                      <a:pt x="0" y="39426"/>
                    </a:cubicBezTo>
                    <a:cubicBezTo>
                      <a:pt x="0" y="17682"/>
                      <a:pt x="17643" y="0"/>
                      <a:pt x="39339" y="0"/>
                    </a:cubicBezTo>
                    <a:cubicBezTo>
                      <a:pt x="61036" y="0"/>
                      <a:pt x="78678" y="17682"/>
                      <a:pt x="78678" y="39426"/>
                    </a:cubicBezTo>
                    <a:cubicBezTo>
                      <a:pt x="78678" y="61171"/>
                      <a:pt x="61036" y="78853"/>
                      <a:pt x="39339" y="78853"/>
                    </a:cubicBezTo>
                    <a:close/>
                    <a:moveTo>
                      <a:pt x="39339" y="15459"/>
                    </a:moveTo>
                    <a:cubicBezTo>
                      <a:pt x="26163" y="15459"/>
                      <a:pt x="15441" y="26205"/>
                      <a:pt x="15441" y="39410"/>
                    </a:cubicBezTo>
                    <a:cubicBezTo>
                      <a:pt x="15441" y="52616"/>
                      <a:pt x="26163" y="63362"/>
                      <a:pt x="39339" y="63362"/>
                    </a:cubicBezTo>
                    <a:cubicBezTo>
                      <a:pt x="52516" y="63362"/>
                      <a:pt x="63237" y="52616"/>
                      <a:pt x="63237" y="39410"/>
                    </a:cubicBezTo>
                    <a:cubicBezTo>
                      <a:pt x="63237" y="26205"/>
                      <a:pt x="52516" y="15459"/>
                      <a:pt x="39339" y="15459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任意形状 51"/>
              <p:cNvSpPr/>
              <p:nvPr/>
            </p:nvSpPr>
            <p:spPr>
              <a:xfrm>
                <a:off x="6868912" y="1601686"/>
                <a:ext cx="78678" cy="78852"/>
              </a:xfrm>
              <a:custGeom>
                <a:avLst/>
                <a:gdLst>
                  <a:gd name="connsiteX0" fmla="*/ 39339 w 78678"/>
                  <a:gd name="connsiteY0" fmla="*/ 78853 h 78852"/>
                  <a:gd name="connsiteX1" fmla="*/ 0 w 78678"/>
                  <a:gd name="connsiteY1" fmla="*/ 39426 h 78852"/>
                  <a:gd name="connsiteX2" fmla="*/ 39339 w 78678"/>
                  <a:gd name="connsiteY2" fmla="*/ 0 h 78852"/>
                  <a:gd name="connsiteX3" fmla="*/ 78678 w 78678"/>
                  <a:gd name="connsiteY3" fmla="*/ 39426 h 78852"/>
                  <a:gd name="connsiteX4" fmla="*/ 39339 w 78678"/>
                  <a:gd name="connsiteY4" fmla="*/ 78853 h 78852"/>
                  <a:gd name="connsiteX5" fmla="*/ 39339 w 78678"/>
                  <a:gd name="connsiteY5" fmla="*/ 15459 h 78852"/>
                  <a:gd name="connsiteX6" fmla="*/ 15441 w 78678"/>
                  <a:gd name="connsiteY6" fmla="*/ 39410 h 78852"/>
                  <a:gd name="connsiteX7" fmla="*/ 39339 w 78678"/>
                  <a:gd name="connsiteY7" fmla="*/ 63362 h 78852"/>
                  <a:gd name="connsiteX8" fmla="*/ 63237 w 78678"/>
                  <a:gd name="connsiteY8" fmla="*/ 39410 h 78852"/>
                  <a:gd name="connsiteX9" fmla="*/ 39339 w 78678"/>
                  <a:gd name="connsiteY9" fmla="*/ 15459 h 78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8678" h="78852">
                    <a:moveTo>
                      <a:pt x="39339" y="78853"/>
                    </a:moveTo>
                    <a:cubicBezTo>
                      <a:pt x="17642" y="78853"/>
                      <a:pt x="0" y="61171"/>
                      <a:pt x="0" y="39426"/>
                    </a:cubicBezTo>
                    <a:cubicBezTo>
                      <a:pt x="0" y="17682"/>
                      <a:pt x="17658" y="0"/>
                      <a:pt x="39339" y="0"/>
                    </a:cubicBezTo>
                    <a:cubicBezTo>
                      <a:pt x="61020" y="0"/>
                      <a:pt x="78678" y="17682"/>
                      <a:pt x="78678" y="39426"/>
                    </a:cubicBezTo>
                    <a:cubicBezTo>
                      <a:pt x="78678" y="61171"/>
                      <a:pt x="61020" y="78853"/>
                      <a:pt x="39339" y="78853"/>
                    </a:cubicBezTo>
                    <a:close/>
                    <a:moveTo>
                      <a:pt x="39339" y="15459"/>
                    </a:moveTo>
                    <a:cubicBezTo>
                      <a:pt x="26163" y="15459"/>
                      <a:pt x="15441" y="26205"/>
                      <a:pt x="15441" y="39410"/>
                    </a:cubicBezTo>
                    <a:cubicBezTo>
                      <a:pt x="15441" y="52616"/>
                      <a:pt x="26163" y="63362"/>
                      <a:pt x="39339" y="63362"/>
                    </a:cubicBezTo>
                    <a:cubicBezTo>
                      <a:pt x="52516" y="63362"/>
                      <a:pt x="63237" y="52616"/>
                      <a:pt x="63237" y="39410"/>
                    </a:cubicBezTo>
                    <a:cubicBezTo>
                      <a:pt x="63237" y="26205"/>
                      <a:pt x="52516" y="15459"/>
                      <a:pt x="39339" y="15459"/>
                    </a:cubicBez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任意形状 52"/>
              <p:cNvSpPr/>
              <p:nvPr/>
            </p:nvSpPr>
            <p:spPr>
              <a:xfrm>
                <a:off x="7073875" y="1470726"/>
                <a:ext cx="86074" cy="85757"/>
              </a:xfrm>
              <a:custGeom>
                <a:avLst/>
                <a:gdLst>
                  <a:gd name="connsiteX0" fmla="*/ 78346 w 86074"/>
                  <a:gd name="connsiteY0" fmla="*/ 85757 h 85757"/>
                  <a:gd name="connsiteX1" fmla="*/ 7728 w 86074"/>
                  <a:gd name="connsiteY1" fmla="*/ 85757 h 85757"/>
                  <a:gd name="connsiteX2" fmla="*/ 0 w 86074"/>
                  <a:gd name="connsiteY2" fmla="*/ 78011 h 85757"/>
                  <a:gd name="connsiteX3" fmla="*/ 0 w 86074"/>
                  <a:gd name="connsiteY3" fmla="*/ 8000 h 85757"/>
                  <a:gd name="connsiteX4" fmla="*/ 0 w 86074"/>
                  <a:gd name="connsiteY4" fmla="*/ 7746 h 85757"/>
                  <a:gd name="connsiteX5" fmla="*/ 7728 w 86074"/>
                  <a:gd name="connsiteY5" fmla="*/ 0 h 85757"/>
                  <a:gd name="connsiteX6" fmla="*/ 52120 w 86074"/>
                  <a:gd name="connsiteY6" fmla="*/ 0 h 85757"/>
                  <a:gd name="connsiteX7" fmla="*/ 57108 w 86074"/>
                  <a:gd name="connsiteY7" fmla="*/ 1825 h 85757"/>
                  <a:gd name="connsiteX8" fmla="*/ 83335 w 86074"/>
                  <a:gd name="connsiteY8" fmla="*/ 24062 h 85757"/>
                  <a:gd name="connsiteX9" fmla="*/ 86074 w 86074"/>
                  <a:gd name="connsiteY9" fmla="*/ 29967 h 85757"/>
                  <a:gd name="connsiteX10" fmla="*/ 86074 w 86074"/>
                  <a:gd name="connsiteY10" fmla="*/ 77996 h 85757"/>
                  <a:gd name="connsiteX11" fmla="*/ 78346 w 86074"/>
                  <a:gd name="connsiteY11" fmla="*/ 85741 h 85757"/>
                  <a:gd name="connsiteX12" fmla="*/ 15441 w 86074"/>
                  <a:gd name="connsiteY12" fmla="*/ 70282 h 85757"/>
                  <a:gd name="connsiteX13" fmla="*/ 70617 w 86074"/>
                  <a:gd name="connsiteY13" fmla="*/ 70282 h 85757"/>
                  <a:gd name="connsiteX14" fmla="*/ 70617 w 86074"/>
                  <a:gd name="connsiteY14" fmla="*/ 33585 h 85757"/>
                  <a:gd name="connsiteX15" fmla="*/ 49285 w 86074"/>
                  <a:gd name="connsiteY15" fmla="*/ 15491 h 85757"/>
                  <a:gd name="connsiteX16" fmla="*/ 15441 w 86074"/>
                  <a:gd name="connsiteY16" fmla="*/ 15491 h 85757"/>
                  <a:gd name="connsiteX17" fmla="*/ 15441 w 86074"/>
                  <a:gd name="connsiteY17" fmla="*/ 70282 h 85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6074" h="85757">
                    <a:moveTo>
                      <a:pt x="78346" y="85757"/>
                    </a:moveTo>
                    <a:lnTo>
                      <a:pt x="7728" y="85757"/>
                    </a:lnTo>
                    <a:cubicBezTo>
                      <a:pt x="3468" y="85757"/>
                      <a:pt x="0" y="82297"/>
                      <a:pt x="0" y="78011"/>
                    </a:cubicBezTo>
                    <a:lnTo>
                      <a:pt x="0" y="8000"/>
                    </a:lnTo>
                    <a:cubicBezTo>
                      <a:pt x="0" y="7920"/>
                      <a:pt x="0" y="7825"/>
                      <a:pt x="0" y="7746"/>
                    </a:cubicBezTo>
                    <a:cubicBezTo>
                      <a:pt x="0" y="3476"/>
                      <a:pt x="3452" y="0"/>
                      <a:pt x="7728" y="0"/>
                    </a:cubicBezTo>
                    <a:lnTo>
                      <a:pt x="52120" y="0"/>
                    </a:lnTo>
                    <a:cubicBezTo>
                      <a:pt x="53941" y="0"/>
                      <a:pt x="55715" y="651"/>
                      <a:pt x="57108" y="1825"/>
                    </a:cubicBezTo>
                    <a:lnTo>
                      <a:pt x="83335" y="24062"/>
                    </a:lnTo>
                    <a:cubicBezTo>
                      <a:pt x="85077" y="25538"/>
                      <a:pt x="86074" y="27697"/>
                      <a:pt x="86074" y="29967"/>
                    </a:cubicBezTo>
                    <a:lnTo>
                      <a:pt x="86074" y="77996"/>
                    </a:lnTo>
                    <a:cubicBezTo>
                      <a:pt x="86074" y="82265"/>
                      <a:pt x="82622" y="85741"/>
                      <a:pt x="78346" y="85741"/>
                    </a:cubicBezTo>
                    <a:close/>
                    <a:moveTo>
                      <a:pt x="15441" y="70282"/>
                    </a:moveTo>
                    <a:lnTo>
                      <a:pt x="70617" y="70282"/>
                    </a:lnTo>
                    <a:lnTo>
                      <a:pt x="70617" y="33585"/>
                    </a:lnTo>
                    <a:lnTo>
                      <a:pt x="49285" y="15491"/>
                    </a:lnTo>
                    <a:lnTo>
                      <a:pt x="15441" y="15491"/>
                    </a:lnTo>
                    <a:lnTo>
                      <a:pt x="15441" y="70282"/>
                    </a:lnTo>
                    <a:close/>
                  </a:path>
                </a:pathLst>
              </a:custGeom>
              <a:grpFill/>
              <a:ln w="15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675658" y="3663752"/>
              <a:ext cx="2380904" cy="4208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342900">
                <a:lnSpc>
                  <a:spcPct val="120000"/>
                </a:lnSpc>
                <a:defRPr/>
              </a:pP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提供高效服务，涵盖产前物流至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CDC</a:t>
              </a: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中成品储存的供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应</a:t>
              </a:r>
              <a:r>
                <a:rPr lang="zh-CN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流程 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175400" y="3657473"/>
              <a:ext cx="2338491" cy="4208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342900">
                <a:lnSpc>
                  <a:spcPct val="120000"/>
                </a:lnSpc>
                <a:defRPr/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为终端消费者提供全国无盲区末端配送与专业安装服务</a:t>
              </a:r>
              <a:endParaRPr lang="zh-CN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356504" y="3659681"/>
              <a:ext cx="2565422" cy="4208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342900">
                <a:lnSpc>
                  <a:spcPct val="120000"/>
                </a:lnSpc>
                <a:defRPr/>
              </a:pP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以一盘货统仓模式，管理成品从工厂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/CDC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Arial" panose="020B0604020202020204" pitchFamily="34" charset="0"/>
                </a:rPr>
                <a:t>到配送仓的“短链”交付，直至末端配送</a:t>
              </a:r>
              <a:endPara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401" y="747442"/>
            <a:ext cx="1861201" cy="197696"/>
          </a:xfrm>
          <a:prstGeom prst="rect">
            <a:avLst/>
          </a:prstGeom>
        </p:spPr>
      </p:pic>
      <p:sp>
        <p:nvSpPr>
          <p:cNvPr id="202" name="Shape 687"/>
          <p:cNvSpPr txBox="1"/>
          <p:nvPr/>
        </p:nvSpPr>
        <p:spPr>
          <a:xfrm>
            <a:off x="2937444" y="4534009"/>
            <a:ext cx="3437336" cy="225238"/>
          </a:xfrm>
          <a:prstGeom prst="rect">
            <a:avLst/>
          </a:prstGeom>
          <a:ln w="25400">
            <a:miter lim="400000"/>
          </a:ln>
        </p:spPr>
        <p:txBody>
          <a:bodyPr wrap="none" lIns="20090" tIns="20090" rIns="20090" bIns="20090" anchor="ctr">
            <a:spAutoFit/>
          </a:bodyPr>
          <a:lstStyle>
            <a:defPPr>
              <a:defRPr lang="zh-CN"/>
            </a:defPPr>
            <a:lvl1pPr marR="0" lvl="0" indent="0" defTabSz="1095375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1178FE"/>
                </a:solidFill>
                <a:effectLst/>
                <a:uLnTx/>
                <a:uFillTx/>
                <a:latin typeface="Midea Type" panose="02000500000000000000" pitchFamily="2" charset="-122"/>
                <a:ea typeface="Midea Type" panose="02000500000000000000" pitchFamily="2" charset="-122"/>
                <a:cs typeface="Midea Type" panose="02000500000000000000" pitchFamily="2" charset="-122"/>
              </a:defRPr>
            </a:lvl1pPr>
          </a:lstStyle>
          <a:p>
            <a:r>
              <a:rPr lang="zh-CN" altLang="en-US" sz="12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已成功为</a:t>
            </a:r>
            <a:r>
              <a:rPr lang="en-US" altLang="zh-CN" sz="12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9000+</a:t>
            </a:r>
            <a:r>
              <a:rPr lang="zh-CN" altLang="en-US" sz="12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企业客户提供专业供应链物流服务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674351" y="1481422"/>
            <a:ext cx="8052995" cy="1410197"/>
            <a:chOff x="978994" y="1949958"/>
            <a:chExt cx="8414301" cy="1145849"/>
          </a:xfrm>
        </p:grpSpPr>
        <p:sp>
          <p:nvSpPr>
            <p:cNvPr id="159" name="文本框 158"/>
            <p:cNvSpPr txBox="1"/>
            <p:nvPr/>
          </p:nvSpPr>
          <p:spPr>
            <a:xfrm>
              <a:off x="2948321" y="2126888"/>
              <a:ext cx="657100" cy="17817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1429" tIns="51429" rIns="51429" bIns="51429" numCol="1" spcCol="38100" rtlCol="0" anchor="t">
              <a:spAutoFit/>
            </a:bodyPr>
            <a:lstStyle/>
            <a:p>
              <a:pPr algn="ctr" defTabSz="1028700">
                <a:defRPr/>
              </a:pPr>
              <a:r>
                <a:rPr lang="zh-CN" altLang="en-US" sz="75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生产物流</a:t>
              </a:r>
              <a:endParaRPr lang="en-US" sz="7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5987938" y="2079913"/>
              <a:ext cx="1881959" cy="17817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1429" tIns="51429" rIns="51429" bIns="51429" numCol="1" spcCol="38100" rtlCol="0" anchor="t">
              <a:spAutoFit/>
            </a:bodyPr>
            <a:lstStyle/>
            <a:p>
              <a:pPr algn="ctr" defTabSz="1028700">
                <a:defRPr/>
              </a:pPr>
              <a:r>
                <a:rPr lang="zh-CN" altLang="en-US" sz="75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一盘货统仓统配</a:t>
              </a:r>
              <a:endParaRPr lang="en-US" sz="7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8072878" y="1949958"/>
              <a:ext cx="1312715" cy="27195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1429" tIns="51429" rIns="51429" bIns="51429" numCol="1" spcCol="38100" rtlCol="0" anchor="t">
              <a:spAutoFit/>
            </a:bodyPr>
            <a:lstStyle/>
            <a:p>
              <a:pPr algn="ctr" defTabSz="1028700">
                <a:defRPr/>
              </a:pPr>
              <a:r>
                <a:rPr lang="zh-CN" altLang="en-US" sz="75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最后一公里</a:t>
              </a:r>
            </a:p>
            <a:p>
              <a:pPr algn="ctr" defTabSz="1028700">
                <a:defRPr/>
              </a:pPr>
              <a:r>
                <a:rPr lang="zh-CN" altLang="en-US" sz="75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送装一体</a:t>
              </a:r>
              <a:endParaRPr lang="en-US" sz="7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75" name="Object5"/>
            <p:cNvSpPr/>
            <p:nvPr/>
          </p:nvSpPr>
          <p:spPr>
            <a:xfrm>
              <a:off x="2951367" y="2471030"/>
              <a:ext cx="376245" cy="1135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 defTabSz="257175">
                <a:lnSpc>
                  <a:spcPts val="506"/>
                </a:lnSpc>
                <a:defRPr/>
              </a:pPr>
              <a:r>
                <a: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齐套供货</a:t>
              </a:r>
              <a:endParaRPr 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76" name="Object9"/>
            <p:cNvSpPr/>
            <p:nvPr/>
          </p:nvSpPr>
          <p:spPr>
            <a:xfrm>
              <a:off x="5387660" y="2474313"/>
              <a:ext cx="405262" cy="1468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 defTabSz="257175">
                <a:lnSpc>
                  <a:spcPts val="506"/>
                </a:lnSpc>
                <a:defRPr/>
              </a:pPr>
              <a:r>
                <a: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整车货运</a:t>
              </a:r>
              <a:endParaRPr 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77" name="Object10"/>
            <p:cNvSpPr/>
            <p:nvPr/>
          </p:nvSpPr>
          <p:spPr>
            <a:xfrm>
              <a:off x="5416676" y="2757576"/>
              <a:ext cx="376245" cy="1135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 defTabSz="257175">
                <a:lnSpc>
                  <a:spcPts val="506"/>
                </a:lnSpc>
                <a:defRPr/>
              </a:pPr>
              <a:r>
                <a: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零担货运</a:t>
              </a:r>
              <a:endParaRPr 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78" name="Object18"/>
            <p:cNvSpPr/>
            <p:nvPr/>
          </p:nvSpPr>
          <p:spPr>
            <a:xfrm>
              <a:off x="8154919" y="2742234"/>
              <a:ext cx="422048" cy="1123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 defTabSz="257175">
                <a:lnSpc>
                  <a:spcPts val="506"/>
                </a:lnSpc>
                <a:defRPr/>
              </a:pPr>
              <a:r>
                <a:rPr 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送装一体</a:t>
              </a:r>
            </a:p>
          </p:txBody>
        </p:sp>
        <p:sp>
          <p:nvSpPr>
            <p:cNvPr id="179" name="Object19"/>
            <p:cNvSpPr/>
            <p:nvPr/>
          </p:nvSpPr>
          <p:spPr>
            <a:xfrm>
              <a:off x="8154919" y="2501744"/>
              <a:ext cx="422048" cy="11293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 defTabSz="257175">
                <a:lnSpc>
                  <a:spcPts val="506"/>
                </a:lnSpc>
                <a:defRPr/>
              </a:pPr>
              <a:r>
                <a:rPr 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2C配送</a:t>
              </a:r>
            </a:p>
          </p:txBody>
        </p:sp>
        <p:sp>
          <p:nvSpPr>
            <p:cNvPr id="180" name="Object8"/>
            <p:cNvSpPr/>
            <p:nvPr/>
          </p:nvSpPr>
          <p:spPr>
            <a:xfrm>
              <a:off x="4742926" y="2875795"/>
              <a:ext cx="511834" cy="1521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 defTabSz="257175">
                <a:defRPr/>
              </a:pPr>
              <a:r>
                <a:rPr lang="en-US" sz="600" b="1" dirty="0" err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成品</a:t>
              </a:r>
              <a:r>
                <a:rPr lang="en-US" sz="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/</a:t>
              </a:r>
              <a:r>
                <a:rPr lang="en-US" sz="600" b="1" dirty="0" err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基地仓</a:t>
              </a:r>
              <a:endParaRPr lang="en-US" sz="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pic>
          <p:nvPicPr>
            <p:cNvPr id="181" name="图片 180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1095358" y="2426391"/>
              <a:ext cx="374372" cy="308501"/>
            </a:xfrm>
            <a:prstGeom prst="rect">
              <a:avLst/>
            </a:prstGeom>
            <a:noFill/>
          </p:spPr>
        </p:pic>
        <p:sp>
          <p:nvSpPr>
            <p:cNvPr id="182" name="Object2"/>
            <p:cNvSpPr/>
            <p:nvPr/>
          </p:nvSpPr>
          <p:spPr>
            <a:xfrm>
              <a:off x="1028215" y="2850740"/>
              <a:ext cx="494356" cy="24506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 defTabSz="257175">
                <a:defRPr/>
              </a:pPr>
              <a:r>
                <a:rPr lang="zh-CN" altLang="en-US" sz="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原材料</a:t>
              </a:r>
              <a:r>
                <a:rPr lang="en-US" sz="600" b="1" dirty="0" err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供应商</a:t>
              </a:r>
              <a:endParaRPr lang="en-US" sz="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83" name="Object3"/>
            <p:cNvSpPr/>
            <p:nvPr/>
          </p:nvSpPr>
          <p:spPr>
            <a:xfrm>
              <a:off x="2314686" y="2868146"/>
              <a:ext cx="429815" cy="15135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 defTabSz="257175">
                <a:defRPr/>
              </a:pPr>
              <a:r>
                <a:rPr lang="en-US" sz="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VMI仓</a:t>
              </a:r>
            </a:p>
          </p:txBody>
        </p:sp>
        <p:pic>
          <p:nvPicPr>
            <p:cNvPr id="184" name="图片 183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>
            <a:xfrm>
              <a:off x="3531488" y="2471030"/>
              <a:ext cx="437159" cy="231599"/>
            </a:xfrm>
            <a:prstGeom prst="rect">
              <a:avLst/>
            </a:prstGeom>
          </p:spPr>
        </p:pic>
        <p:sp>
          <p:nvSpPr>
            <p:cNvPr id="185" name="Object6"/>
            <p:cNvSpPr/>
            <p:nvPr/>
          </p:nvSpPr>
          <p:spPr>
            <a:xfrm>
              <a:off x="3564781" y="2871135"/>
              <a:ext cx="429817" cy="14428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 defTabSz="257175">
                <a:defRPr/>
              </a:pPr>
              <a:r>
                <a:rPr lang="en-US" sz="600" b="1" dirty="0" err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制造商</a:t>
              </a:r>
              <a:endParaRPr lang="en-US" sz="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86" name="Object12"/>
            <p:cNvSpPr/>
            <p:nvPr/>
          </p:nvSpPr>
          <p:spPr>
            <a:xfrm>
              <a:off x="5943186" y="2885737"/>
              <a:ext cx="568976" cy="15258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defTabSz="257175">
                <a:defRPr/>
              </a:pPr>
              <a:r>
                <a:rPr lang="zh-CN" altLang="en-US" sz="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一盘货共配中心</a:t>
              </a:r>
              <a:endParaRPr lang="en-US" sz="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87" name="Object16"/>
            <p:cNvSpPr/>
            <p:nvPr/>
          </p:nvSpPr>
          <p:spPr>
            <a:xfrm>
              <a:off x="7473487" y="2887087"/>
              <a:ext cx="454325" cy="14067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defTabSz="257175">
                <a:defRPr/>
              </a:pPr>
              <a:r>
                <a:rPr lang="en-US" sz="600" b="1" dirty="0" err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零售门店</a:t>
              </a:r>
              <a:endParaRPr lang="en-US" sz="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sp>
          <p:nvSpPr>
            <p:cNvPr id="188" name="Object20"/>
            <p:cNvSpPr/>
            <p:nvPr/>
          </p:nvSpPr>
          <p:spPr>
            <a:xfrm>
              <a:off x="8814826" y="2866645"/>
              <a:ext cx="519654" cy="15057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 defTabSz="257175">
                <a:defRPr/>
              </a:pPr>
              <a:r>
                <a:rPr lang="en-US" sz="600" b="1" dirty="0" err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用户</a:t>
              </a:r>
              <a:endParaRPr lang="en-US" sz="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  <p:cxnSp>
          <p:nvCxnSpPr>
            <p:cNvPr id="189" name="直接箭头连接符 161"/>
            <p:cNvCxnSpPr/>
            <p:nvPr/>
          </p:nvCxnSpPr>
          <p:spPr>
            <a:xfrm>
              <a:off x="1151882" y="2220637"/>
              <a:ext cx="1796439" cy="0"/>
            </a:xfrm>
            <a:prstGeom prst="straightConnector1">
              <a:avLst/>
            </a:prstGeom>
            <a:ln w="952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62"/>
            <p:cNvCxnSpPr/>
            <p:nvPr/>
          </p:nvCxnSpPr>
          <p:spPr>
            <a:xfrm flipH="1" flipV="1">
              <a:off x="3670478" y="2210238"/>
              <a:ext cx="2160722" cy="1"/>
            </a:xfrm>
            <a:prstGeom prst="straightConnector1">
              <a:avLst/>
            </a:prstGeom>
            <a:ln w="952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箭头连接符 163"/>
            <p:cNvCxnSpPr/>
            <p:nvPr/>
          </p:nvCxnSpPr>
          <p:spPr>
            <a:xfrm>
              <a:off x="5912605" y="2210238"/>
              <a:ext cx="560861" cy="2862"/>
            </a:xfrm>
            <a:prstGeom prst="straightConnector1">
              <a:avLst/>
            </a:prstGeom>
            <a:ln w="952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64"/>
            <p:cNvCxnSpPr/>
            <p:nvPr/>
          </p:nvCxnSpPr>
          <p:spPr>
            <a:xfrm flipH="1">
              <a:off x="7473487" y="2213100"/>
              <a:ext cx="553572" cy="0"/>
            </a:xfrm>
            <a:prstGeom prst="straightConnector1">
              <a:avLst/>
            </a:prstGeom>
            <a:ln w="952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箭头连接符 165"/>
            <p:cNvCxnSpPr/>
            <p:nvPr/>
          </p:nvCxnSpPr>
          <p:spPr>
            <a:xfrm>
              <a:off x="8097972" y="2213100"/>
              <a:ext cx="382270" cy="0"/>
            </a:xfrm>
            <a:prstGeom prst="straightConnector1">
              <a:avLst/>
            </a:prstGeom>
            <a:ln w="952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箭头连接符 166"/>
            <p:cNvCxnSpPr/>
            <p:nvPr/>
          </p:nvCxnSpPr>
          <p:spPr>
            <a:xfrm flipH="1">
              <a:off x="8979132" y="2213100"/>
              <a:ext cx="388236" cy="0"/>
            </a:xfrm>
            <a:prstGeom prst="straightConnector1">
              <a:avLst/>
            </a:prstGeom>
            <a:ln w="952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546"/>
            <p:cNvCxnSpPr/>
            <p:nvPr/>
          </p:nvCxnSpPr>
          <p:spPr>
            <a:xfrm>
              <a:off x="5891478" y="2158758"/>
              <a:ext cx="0" cy="134988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546"/>
            <p:cNvCxnSpPr/>
            <p:nvPr/>
          </p:nvCxnSpPr>
          <p:spPr>
            <a:xfrm>
              <a:off x="8062336" y="2158758"/>
              <a:ext cx="0" cy="134988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7" name="Object 5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>
            <a:xfrm>
              <a:off x="2278577" y="2450409"/>
              <a:ext cx="470073" cy="294822"/>
            </a:xfrm>
            <a:prstGeom prst="rect">
              <a:avLst/>
            </a:prstGeom>
          </p:spPr>
        </p:pic>
        <p:pic>
          <p:nvPicPr>
            <p:cNvPr id="198" name="Object 12"/>
            <p:cNvPicPr>
              <a:picLocks noChangeAspect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>
            <a:xfrm>
              <a:off x="4800768" y="2469027"/>
              <a:ext cx="403220" cy="289588"/>
            </a:xfrm>
            <a:prstGeom prst="rect">
              <a:avLst/>
            </a:prstGeom>
          </p:spPr>
        </p:pic>
        <p:pic>
          <p:nvPicPr>
            <p:cNvPr id="199" name="图片 198"/>
            <p:cNvPicPr>
              <a:picLocks noChangeAspect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>
            <a:xfrm>
              <a:off x="6000879" y="2482066"/>
              <a:ext cx="446745" cy="308446"/>
            </a:xfrm>
            <a:prstGeom prst="rect">
              <a:avLst/>
            </a:prstGeom>
          </p:spPr>
        </p:pic>
        <p:pic>
          <p:nvPicPr>
            <p:cNvPr id="200" name="图片 19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31553" y="2482894"/>
              <a:ext cx="398348" cy="280079"/>
            </a:xfrm>
            <a:prstGeom prst="rect">
              <a:avLst/>
            </a:prstGeom>
          </p:spPr>
        </p:pic>
        <p:pic>
          <p:nvPicPr>
            <p:cNvPr id="201" name="Picture 9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8947331" y="2394159"/>
              <a:ext cx="181490" cy="3688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3" name="组合 202"/>
            <p:cNvGrpSpPr/>
            <p:nvPr/>
          </p:nvGrpSpPr>
          <p:grpSpPr>
            <a:xfrm>
              <a:off x="1781789" y="2621181"/>
              <a:ext cx="194849" cy="86236"/>
              <a:chOff x="5145487" y="1245287"/>
              <a:chExt cx="310331" cy="135806"/>
            </a:xfrm>
          </p:grpSpPr>
          <p:sp>
            <p:nvSpPr>
              <p:cNvPr id="204" name="燕尾形 160"/>
              <p:cNvSpPr/>
              <p:nvPr/>
            </p:nvSpPr>
            <p:spPr>
              <a:xfrm rot="66896">
                <a:off x="5145487" y="124528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05" name="燕尾形 161"/>
              <p:cNvSpPr/>
              <p:nvPr/>
            </p:nvSpPr>
            <p:spPr>
              <a:xfrm rot="66896">
                <a:off x="5230501" y="124837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06" name="燕尾形 162"/>
              <p:cNvSpPr/>
              <p:nvPr/>
            </p:nvSpPr>
            <p:spPr>
              <a:xfrm rot="66896">
                <a:off x="5317127" y="1249778"/>
                <a:ext cx="138691" cy="131315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207" name="圆角矩形 17"/>
            <p:cNvSpPr/>
            <p:nvPr/>
          </p:nvSpPr>
          <p:spPr>
            <a:xfrm>
              <a:off x="978994" y="2311743"/>
              <a:ext cx="587928" cy="710542"/>
            </a:xfrm>
            <a:prstGeom prst="roundRect">
              <a:avLst>
                <a:gd name="adj" fmla="val 4078"/>
              </a:avLst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 defTabSz="914400">
                <a:defRPr/>
              </a:pPr>
              <a:endParaRPr lang="en-US" altLang="zh-CN" sz="750" b="1" kern="1200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Helvetica Light"/>
              </a:endParaRPr>
            </a:p>
          </p:txBody>
        </p:sp>
        <p:sp>
          <p:nvSpPr>
            <p:cNvPr id="208" name="圆角矩形 17"/>
            <p:cNvSpPr/>
            <p:nvPr/>
          </p:nvSpPr>
          <p:spPr>
            <a:xfrm>
              <a:off x="2217549" y="2311743"/>
              <a:ext cx="587928" cy="710542"/>
            </a:xfrm>
            <a:prstGeom prst="roundRect">
              <a:avLst>
                <a:gd name="adj" fmla="val 4078"/>
              </a:avLst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 defTabSz="914400">
                <a:defRPr/>
              </a:pPr>
              <a:endParaRPr lang="en-US" altLang="zh-CN" sz="750" b="1" kern="1200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Helvetica Light"/>
              </a:endParaRPr>
            </a:p>
          </p:txBody>
        </p:sp>
        <p:sp>
          <p:nvSpPr>
            <p:cNvPr id="209" name="圆角矩形 17"/>
            <p:cNvSpPr/>
            <p:nvPr/>
          </p:nvSpPr>
          <p:spPr>
            <a:xfrm>
              <a:off x="3456105" y="2311743"/>
              <a:ext cx="587928" cy="710542"/>
            </a:xfrm>
            <a:prstGeom prst="roundRect">
              <a:avLst>
                <a:gd name="adj" fmla="val 4078"/>
              </a:avLst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 defTabSz="914400">
                <a:defRPr/>
              </a:pPr>
              <a:endParaRPr lang="en-US" altLang="zh-CN" sz="750" b="1" kern="1200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Helvetica Light"/>
              </a:endParaRPr>
            </a:p>
          </p:txBody>
        </p:sp>
        <p:sp>
          <p:nvSpPr>
            <p:cNvPr id="210" name="圆角矩形 17"/>
            <p:cNvSpPr/>
            <p:nvPr/>
          </p:nvSpPr>
          <p:spPr>
            <a:xfrm>
              <a:off x="4694660" y="2311743"/>
              <a:ext cx="587928" cy="710542"/>
            </a:xfrm>
            <a:prstGeom prst="roundRect">
              <a:avLst>
                <a:gd name="adj" fmla="val 4078"/>
              </a:avLst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 defTabSz="914400">
                <a:defRPr/>
              </a:pPr>
              <a:endParaRPr lang="en-US" altLang="zh-CN" sz="750" b="1" kern="1200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Helvetica Light"/>
              </a:endParaRPr>
            </a:p>
          </p:txBody>
        </p:sp>
        <p:sp>
          <p:nvSpPr>
            <p:cNvPr id="224" name="圆角矩形 17"/>
            <p:cNvSpPr/>
            <p:nvPr/>
          </p:nvSpPr>
          <p:spPr>
            <a:xfrm>
              <a:off x="5912605" y="2311743"/>
              <a:ext cx="613768" cy="710542"/>
            </a:xfrm>
            <a:prstGeom prst="roundRect">
              <a:avLst>
                <a:gd name="adj" fmla="val 4078"/>
              </a:avLst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 defTabSz="914400">
                <a:defRPr/>
              </a:pPr>
              <a:endParaRPr lang="en-US" altLang="zh-CN" sz="750" b="1" kern="1200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Helvetica Light"/>
              </a:endParaRPr>
            </a:p>
          </p:txBody>
        </p:sp>
        <p:sp>
          <p:nvSpPr>
            <p:cNvPr id="225" name="圆角矩形 17"/>
            <p:cNvSpPr/>
            <p:nvPr/>
          </p:nvSpPr>
          <p:spPr>
            <a:xfrm>
              <a:off x="7197715" y="2275344"/>
              <a:ext cx="844671" cy="787068"/>
            </a:xfrm>
            <a:prstGeom prst="roundRect">
              <a:avLst>
                <a:gd name="adj" fmla="val 4078"/>
              </a:avLst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 defTabSz="914400">
                <a:defRPr/>
              </a:pPr>
              <a:endParaRPr lang="en-US" altLang="zh-CN" sz="750" b="1" kern="1200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Helvetica Light"/>
              </a:endParaRPr>
            </a:p>
          </p:txBody>
        </p:sp>
        <p:sp>
          <p:nvSpPr>
            <p:cNvPr id="226" name="圆角矩形 17"/>
            <p:cNvSpPr/>
            <p:nvPr/>
          </p:nvSpPr>
          <p:spPr>
            <a:xfrm>
              <a:off x="8749550" y="2311743"/>
              <a:ext cx="587928" cy="710542"/>
            </a:xfrm>
            <a:prstGeom prst="roundRect">
              <a:avLst>
                <a:gd name="adj" fmla="val 4078"/>
              </a:avLst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 defTabSz="914400">
                <a:defRPr/>
              </a:pPr>
              <a:endParaRPr lang="en-US" altLang="zh-CN" sz="750" b="1" kern="1200" dirty="0">
                <a:solidFill>
                  <a:srgbClr val="1578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  <a:sym typeface="Helvetica Light"/>
              </a:endParaRPr>
            </a:p>
          </p:txBody>
        </p:sp>
        <p:grpSp>
          <p:nvGrpSpPr>
            <p:cNvPr id="229" name="组合 228"/>
            <p:cNvGrpSpPr/>
            <p:nvPr/>
          </p:nvGrpSpPr>
          <p:grpSpPr>
            <a:xfrm>
              <a:off x="3027278" y="2615537"/>
              <a:ext cx="194849" cy="86236"/>
              <a:chOff x="5145487" y="1245287"/>
              <a:chExt cx="310331" cy="135806"/>
            </a:xfrm>
          </p:grpSpPr>
          <p:sp>
            <p:nvSpPr>
              <p:cNvPr id="230" name="燕尾形 160"/>
              <p:cNvSpPr/>
              <p:nvPr/>
            </p:nvSpPr>
            <p:spPr>
              <a:xfrm rot="66896">
                <a:off x="5145487" y="124528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31" name="燕尾形 161"/>
              <p:cNvSpPr/>
              <p:nvPr/>
            </p:nvSpPr>
            <p:spPr>
              <a:xfrm rot="66896">
                <a:off x="5230501" y="124837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32" name="燕尾形 162"/>
              <p:cNvSpPr/>
              <p:nvPr/>
            </p:nvSpPr>
            <p:spPr>
              <a:xfrm rot="66896">
                <a:off x="5317127" y="1249778"/>
                <a:ext cx="138691" cy="131315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233" name="组合 232"/>
            <p:cNvGrpSpPr/>
            <p:nvPr/>
          </p:nvGrpSpPr>
          <p:grpSpPr>
            <a:xfrm>
              <a:off x="4264913" y="2619837"/>
              <a:ext cx="194849" cy="86236"/>
              <a:chOff x="5145487" y="1245287"/>
              <a:chExt cx="310331" cy="135806"/>
            </a:xfrm>
          </p:grpSpPr>
          <p:sp>
            <p:nvSpPr>
              <p:cNvPr id="234" name="燕尾形 160"/>
              <p:cNvSpPr/>
              <p:nvPr/>
            </p:nvSpPr>
            <p:spPr>
              <a:xfrm rot="66896">
                <a:off x="5145487" y="124528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35" name="燕尾形 161"/>
              <p:cNvSpPr/>
              <p:nvPr/>
            </p:nvSpPr>
            <p:spPr>
              <a:xfrm rot="66896">
                <a:off x="5230501" y="124837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36" name="燕尾形 162"/>
              <p:cNvSpPr/>
              <p:nvPr/>
            </p:nvSpPr>
            <p:spPr>
              <a:xfrm rot="66896">
                <a:off x="5317127" y="1249778"/>
                <a:ext cx="138691" cy="131315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237" name="组合 236"/>
            <p:cNvGrpSpPr/>
            <p:nvPr/>
          </p:nvGrpSpPr>
          <p:grpSpPr>
            <a:xfrm>
              <a:off x="5493415" y="2630402"/>
              <a:ext cx="194849" cy="86236"/>
              <a:chOff x="5145487" y="1245287"/>
              <a:chExt cx="310331" cy="135806"/>
            </a:xfrm>
          </p:grpSpPr>
          <p:sp>
            <p:nvSpPr>
              <p:cNvPr id="238" name="燕尾形 160"/>
              <p:cNvSpPr/>
              <p:nvPr/>
            </p:nvSpPr>
            <p:spPr>
              <a:xfrm rot="66896">
                <a:off x="5145487" y="124528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39" name="燕尾形 161"/>
              <p:cNvSpPr/>
              <p:nvPr/>
            </p:nvSpPr>
            <p:spPr>
              <a:xfrm rot="66896">
                <a:off x="5230501" y="124837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40" name="燕尾形 162"/>
              <p:cNvSpPr/>
              <p:nvPr/>
            </p:nvSpPr>
            <p:spPr>
              <a:xfrm rot="66896">
                <a:off x="5317127" y="1249778"/>
                <a:ext cx="138691" cy="131315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组合 240"/>
            <p:cNvGrpSpPr/>
            <p:nvPr/>
          </p:nvGrpSpPr>
          <p:grpSpPr>
            <a:xfrm>
              <a:off x="6766113" y="2638994"/>
              <a:ext cx="194849" cy="86236"/>
              <a:chOff x="5145487" y="1245287"/>
              <a:chExt cx="310331" cy="135806"/>
            </a:xfrm>
          </p:grpSpPr>
          <p:sp>
            <p:nvSpPr>
              <p:cNvPr id="242" name="燕尾形 160"/>
              <p:cNvSpPr/>
              <p:nvPr/>
            </p:nvSpPr>
            <p:spPr>
              <a:xfrm rot="66896">
                <a:off x="5145487" y="124528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43" name="燕尾形 161"/>
              <p:cNvSpPr/>
              <p:nvPr/>
            </p:nvSpPr>
            <p:spPr>
              <a:xfrm rot="66896">
                <a:off x="5230501" y="124837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44" name="燕尾形 162"/>
              <p:cNvSpPr/>
              <p:nvPr/>
            </p:nvSpPr>
            <p:spPr>
              <a:xfrm rot="66896">
                <a:off x="5317127" y="1249778"/>
                <a:ext cx="138691" cy="131315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245" name="组合 244"/>
            <p:cNvGrpSpPr/>
            <p:nvPr/>
          </p:nvGrpSpPr>
          <p:grpSpPr>
            <a:xfrm>
              <a:off x="8258609" y="2622724"/>
              <a:ext cx="194849" cy="86236"/>
              <a:chOff x="5145487" y="1245287"/>
              <a:chExt cx="310331" cy="135806"/>
            </a:xfrm>
          </p:grpSpPr>
          <p:sp>
            <p:nvSpPr>
              <p:cNvPr id="246" name="燕尾形 160"/>
              <p:cNvSpPr/>
              <p:nvPr/>
            </p:nvSpPr>
            <p:spPr>
              <a:xfrm rot="66896">
                <a:off x="5145487" y="124528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47" name="燕尾形 161"/>
              <p:cNvSpPr/>
              <p:nvPr/>
            </p:nvSpPr>
            <p:spPr>
              <a:xfrm rot="66896">
                <a:off x="5230501" y="1248377"/>
                <a:ext cx="138691" cy="131314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48" name="燕尾形 162"/>
              <p:cNvSpPr/>
              <p:nvPr/>
            </p:nvSpPr>
            <p:spPr>
              <a:xfrm rot="66896">
                <a:off x="5317127" y="1249778"/>
                <a:ext cx="138691" cy="131315"/>
              </a:xfrm>
              <a:prstGeom prst="chevron">
                <a:avLst>
                  <a:gd name="adj" fmla="val 56897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0800000" scaled="0"/>
              </a:gradFill>
              <a:ln w="6350" cap="flat">
                <a:noFill/>
                <a:prstDash val="sysDot"/>
                <a:miter lim="400000"/>
              </a:ln>
            </p:spPr>
            <p:txBody>
              <a:bodyPr wrap="square" lIns="0" tIns="0" rIns="0" bIns="0" numCol="1" rtlCol="0" anchor="ctr">
                <a:noAutofit/>
              </a:bodyPr>
              <a:lstStyle/>
              <a:p>
                <a:pPr defTabSz="80963"/>
                <a:endParaRPr kumimoji="1" lang="zh-CN" altLang="en-US" sz="375" dirty="0"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cxnSp>
          <p:nvCxnSpPr>
            <p:cNvPr id="249" name="直接连接符 546"/>
            <p:cNvCxnSpPr/>
            <p:nvPr/>
          </p:nvCxnSpPr>
          <p:spPr>
            <a:xfrm>
              <a:off x="992677" y="2114906"/>
              <a:ext cx="0" cy="166858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546"/>
            <p:cNvCxnSpPr/>
            <p:nvPr/>
          </p:nvCxnSpPr>
          <p:spPr>
            <a:xfrm>
              <a:off x="9393295" y="2158758"/>
              <a:ext cx="0" cy="134988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Object5"/>
            <p:cNvSpPr/>
            <p:nvPr/>
          </p:nvSpPr>
          <p:spPr>
            <a:xfrm>
              <a:off x="2951367" y="2763380"/>
              <a:ext cx="376245" cy="1135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 defTabSz="257175">
                <a:lnSpc>
                  <a:spcPts val="506"/>
                </a:lnSpc>
                <a:defRPr/>
              </a:pPr>
              <a:r>
                <a:rPr lang="en-US" altLang="zh-CN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JIT</a:t>
              </a:r>
              <a:r>
                <a:rPr lang="zh-CN" altLang="en-US" sz="6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dea Type" panose="02000500000000000000" pitchFamily="2" charset="-122"/>
                </a:rPr>
                <a:t>配送</a:t>
              </a:r>
              <a:endParaRPr lang="en-US" sz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dea Type" panose="02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87"/>
          <p:cNvSpPr txBox="1"/>
          <p:nvPr>
            <p:custDataLst>
              <p:tags r:id="rId1"/>
            </p:custDataLst>
          </p:nvPr>
        </p:nvSpPr>
        <p:spPr>
          <a:xfrm>
            <a:off x="948511" y="495837"/>
            <a:ext cx="4286025" cy="207985"/>
          </a:xfrm>
          <a:prstGeom prst="rect">
            <a:avLst/>
          </a:prstGeom>
          <a:ln w="25400">
            <a:miter lim="400000"/>
          </a:ln>
        </p:spPr>
        <p:txBody>
          <a:bodyPr wrap="none" lIns="26787" tIns="26787" rIns="26787" bIns="26787" anchor="ctr">
            <a:spAutoFit/>
          </a:bodyPr>
          <a:lstStyle>
            <a:lvl1pPr defTabSz="821055">
              <a:defRPr sz="2800">
                <a:solidFill>
                  <a:srgbClr val="2323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1000" dirty="0">
                <a:solidFill>
                  <a:srgbClr val="E7E6E6">
                    <a:lumMod val="10000"/>
                  </a:srgbClr>
                </a:solidFill>
                <a:sym typeface="+mn-ea"/>
              </a:rPr>
              <a:t>以自主可控的工业软件为核心抓手，以平台为基本载体，全面赋能泛</a:t>
            </a:r>
            <a:r>
              <a:rPr lang="zh-CN" altLang="en-US" sz="1000" dirty="0" smtClean="0">
                <a:solidFill>
                  <a:srgbClr val="E7E6E6">
                    <a:lumMod val="10000"/>
                  </a:srgbClr>
                </a:solidFill>
                <a:sym typeface="+mn-ea"/>
              </a:rPr>
              <a:t>制造业</a:t>
            </a:r>
            <a:endParaRPr lang="zh-CN" altLang="en-US" sz="1000" dirty="0">
              <a:solidFill>
                <a:srgbClr val="000000"/>
              </a:solidFill>
            </a:endParaRPr>
          </a:p>
        </p:txBody>
      </p:sp>
      <p:sp>
        <p:nvSpPr>
          <p:cNvPr id="34" name="美的数字化路径"/>
          <p:cNvSpPr txBox="1"/>
          <p:nvPr/>
        </p:nvSpPr>
        <p:spPr>
          <a:xfrm>
            <a:off x="948510" y="195768"/>
            <a:ext cx="1672226" cy="331096"/>
          </a:xfrm>
          <a:prstGeom prst="rect">
            <a:avLst/>
          </a:prstGeom>
          <a:ln w="12700">
            <a:miter lim="400000"/>
          </a:ln>
        </p:spPr>
        <p:txBody>
          <a:bodyPr wrap="square" lIns="26787" tIns="26787" rIns="26787" bIns="26787" anchor="ctr">
            <a:spAutoFit/>
          </a:bodyPr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821055">
              <a:defRPr sz="180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 smtClean="0">
                <a:sym typeface="+mn-ea"/>
              </a:rPr>
              <a:t>美云智数</a:t>
            </a:r>
            <a:endParaRPr lang="zh-CN" altLang="en-US" dirty="0">
              <a:sym typeface="+mn-ea"/>
            </a:endParaRPr>
          </a:p>
        </p:txBody>
      </p:sp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2435225" y="2552700"/>
            <a:ext cx="1513840" cy="105346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endParaRPr lang="zh-CN" altLang="en-US" sz="1600" b="1" dirty="0">
              <a:solidFill>
                <a:srgbClr val="1478F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872490" y="1670050"/>
            <a:ext cx="7783195" cy="826770"/>
          </a:xfrm>
          <a:prstGeom prst="roundRect">
            <a:avLst>
              <a:gd name="adj" fmla="val 2659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endParaRPr lang="en-US" altLang="zh-CN" sz="1600" b="1" dirty="0">
              <a:solidFill>
                <a:srgbClr val="1478F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866775" y="3672205"/>
            <a:ext cx="7777480" cy="1301750"/>
          </a:xfrm>
          <a:prstGeom prst="roundRect">
            <a:avLst>
              <a:gd name="adj" fmla="val 2659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endParaRPr lang="zh-CN" altLang="en-US" sz="1600" b="1" dirty="0">
              <a:solidFill>
                <a:srgbClr val="1478F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2388235" y="2855595"/>
            <a:ext cx="1609090" cy="681355"/>
          </a:xfrm>
          <a:prstGeom prst="rect">
            <a:avLst/>
          </a:prstGeom>
          <a:noFill/>
        </p:spPr>
        <p:txBody>
          <a:bodyPr wrap="square" lIns="36195" rIns="36195" rtlCol="0" anchor="ctr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智造</a:t>
            </a:r>
            <a:r>
              <a:rPr kumimoji="1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MES</a:t>
            </a:r>
            <a:r>
              <a:rPr kumimoji="1" 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精益制造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运营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LOM </a:t>
            </a:r>
            <a:endParaRPr kumimoji="1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仓储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WMS   </a:t>
            </a: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品质QMS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 设备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TPM</a:t>
            </a:r>
            <a:endParaRPr kumimoji="1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ctr" defTabSz="914400">
              <a:lnSpc>
                <a:spcPct val="120000"/>
              </a:lnSpc>
            </a:pP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工业智联</a:t>
            </a:r>
            <a:r>
              <a:rPr kumimoji="1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SCADA</a:t>
            </a:r>
            <a:r>
              <a:rPr kumimoji="1" 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&amp;IoT </a:t>
            </a:r>
            <a:r>
              <a:rPr kumimoji="1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自控</a:t>
            </a:r>
            <a:r>
              <a:rPr kumimoji="1" lang="en-US" altLang="zh-CN" sz="800" dirty="0" smtClean="0">
                <a:solidFill>
                  <a:srgbClr val="000000">
                    <a:lumMod val="85000"/>
                    <a:lumOff val="15000"/>
                  </a:srgbClr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ACP</a:t>
            </a:r>
            <a:endParaRPr kumimoji="1" lang="en-US" sz="800" dirty="0" smtClean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ctr" defTabSz="914400">
              <a:lnSpc>
                <a:spcPct val="120000"/>
              </a:lnSpc>
            </a:pP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可持续发展</a:t>
            </a:r>
            <a:r>
              <a:rPr kumimoji="1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kumimoji="1" 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EHS</a:t>
            </a:r>
            <a:r>
              <a:rPr kumimoji="1" lang="en-US" altLang="zh-CN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&amp;EMS</a:t>
            </a:r>
          </a:p>
        </p:txBody>
      </p:sp>
      <p:sp>
        <p:nvSpPr>
          <p:cNvPr id="7" name="圆角矩形 6"/>
          <p:cNvSpPr/>
          <p:nvPr>
            <p:custDataLst>
              <p:tags r:id="rId6"/>
            </p:custDataLst>
          </p:nvPr>
        </p:nvSpPr>
        <p:spPr>
          <a:xfrm>
            <a:off x="875665" y="2554605"/>
            <a:ext cx="1513840" cy="105346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endParaRPr lang="zh-CN" altLang="en-US" sz="1600" b="1" dirty="0">
              <a:solidFill>
                <a:srgbClr val="1478F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875665" y="2845435"/>
            <a:ext cx="1514475" cy="54483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12192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研发PLM   项目管理GPM</a:t>
            </a:r>
            <a:endParaRPr kumimoji="1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defTabSz="12192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工业仿真  数字孪生</a:t>
            </a:r>
          </a:p>
          <a:p>
            <a:pPr algn="ctr" defTabSz="12192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数字企划</a:t>
            </a:r>
            <a:r>
              <a:rPr kumimoji="1" 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美擎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CAPP</a:t>
            </a:r>
            <a:endParaRPr kumimoji="1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圆角矩形 179"/>
          <p:cNvSpPr/>
          <p:nvPr>
            <p:custDataLst>
              <p:tags r:id="rId8"/>
            </p:custDataLst>
          </p:nvPr>
        </p:nvSpPr>
        <p:spPr>
          <a:xfrm>
            <a:off x="976630" y="4635500"/>
            <a:ext cx="7511415" cy="274955"/>
          </a:xfrm>
          <a:prstGeom prst="roundRect">
            <a:avLst>
              <a:gd name="adj" fmla="val 11415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r>
              <a:rPr lang="zh-CN" altLang="en-US" sz="900" b="1" dirty="0">
                <a:solidFill>
                  <a:srgbClr val="1478F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美擎基础平台</a:t>
            </a: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487045" y="2554605"/>
            <a:ext cx="319405" cy="1053465"/>
          </a:xfrm>
          <a:prstGeom prst="roundRect">
            <a:avLst>
              <a:gd name="adj" fmla="val 12874"/>
            </a:avLst>
          </a:prstGeom>
          <a:solidFill>
            <a:srgbClr val="1478FE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vert="eaVert" wrap="square" lIns="0" tIns="0" rIns="0" bIns="0" numCol="1" spcCol="1270" anchor="ctr" anchorCtr="0">
            <a:noAutofit/>
          </a:bodyPr>
          <a:lstStyle/>
          <a:p>
            <a:pPr marL="0" lvl="1" algn="ctr" defTabSz="1264285">
              <a:spcBef>
                <a:spcPct val="0"/>
              </a:spcBef>
              <a:spcAft>
                <a:spcPts val="1065"/>
              </a:spcAft>
            </a:pP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</a:t>
            </a:r>
            <a:r>
              <a:rPr lang="en-US" altLang="zh-CN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</a:t>
            </a:r>
            <a:r>
              <a:rPr lang="en-US" altLang="zh-CN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软</a:t>
            </a:r>
            <a:r>
              <a:rPr lang="en-US" altLang="zh-CN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件</a:t>
            </a:r>
          </a:p>
        </p:txBody>
      </p:sp>
      <p:sp>
        <p:nvSpPr>
          <p:cNvPr id="13" name="圆角矩形 12"/>
          <p:cNvSpPr/>
          <p:nvPr>
            <p:custDataLst>
              <p:tags r:id="rId10"/>
            </p:custDataLst>
          </p:nvPr>
        </p:nvSpPr>
        <p:spPr>
          <a:xfrm>
            <a:off x="487045" y="3665220"/>
            <a:ext cx="319405" cy="1308735"/>
          </a:xfrm>
          <a:prstGeom prst="roundRect">
            <a:avLst>
              <a:gd name="adj" fmla="val 12874"/>
            </a:avLst>
          </a:prstGeom>
          <a:solidFill>
            <a:srgbClr val="1478FE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0" tIns="0" rIns="0" bIns="0" numCol="1" spcCol="1270" anchor="ctr" anchorCtr="0">
            <a:noAutofit/>
          </a:bodyPr>
          <a:lstStyle/>
          <a:p>
            <a:pPr marL="0" lvl="1" algn="ctr" defTabSz="1264285">
              <a:spcBef>
                <a:spcPct val="0"/>
              </a:spcBef>
              <a:spcAft>
                <a:spcPts val="1065"/>
              </a:spcAft>
            </a:pP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</a:t>
            </a:r>
          </a:p>
          <a:p>
            <a:pPr marL="0" lvl="1" algn="ctr" defTabSz="1264285">
              <a:spcBef>
                <a:spcPct val="0"/>
              </a:spcBef>
              <a:spcAft>
                <a:spcPts val="1065"/>
              </a:spcAft>
            </a:pP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台</a:t>
            </a: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487045" y="1670050"/>
            <a:ext cx="319405" cy="826770"/>
          </a:xfrm>
          <a:prstGeom prst="roundRect">
            <a:avLst>
              <a:gd name="adj" fmla="val 12874"/>
            </a:avLst>
          </a:prstGeom>
          <a:solidFill>
            <a:srgbClr val="1478FE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0" tIns="0" rIns="0" bIns="0" numCol="1" spcCol="1270" anchor="ctr" anchorCtr="0">
            <a:noAutofit/>
          </a:bodyPr>
          <a:lstStyle/>
          <a:p>
            <a:pPr marL="0" lvl="1" algn="ctr" defTabSz="1264285">
              <a:spcBef>
                <a:spcPct val="0"/>
              </a:spcBef>
              <a:spcAft>
                <a:spcPts val="1065"/>
              </a:spcAft>
            </a:pP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</a:t>
            </a:r>
          </a:p>
          <a:p>
            <a:pPr marL="0" lvl="1" algn="ctr" defTabSz="1264285">
              <a:spcBef>
                <a:spcPct val="0"/>
              </a:spcBef>
              <a:spcAft>
                <a:spcPts val="1065"/>
              </a:spcAft>
            </a:pP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案</a:t>
            </a:r>
          </a:p>
        </p:txBody>
      </p:sp>
      <p:sp>
        <p:nvSpPr>
          <p:cNvPr id="17" name="圆角矩形 16"/>
          <p:cNvSpPr/>
          <p:nvPr>
            <p:custDataLst>
              <p:tags r:id="rId12"/>
            </p:custDataLst>
          </p:nvPr>
        </p:nvSpPr>
        <p:spPr>
          <a:xfrm>
            <a:off x="862330" y="885190"/>
            <a:ext cx="7784465" cy="721995"/>
          </a:xfrm>
          <a:prstGeom prst="roundRect">
            <a:avLst>
              <a:gd name="adj" fmla="val 2659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endParaRPr lang="zh-CN" altLang="en-US" sz="1600" b="1" dirty="0">
              <a:solidFill>
                <a:srgbClr val="1478F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8" name="圆角矩形 17"/>
          <p:cNvSpPr/>
          <p:nvPr>
            <p:custDataLst>
              <p:tags r:id="rId13"/>
            </p:custDataLst>
          </p:nvPr>
        </p:nvSpPr>
        <p:spPr>
          <a:xfrm>
            <a:off x="488950" y="885190"/>
            <a:ext cx="319405" cy="721995"/>
          </a:xfrm>
          <a:prstGeom prst="roundRect">
            <a:avLst>
              <a:gd name="adj" fmla="val 12874"/>
            </a:avLst>
          </a:prstGeom>
          <a:solidFill>
            <a:srgbClr val="1478FE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vert="horz" wrap="square" lIns="0" tIns="0" rIns="0" bIns="0" numCol="1" spcCol="1270" anchor="ctr" anchorCtr="0">
            <a:noAutofit/>
          </a:bodyPr>
          <a:lstStyle/>
          <a:p>
            <a:pPr marL="0" lvl="1" algn="ctr" defTabSz="1264285">
              <a:spcBef>
                <a:spcPct val="0"/>
              </a:spcBef>
              <a:spcAft>
                <a:spcPts val="1065"/>
              </a:spcAft>
            </a:pP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</a:t>
            </a:r>
          </a:p>
          <a:p>
            <a:pPr marL="0" lvl="1" algn="ctr" defTabSz="1264285">
              <a:spcBef>
                <a:spcPct val="0"/>
              </a:spcBef>
              <a:spcAft>
                <a:spcPts val="1065"/>
              </a:spcAft>
            </a:pPr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</a:t>
            </a: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2409690" y="1979930"/>
            <a:ext cx="1079500" cy="3860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诊断与规划 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数字化   自动化  精益化</a:t>
            </a: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2418580" y="1726565"/>
            <a:ext cx="10795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灯塔</a:t>
            </a:r>
            <a:r>
              <a:rPr kumimoji="1" lang="en-US" altLang="zh-CN" sz="900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|</a:t>
            </a:r>
            <a:r>
              <a:rPr lang="zh-CN" altLang="en-US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数字工厂</a:t>
            </a: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1127760" y="1906270"/>
            <a:ext cx="1080000" cy="53340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数字化</a:t>
            </a:r>
            <a:r>
              <a:rPr kumimoji="1" 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转型</a:t>
            </a: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顶层设计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业务变革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数据治理</a:t>
            </a:r>
            <a:r>
              <a:rPr kumimoji="1" 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与运营</a:t>
            </a: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1138555" y="1727835"/>
            <a:ext cx="108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kumimoji="1" lang="zh-CN" altLang="en-US" sz="900" b="1" dirty="0" smtClean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企业数字化</a:t>
            </a:r>
            <a:endParaRPr kumimoji="1" lang="zh-CN" altLang="en-US" sz="900" b="1" dirty="0">
              <a:solidFill>
                <a:srgbClr val="1478F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3691120" y="1906270"/>
            <a:ext cx="1079500" cy="53340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T+3模式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供应链集成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供应链优化</a:t>
            </a: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3698105" y="1726565"/>
            <a:ext cx="10795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kumimoji="1" lang="en-US" altLang="zh-CN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智慧供应链</a:t>
            </a:r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6253980" y="1979930"/>
            <a:ext cx="1079500" cy="3860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产业互联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强链补链</a:t>
            </a:r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6257155" y="1726565"/>
            <a:ext cx="10795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kumimoji="1" lang="en-US" altLang="zh-CN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产业集群</a:t>
            </a: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4977630" y="1726565"/>
            <a:ext cx="10795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kumimoji="1" lang="en-US" altLang="zh-CN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数字园区</a:t>
            </a:r>
          </a:p>
        </p:txBody>
      </p:sp>
      <p:sp>
        <p:nvSpPr>
          <p:cNvPr id="28" name="矩形 27"/>
          <p:cNvSpPr/>
          <p:nvPr>
            <p:custDataLst>
              <p:tags r:id="rId23"/>
            </p:custDataLst>
          </p:nvPr>
        </p:nvSpPr>
        <p:spPr>
          <a:xfrm>
            <a:off x="4972550" y="1979930"/>
            <a:ext cx="1079500" cy="38608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sz="800" dirty="0" err="1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规划设计</a:t>
            </a:r>
            <a:r>
              <a:rPr kumimoji="1" 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  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数字孪生</a:t>
            </a:r>
            <a:endParaRPr kumimoji="1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defTabSz="914400">
              <a:lnSpc>
                <a:spcPct val="120000"/>
              </a:lnSpc>
            </a:pP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智能物联 </a:t>
            </a:r>
            <a:r>
              <a:rPr kumimoji="1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r>
              <a:rPr kumimoji="1" sz="800" dirty="0" err="1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绿色环保</a:t>
            </a:r>
          </a:p>
        </p:txBody>
      </p:sp>
      <p:sp>
        <p:nvSpPr>
          <p:cNvPr id="29" name="文本框 28"/>
          <p:cNvSpPr txBox="1"/>
          <p:nvPr>
            <p:custDataLst>
              <p:tags r:id="rId24"/>
            </p:custDataLst>
          </p:nvPr>
        </p:nvSpPr>
        <p:spPr>
          <a:xfrm>
            <a:off x="875665" y="4221480"/>
            <a:ext cx="1679575" cy="3860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sz="800" dirty="0" err="1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数据中台</a:t>
            </a:r>
            <a:r>
              <a:rPr kumimoji="1" 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业务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中台</a:t>
            </a:r>
          </a:p>
          <a:p>
            <a:pPr algn="ctr" defTabSz="914400">
              <a:lnSpc>
                <a:spcPct val="120000"/>
              </a:lnSpc>
            </a:pP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算法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中台</a:t>
            </a:r>
          </a:p>
        </p:txBody>
      </p:sp>
      <p:sp>
        <p:nvSpPr>
          <p:cNvPr id="30" name="文本框 29"/>
          <p:cNvSpPr txBox="1"/>
          <p:nvPr>
            <p:custDataLst>
              <p:tags r:id="rId25"/>
            </p:custDataLst>
          </p:nvPr>
        </p:nvSpPr>
        <p:spPr>
          <a:xfrm>
            <a:off x="1198245" y="4038600"/>
            <a:ext cx="1020445" cy="20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/>
            <a:r>
              <a:rPr kumimoji="1" lang="zh-CN" altLang="en-US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中台</a:t>
            </a:r>
          </a:p>
        </p:txBody>
      </p:sp>
      <p:sp>
        <p:nvSpPr>
          <p:cNvPr id="31" name="文本框 30"/>
          <p:cNvSpPr txBox="1"/>
          <p:nvPr>
            <p:custDataLst>
              <p:tags r:id="rId26"/>
            </p:custDataLst>
          </p:nvPr>
        </p:nvSpPr>
        <p:spPr>
          <a:xfrm>
            <a:off x="2688590" y="4221480"/>
            <a:ext cx="1536065" cy="36195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移动平台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表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单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开发 </a:t>
            </a:r>
            <a:r>
              <a:rPr kumimoji="1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可视化</a:t>
            </a:r>
            <a:endParaRPr kumimoji="1" lang="en-US" altLang="zh-CN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多端应用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服务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目录与市场</a:t>
            </a:r>
          </a:p>
        </p:txBody>
      </p: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3020060" y="4055110"/>
            <a:ext cx="872490" cy="1689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/>
            <a:r>
              <a:rPr kumimoji="1" lang="zh-CN" altLang="en-US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开发平台</a:t>
            </a:r>
          </a:p>
        </p:txBody>
      </p:sp>
      <p:sp>
        <p:nvSpPr>
          <p:cNvPr id="92" name="文本框 91"/>
          <p:cNvSpPr txBox="1"/>
          <p:nvPr>
            <p:custDataLst>
              <p:tags r:id="rId28"/>
            </p:custDataLst>
          </p:nvPr>
        </p:nvSpPr>
        <p:spPr>
          <a:xfrm>
            <a:off x="4846955" y="4030980"/>
            <a:ext cx="1216025" cy="2184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/>
            <a:r>
              <a:rPr kumimoji="1" lang="zh-CN" altLang="en-US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集成平台</a:t>
            </a:r>
          </a:p>
        </p:txBody>
      </p:sp>
      <p:sp>
        <p:nvSpPr>
          <p:cNvPr id="93" name="文本框 92"/>
          <p:cNvSpPr txBox="1"/>
          <p:nvPr>
            <p:custDataLst>
              <p:tags r:id="rId29"/>
            </p:custDataLst>
          </p:nvPr>
        </p:nvSpPr>
        <p:spPr>
          <a:xfrm>
            <a:off x="4596765" y="4221480"/>
            <a:ext cx="1715770" cy="36195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统一门户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应用集成  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数据集成</a:t>
            </a:r>
            <a:endParaRPr kumimoji="1" lang="en-US" altLang="zh-CN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设备集成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(IoT) 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权限集成 </a:t>
            </a:r>
          </a:p>
        </p:txBody>
      </p:sp>
      <p:sp>
        <p:nvSpPr>
          <p:cNvPr id="94" name="文本框 93"/>
          <p:cNvSpPr txBox="1"/>
          <p:nvPr>
            <p:custDataLst>
              <p:tags r:id="rId30"/>
            </p:custDataLst>
          </p:nvPr>
        </p:nvSpPr>
        <p:spPr>
          <a:xfrm>
            <a:off x="6871335" y="4055110"/>
            <a:ext cx="1169035" cy="1701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/>
            <a:r>
              <a:rPr kumimoji="1" lang="zh-CN" altLang="en-US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安全平台</a:t>
            </a:r>
          </a:p>
        </p:txBody>
      </p:sp>
      <p:sp>
        <p:nvSpPr>
          <p:cNvPr id="95" name="文本框 94"/>
          <p:cNvSpPr txBox="1"/>
          <p:nvPr>
            <p:custDataLst>
              <p:tags r:id="rId31"/>
            </p:custDataLst>
          </p:nvPr>
        </p:nvSpPr>
        <p:spPr>
          <a:xfrm>
            <a:off x="6605270" y="4221480"/>
            <a:ext cx="1700530" cy="36195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/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统一权限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-UPM </a:t>
            </a:r>
            <a:r>
              <a:rPr kumimoji="1" lang="en-US" altLang="zh-CN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身份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安全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-IAM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  </a:t>
            </a:r>
            <a:endParaRPr kumimoji="1" lang="en-US" altLang="zh-CN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defTabSz="914400"/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数据安全 </a:t>
            </a: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  应用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安全 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SDLC</a:t>
            </a:r>
          </a:p>
        </p:txBody>
      </p:sp>
      <p:sp>
        <p:nvSpPr>
          <p:cNvPr id="96" name="文本框 95"/>
          <p:cNvSpPr txBox="1"/>
          <p:nvPr>
            <p:custDataLst>
              <p:tags r:id="rId32"/>
            </p:custDataLst>
          </p:nvPr>
        </p:nvSpPr>
        <p:spPr>
          <a:xfrm>
            <a:off x="3992880" y="2860040"/>
            <a:ext cx="1537335" cy="5334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 defTabSz="914400">
              <a:lnSpc>
                <a:spcPct val="120000"/>
              </a:lnSpc>
              <a:defRPr kumimoji="1" sz="120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sz="800" dirty="0" err="1"/>
              <a:t>高级</a:t>
            </a:r>
            <a:r>
              <a:rPr lang="zh-CN" altLang="en-US" sz="800" dirty="0"/>
              <a:t>供应链</a:t>
            </a:r>
            <a:r>
              <a:rPr sz="800" dirty="0" err="1"/>
              <a:t>计划与排</a:t>
            </a:r>
            <a:r>
              <a:rPr lang="zh-CN" altLang="en-US" sz="800" dirty="0"/>
              <a:t>程</a:t>
            </a:r>
            <a:r>
              <a:rPr sz="800" dirty="0"/>
              <a:t>APS</a:t>
            </a:r>
          </a:p>
          <a:p>
            <a:r>
              <a:rPr sz="800" dirty="0"/>
              <a:t>供应链关系管理SRM</a:t>
            </a:r>
          </a:p>
          <a:p>
            <a:r>
              <a:rPr sz="800" dirty="0">
                <a:sym typeface="+mn-ea"/>
              </a:rPr>
              <a:t>供应链深度协同</a:t>
            </a:r>
          </a:p>
        </p:txBody>
      </p:sp>
      <p:sp>
        <p:nvSpPr>
          <p:cNvPr id="97" name="圆角矩形 250"/>
          <p:cNvSpPr/>
          <p:nvPr>
            <p:custDataLst>
              <p:tags r:id="rId33"/>
            </p:custDataLst>
          </p:nvPr>
        </p:nvSpPr>
        <p:spPr>
          <a:xfrm>
            <a:off x="2025650" y="4655185"/>
            <a:ext cx="791210" cy="214630"/>
          </a:xfrm>
          <a:prstGeom prst="roundRect">
            <a:avLst>
              <a:gd name="adj" fmla="val 13741"/>
            </a:avLst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数据库管理</a:t>
            </a:r>
          </a:p>
        </p:txBody>
      </p:sp>
      <p:sp>
        <p:nvSpPr>
          <p:cNvPr id="98" name="圆角矩形 251"/>
          <p:cNvSpPr/>
          <p:nvPr>
            <p:custDataLst>
              <p:tags r:id="rId34"/>
            </p:custDataLst>
          </p:nvPr>
        </p:nvSpPr>
        <p:spPr>
          <a:xfrm>
            <a:off x="3134360" y="4660900"/>
            <a:ext cx="820420" cy="203835"/>
          </a:xfrm>
          <a:prstGeom prst="roundRect">
            <a:avLst>
              <a:gd name="adj" fmla="val 13741"/>
            </a:avLst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中间件管理</a:t>
            </a:r>
          </a:p>
        </p:txBody>
      </p:sp>
      <p:sp>
        <p:nvSpPr>
          <p:cNvPr id="99" name="圆角矩形 253"/>
          <p:cNvSpPr/>
          <p:nvPr>
            <p:custDataLst>
              <p:tags r:id="rId35"/>
            </p:custDataLst>
          </p:nvPr>
        </p:nvSpPr>
        <p:spPr>
          <a:xfrm>
            <a:off x="1083310" y="4660265"/>
            <a:ext cx="624840" cy="205740"/>
          </a:xfrm>
          <a:prstGeom prst="roundRect">
            <a:avLst>
              <a:gd name="adj" fmla="val 13741"/>
            </a:avLst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容器管理</a:t>
            </a:r>
          </a:p>
        </p:txBody>
      </p:sp>
      <p:sp>
        <p:nvSpPr>
          <p:cNvPr id="100" name="圆角矩形 252"/>
          <p:cNvSpPr/>
          <p:nvPr>
            <p:custDataLst>
              <p:tags r:id="rId36"/>
            </p:custDataLst>
          </p:nvPr>
        </p:nvSpPr>
        <p:spPr>
          <a:xfrm>
            <a:off x="5633085" y="4670425"/>
            <a:ext cx="407670" cy="185420"/>
          </a:xfrm>
          <a:prstGeom prst="roundRect">
            <a:avLst>
              <a:gd name="adj" fmla="val 13741"/>
            </a:avLst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运维</a:t>
            </a:r>
          </a:p>
        </p:txBody>
      </p:sp>
      <p:sp>
        <p:nvSpPr>
          <p:cNvPr id="101" name="圆角矩形 252"/>
          <p:cNvSpPr/>
          <p:nvPr>
            <p:custDataLst>
              <p:tags r:id="rId37"/>
            </p:custDataLst>
          </p:nvPr>
        </p:nvSpPr>
        <p:spPr>
          <a:xfrm>
            <a:off x="6419215" y="4647565"/>
            <a:ext cx="741680" cy="230505"/>
          </a:xfrm>
          <a:prstGeom prst="roundRect">
            <a:avLst>
              <a:gd name="adj" fmla="val 13741"/>
            </a:avLst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国产化适配</a:t>
            </a:r>
          </a:p>
        </p:txBody>
      </p:sp>
      <p:sp>
        <p:nvSpPr>
          <p:cNvPr id="102" name="圆角矩形 252"/>
          <p:cNvSpPr/>
          <p:nvPr>
            <p:custDataLst>
              <p:tags r:id="rId38"/>
            </p:custDataLst>
          </p:nvPr>
        </p:nvSpPr>
        <p:spPr>
          <a:xfrm>
            <a:off x="7539355" y="4647565"/>
            <a:ext cx="741680" cy="230505"/>
          </a:xfrm>
          <a:prstGeom prst="roundRect">
            <a:avLst>
              <a:gd name="adj" fmla="val 13741"/>
            </a:avLst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zh-CN" altLang="en-US" sz="8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rPr>
              <a:t>行业包管理</a:t>
            </a:r>
          </a:p>
        </p:txBody>
      </p:sp>
      <p:sp>
        <p:nvSpPr>
          <p:cNvPr id="103" name="圆角矩形 102"/>
          <p:cNvSpPr/>
          <p:nvPr>
            <p:custDataLst>
              <p:tags r:id="rId39"/>
            </p:custDataLst>
          </p:nvPr>
        </p:nvSpPr>
        <p:spPr>
          <a:xfrm>
            <a:off x="4004310" y="2554605"/>
            <a:ext cx="1513840" cy="105346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endParaRPr lang="zh-CN" altLang="en-US" sz="1600" b="1" dirty="0">
              <a:solidFill>
                <a:srgbClr val="1478F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圆角矩形 103"/>
          <p:cNvSpPr/>
          <p:nvPr>
            <p:custDataLst>
              <p:tags r:id="rId40"/>
            </p:custDataLst>
          </p:nvPr>
        </p:nvSpPr>
        <p:spPr>
          <a:xfrm>
            <a:off x="5570855" y="2554605"/>
            <a:ext cx="1513840" cy="105346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endParaRPr lang="zh-CN" altLang="en-US" sz="1600" b="1" dirty="0">
              <a:solidFill>
                <a:srgbClr val="1478F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圆角矩形 104"/>
          <p:cNvSpPr/>
          <p:nvPr>
            <p:custDataLst>
              <p:tags r:id="rId41"/>
            </p:custDataLst>
          </p:nvPr>
        </p:nvSpPr>
        <p:spPr>
          <a:xfrm>
            <a:off x="7130415" y="2552700"/>
            <a:ext cx="1513840" cy="1053465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endParaRPr lang="zh-CN" altLang="en-US" sz="1600" b="1" dirty="0">
              <a:solidFill>
                <a:srgbClr val="1478F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1114280" y="1022262"/>
            <a:ext cx="7438389" cy="461408"/>
            <a:chOff x="1403053" y="1247033"/>
            <a:chExt cx="10214981" cy="673432"/>
          </a:xfrm>
        </p:grpSpPr>
        <p:sp>
          <p:nvSpPr>
            <p:cNvPr id="108" name="文本框 107"/>
            <p:cNvSpPr txBox="1"/>
            <p:nvPr>
              <p:custDataLst>
                <p:tags r:id="rId49"/>
              </p:custDataLst>
            </p:nvPr>
          </p:nvSpPr>
          <p:spPr>
            <a:xfrm>
              <a:off x="3433583" y="1629000"/>
              <a:ext cx="1727999" cy="29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>
                <a:lnSpc>
                  <a:spcPct val="100000"/>
                </a:lnSpc>
                <a:buClrTx/>
                <a:buSzTx/>
                <a:buNone/>
              </a:pPr>
              <a:r>
                <a:rPr kumimoji="1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电子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｜</a:t>
              </a:r>
              <a:r>
                <a:rPr kumimoji="1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半导体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｜</a:t>
              </a:r>
              <a:r>
                <a:rPr kumimoji="1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新能源</a:t>
              </a:r>
              <a:endParaRPr kumimoji="1" sz="700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09" name="文本框 108"/>
            <p:cNvSpPr txBox="1"/>
            <p:nvPr>
              <p:custDataLst>
                <p:tags r:id="rId50"/>
              </p:custDataLst>
            </p:nvPr>
          </p:nvSpPr>
          <p:spPr>
            <a:xfrm>
              <a:off x="3713277" y="1247033"/>
              <a:ext cx="1200788" cy="336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900" b="1" dirty="0">
                  <a:solidFill>
                    <a:srgbClr val="1478F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电子半导体</a:t>
              </a:r>
            </a:p>
          </p:txBody>
        </p:sp>
        <p:sp>
          <p:nvSpPr>
            <p:cNvPr id="110" name="文本框 109"/>
            <p:cNvSpPr txBox="1"/>
            <p:nvPr>
              <p:custDataLst>
                <p:tags r:id="rId51"/>
              </p:custDataLst>
            </p:nvPr>
          </p:nvSpPr>
          <p:spPr>
            <a:xfrm>
              <a:off x="1403053" y="1629000"/>
              <a:ext cx="1584000" cy="29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>
                <a:lnSpc>
                  <a:spcPct val="100000"/>
                </a:lnSpc>
              </a:pPr>
              <a:r>
                <a:rPr kumimoji="1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汽车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｜</a:t>
              </a:r>
              <a:r>
                <a:rPr kumimoji="1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汽配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｜</a:t>
              </a:r>
              <a:r>
                <a:rPr kumimoji="1" lang="zh-CN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两轮</a:t>
              </a:r>
              <a:r>
                <a:rPr kumimoji="1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车</a:t>
              </a:r>
            </a:p>
          </p:txBody>
        </p:sp>
        <p:sp>
          <p:nvSpPr>
            <p:cNvPr id="111" name="文本框 110"/>
            <p:cNvSpPr txBox="1"/>
            <p:nvPr>
              <p:custDataLst>
                <p:tags r:id="rId52"/>
              </p:custDataLst>
            </p:nvPr>
          </p:nvSpPr>
          <p:spPr>
            <a:xfrm>
              <a:off x="1715271" y="1247033"/>
              <a:ext cx="920174" cy="336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900" b="1" dirty="0">
                  <a:solidFill>
                    <a:srgbClr val="1478F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汽车汽配</a:t>
              </a:r>
            </a:p>
          </p:txBody>
        </p:sp>
        <p:sp>
          <p:nvSpPr>
            <p:cNvPr id="112" name="文本框 111"/>
            <p:cNvSpPr txBox="1"/>
            <p:nvPr>
              <p:custDataLst>
                <p:tags r:id="rId53"/>
              </p:custDataLst>
            </p:nvPr>
          </p:nvSpPr>
          <p:spPr>
            <a:xfrm>
              <a:off x="5767701" y="1629000"/>
              <a:ext cx="1404000" cy="29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>
                <a:lnSpc>
                  <a:spcPct val="100000"/>
                </a:lnSpc>
                <a:buClrTx/>
                <a:buSzTx/>
                <a:buNone/>
              </a:pPr>
              <a:r>
                <a:rPr kumimoji="1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农牧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｜</a:t>
              </a:r>
              <a:r>
                <a:rPr kumimoji="1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日化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｜</a:t>
              </a:r>
              <a:r>
                <a:rPr kumimoji="1" sz="7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食品</a:t>
              </a:r>
              <a:endParaRPr kumimoji="1" sz="700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3" name="文本框 112"/>
            <p:cNvSpPr txBox="1"/>
            <p:nvPr>
              <p:custDataLst>
                <p:tags r:id="rId54"/>
              </p:custDataLst>
            </p:nvPr>
          </p:nvSpPr>
          <p:spPr>
            <a:xfrm>
              <a:off x="5991896" y="1247033"/>
              <a:ext cx="943539" cy="336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900" b="1" dirty="0">
                  <a:solidFill>
                    <a:srgbClr val="1478F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农牧食品</a:t>
              </a:r>
            </a:p>
          </p:txBody>
        </p:sp>
        <p:sp>
          <p:nvSpPr>
            <p:cNvPr id="114" name="文本框 113"/>
            <p:cNvSpPr txBox="1"/>
            <p:nvPr>
              <p:custDataLst>
                <p:tags r:id="rId55"/>
              </p:custDataLst>
            </p:nvPr>
          </p:nvSpPr>
          <p:spPr>
            <a:xfrm>
              <a:off x="7792642" y="1629000"/>
              <a:ext cx="1584000" cy="29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>
                <a:lnSpc>
                  <a:spcPct val="100000"/>
                </a:lnSpc>
                <a:buClrTx/>
                <a:buSzTx/>
                <a:buNone/>
              </a:pPr>
              <a:r>
                <a:rPr kumimoji="1" lang="zh-CN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通用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｜专</a:t>
              </a:r>
              <a:r>
                <a:rPr kumimoji="1" lang="zh-CN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用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 ｜军工</a:t>
              </a:r>
              <a:endParaRPr kumimoji="1" sz="700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5" name="文本框 114"/>
            <p:cNvSpPr txBox="1"/>
            <p:nvPr>
              <p:custDataLst>
                <p:tags r:id="rId56"/>
              </p:custDataLst>
            </p:nvPr>
          </p:nvSpPr>
          <p:spPr>
            <a:xfrm>
              <a:off x="8013266" y="1247033"/>
              <a:ext cx="1141490" cy="336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900" b="1" dirty="0">
                  <a:solidFill>
                    <a:srgbClr val="1478F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装备制造</a:t>
              </a:r>
            </a:p>
          </p:txBody>
        </p:sp>
        <p:sp>
          <p:nvSpPr>
            <p:cNvPr id="116" name="文本框 115"/>
            <p:cNvSpPr txBox="1"/>
            <p:nvPr>
              <p:custDataLst>
                <p:tags r:id="rId57"/>
              </p:custDataLst>
            </p:nvPr>
          </p:nvSpPr>
          <p:spPr>
            <a:xfrm>
              <a:off x="10232588" y="1247033"/>
              <a:ext cx="1069111" cy="336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900" b="1" dirty="0">
                  <a:solidFill>
                    <a:srgbClr val="1478FE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先行行业</a:t>
              </a:r>
            </a:p>
          </p:txBody>
        </p:sp>
        <p:sp>
          <p:nvSpPr>
            <p:cNvPr id="117" name="矩形 116"/>
            <p:cNvSpPr/>
            <p:nvPr>
              <p:custDataLst>
                <p:tags r:id="rId58"/>
              </p:custDataLst>
            </p:nvPr>
          </p:nvSpPr>
          <p:spPr>
            <a:xfrm>
              <a:off x="9941989" y="1630379"/>
              <a:ext cx="1676045" cy="290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>
                <a:lnSpc>
                  <a:spcPct val="100000"/>
                </a:lnSpc>
              </a:pP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家电</a:t>
              </a:r>
              <a:r>
                <a:rPr kumimoji="1" lang="en-US" altLang="zh-CN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  |  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院校</a:t>
              </a:r>
              <a:r>
                <a:rPr kumimoji="1" lang="en-US" altLang="zh-CN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  |  </a:t>
              </a:r>
              <a:r>
                <a:rPr kumimoji="1" lang="zh-CN" altLang="en-US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微软雅黑" panose="020B0503020204020204" charset="-122"/>
                  <a:cs typeface="Arial" panose="020B0604020202020204" pitchFamily="34" charset="0"/>
                </a:rPr>
                <a:t>其他行业</a:t>
              </a:r>
              <a:endParaRPr kumimoji="1" sz="7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18" name="圆角矩形 179"/>
          <p:cNvSpPr/>
          <p:nvPr>
            <p:custDataLst>
              <p:tags r:id="rId42"/>
            </p:custDataLst>
          </p:nvPr>
        </p:nvSpPr>
        <p:spPr>
          <a:xfrm>
            <a:off x="976630" y="3780155"/>
            <a:ext cx="7511415" cy="274955"/>
          </a:xfrm>
          <a:prstGeom prst="roundRect">
            <a:avLst>
              <a:gd name="adj" fmla="val 11415"/>
            </a:avLst>
          </a:prstGeom>
          <a:gradFill>
            <a:gsLst>
              <a:gs pos="0">
                <a:srgbClr val="1478FE">
                  <a:alpha val="17000"/>
                </a:srgbClr>
              </a:gs>
              <a:gs pos="100000">
                <a:srgbClr val="64AEFF">
                  <a:alpha val="0"/>
                </a:srgbClr>
              </a:gs>
            </a:gsLst>
            <a:lin ang="5400000" scaled="0"/>
          </a:gradFill>
          <a:ln w="6350">
            <a:solidFill>
              <a:srgbClr val="1478FE"/>
            </a:solidFill>
          </a:ln>
        </p:spPr>
        <p:txBody>
          <a:bodyPr lIns="0" tIns="0" rIns="0" bIns="0" anchor="ctr"/>
          <a:lstStyle/>
          <a:p>
            <a:pPr algn="ctr" defTabSz="85725"/>
            <a:r>
              <a:rPr lang="zh-CN" altLang="en-US" sz="900" b="1" dirty="0">
                <a:solidFill>
                  <a:srgbClr val="1478F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美擎</a:t>
            </a:r>
            <a:r>
              <a:rPr lang="en-US" altLang="zh-CN" sz="900" b="1" dirty="0">
                <a:solidFill>
                  <a:srgbClr val="1478F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AIGC</a:t>
            </a:r>
            <a:r>
              <a:rPr lang="zh-CN" altLang="en-US" sz="900" b="1" dirty="0">
                <a:solidFill>
                  <a:srgbClr val="1478F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平台</a:t>
            </a:r>
          </a:p>
        </p:txBody>
      </p:sp>
      <p:sp>
        <p:nvSpPr>
          <p:cNvPr id="119" name="圆角矩形 253"/>
          <p:cNvSpPr/>
          <p:nvPr>
            <p:custDataLst>
              <p:tags r:id="rId43"/>
            </p:custDataLst>
          </p:nvPr>
        </p:nvSpPr>
        <p:spPr>
          <a:xfrm>
            <a:off x="1083310" y="3804920"/>
            <a:ext cx="3034030" cy="205740"/>
          </a:xfrm>
          <a:prstGeom prst="roundRect">
            <a:avLst>
              <a:gd name="adj" fmla="val 13741"/>
            </a:avLst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AIGC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开发平台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      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算法管理平台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      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知识管理平台</a:t>
            </a:r>
            <a:endParaRPr kumimoji="1" lang="en-US" altLang="zh-CN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0" name="圆角矩形 253"/>
          <p:cNvSpPr/>
          <p:nvPr>
            <p:custDataLst>
              <p:tags r:id="rId44"/>
            </p:custDataLst>
          </p:nvPr>
        </p:nvSpPr>
        <p:spPr>
          <a:xfrm>
            <a:off x="5374640" y="3804920"/>
            <a:ext cx="3034030" cy="205740"/>
          </a:xfrm>
          <a:prstGeom prst="roundRect">
            <a:avLst>
              <a:gd name="adj" fmla="val 13741"/>
            </a:avLst>
          </a:prstGeom>
          <a:noFill/>
        </p:spPr>
        <p:txBody>
          <a:bodyPr wrap="square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Enterprise Agent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、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Factory Agent 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、</a:t>
            </a:r>
            <a:r>
              <a:rPr kumimoji="1" lang="en-US" altLang="zh-CN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Helvetica Light"/>
              </a:rPr>
              <a:t>Education Agent</a:t>
            </a:r>
          </a:p>
        </p:txBody>
      </p:sp>
      <p:sp>
        <p:nvSpPr>
          <p:cNvPr id="121" name="文本框 120"/>
          <p:cNvSpPr txBox="1"/>
          <p:nvPr>
            <p:custDataLst>
              <p:tags r:id="rId45"/>
            </p:custDataLst>
          </p:nvPr>
        </p:nvSpPr>
        <p:spPr>
          <a:xfrm>
            <a:off x="7391900" y="1727835"/>
            <a:ext cx="10795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kumimoji="1" lang="zh-CN" altLang="en-US" sz="900" b="1" dirty="0">
                <a:solidFill>
                  <a:srgbClr val="1478F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产教融合</a:t>
            </a:r>
          </a:p>
        </p:txBody>
      </p:sp>
      <p:sp>
        <p:nvSpPr>
          <p:cNvPr id="122" name="文本框 121"/>
          <p:cNvSpPr txBox="1"/>
          <p:nvPr>
            <p:custDataLst>
              <p:tags r:id="rId46"/>
            </p:custDataLst>
          </p:nvPr>
        </p:nvSpPr>
        <p:spPr>
          <a:xfrm>
            <a:off x="7390630" y="1906270"/>
            <a:ext cx="1079500" cy="53340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12192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数字灯塔学院</a:t>
            </a:r>
            <a:endParaRPr kumimoji="1" lang="zh-CN" altLang="en-US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defTabSz="12192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数字管理学院</a:t>
            </a:r>
            <a:endParaRPr kumimoji="1" lang="zh-CN" altLang="en-US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defTabSz="1219200">
              <a:lnSpc>
                <a:spcPct val="120000"/>
              </a:lnSpc>
            </a:pP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智能制造学院</a:t>
            </a:r>
            <a:endParaRPr kumimoji="1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3" name="文本框 122"/>
          <p:cNvSpPr txBox="1"/>
          <p:nvPr>
            <p:custDataLst>
              <p:tags r:id="rId47"/>
            </p:custDataLst>
          </p:nvPr>
        </p:nvSpPr>
        <p:spPr>
          <a:xfrm>
            <a:off x="5570855" y="2854325"/>
            <a:ext cx="1513840" cy="681355"/>
          </a:xfrm>
          <a:prstGeom prst="rect">
            <a:avLst/>
          </a:prstGeom>
          <a:noFill/>
        </p:spPr>
        <p:txBody>
          <a:bodyPr wrap="square" lIns="71755" rIns="71755" rtlCol="0" anchor="ctr">
            <a:spAutoFit/>
          </a:bodyPr>
          <a:lstStyle/>
          <a:p>
            <a:pPr algn="ctr" defTabSz="914400">
              <a:lnSpc>
                <a:spcPct val="120000"/>
              </a:lnSpc>
            </a:pP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渠道协同管理（美</a:t>
            </a:r>
            <a:r>
              <a:rPr kumimoji="1" lang="zh-CN" alt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擎</a:t>
            </a: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销</a:t>
            </a:r>
            <a:r>
              <a:rPr kumimoji="1" 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CCS</a:t>
            </a: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）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门店数字化运营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会员运营SCRM</a:t>
            </a:r>
            <a:r>
              <a:rPr kumimoji="1" lang="en-US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</a:p>
          <a:p>
            <a:pPr algn="ctr" defTabSz="914400">
              <a:lnSpc>
                <a:spcPct val="120000"/>
              </a:lnSpc>
            </a:pP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营销智能助手</a:t>
            </a:r>
          </a:p>
        </p:txBody>
      </p:sp>
      <p:sp>
        <p:nvSpPr>
          <p:cNvPr id="124" name="矩形 123"/>
          <p:cNvSpPr/>
          <p:nvPr>
            <p:custDataLst>
              <p:tags r:id="rId48"/>
            </p:custDataLst>
          </p:nvPr>
        </p:nvSpPr>
        <p:spPr>
          <a:xfrm>
            <a:off x="7179945" y="2854325"/>
            <a:ext cx="1437640" cy="6813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1219200">
              <a:lnSpc>
                <a:spcPct val="120000"/>
              </a:lnSpc>
            </a:pPr>
            <a:r>
              <a:rPr kumimoji="1" lang="zh-CN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数据开发运营平台</a:t>
            </a:r>
            <a:r>
              <a:rPr kumimoji="1" lang="en-US" altLang="zh-CN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DOM</a:t>
            </a:r>
          </a:p>
          <a:p>
            <a:pPr algn="ctr" defTabSz="1219200">
              <a:lnSpc>
                <a:spcPct val="120000"/>
              </a:lnSpc>
            </a:pP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数据银行</a:t>
            </a:r>
            <a:r>
              <a:rPr kumimoji="1" lang="en-US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/</a:t>
            </a: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数字人才培养</a:t>
            </a:r>
            <a:endParaRPr kumimoji="1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defTabSz="1219200">
              <a:lnSpc>
                <a:spcPct val="120000"/>
              </a:lnSpc>
            </a:pP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经营</a:t>
            </a: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/</a:t>
            </a: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产品</a:t>
            </a: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/</a:t>
            </a: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营销</a:t>
            </a:r>
            <a:r>
              <a:rPr kumimoji="1" sz="8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/</a:t>
            </a: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品质控制塔</a:t>
            </a:r>
            <a:endParaRPr kumimoji="1" sz="8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defTabSz="1219200">
              <a:lnSpc>
                <a:spcPct val="120000"/>
              </a:lnSpc>
            </a:pPr>
            <a:r>
              <a:rPr kumimoji="1" sz="8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客户之声VOC</a:t>
            </a:r>
            <a:endParaRPr kumimoji="1" lang="en-US" sz="800" dirty="0" err="1" smtClean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1699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3" y="2014607"/>
            <a:ext cx="9085714" cy="11142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50" y="2408138"/>
            <a:ext cx="8808700" cy="111428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156960" y="3345038"/>
            <a:ext cx="4572000" cy="15465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Midea:</a:t>
            </a:r>
          </a:p>
          <a:p>
            <a:r>
              <a:rPr lang="zh-CN" altLang="en-US" dirty="0"/>
              <a:t>状态1-冷线索</a:t>
            </a:r>
          </a:p>
          <a:p>
            <a:r>
              <a:rPr lang="zh-CN" altLang="en-US" dirty="0"/>
              <a:t>状态2-热线索</a:t>
            </a:r>
          </a:p>
          <a:p>
            <a:r>
              <a:rPr lang="zh-CN" altLang="en-US" dirty="0"/>
              <a:t>状态3-商机确认</a:t>
            </a:r>
          </a:p>
          <a:p>
            <a:r>
              <a:rPr lang="zh-CN" altLang="en-US" dirty="0"/>
              <a:t>状态4-需求对接</a:t>
            </a:r>
          </a:p>
          <a:p>
            <a:r>
              <a:rPr lang="zh-CN" altLang="en-US" dirty="0"/>
              <a:t>状态5-方案设计</a:t>
            </a:r>
          </a:p>
          <a:p>
            <a:r>
              <a:rPr lang="zh-CN" altLang="en-US" dirty="0"/>
              <a:t>状态6-中标</a:t>
            </a:r>
          </a:p>
        </p:txBody>
      </p:sp>
    </p:spTree>
    <p:extLst>
      <p:ext uri="{BB962C8B-B14F-4D97-AF65-F5344CB8AC3E}">
        <p14:creationId xmlns:p14="http://schemas.microsoft.com/office/powerpoint/2010/main" val="20319319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3.2,&quot;left&quot;:427.35,&quot;top&quot;:117.2,&quot;width&quot;:479.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9a759616-5249-4a09-acec-338a00599a4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>
          <a:solidFill>
            <a:srgbClr val="009CDB">
              <a:alpha val="30000"/>
            </a:srgbClr>
          </a:solidFill>
          <a:prstDash val="sysDot"/>
          <a:miter lim="400000"/>
        </a:ln>
        <a:effectLst/>
      </a:spPr>
      <a:bodyPr wrap="square" lIns="0" tIns="0" rIns="0" bIns="0" numCol="1" anchor="ctr">
        <a:noAutofit/>
      </a:bodyPr>
      <a:lstStyle>
        <a:defPPr algn="l" defTabSz="144425">
          <a:defRPr sz="375" b="1" dirty="0">
            <a:solidFill>
              <a:srgbClr val="000000"/>
            </a:solidFill>
            <a:sym typeface="Microsoft YaHei"/>
          </a:defRPr>
        </a:defPPr>
      </a:lstStyle>
    </a:sp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none" lIns="91437" tIns="91437" rIns="91437" bIns="91437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 dirty="0">
            <a:ln>
              <a:noFill/>
            </a:ln>
            <a:solidFill>
              <a:srgbClr val="B0CEFF"/>
            </a:solidFill>
            <a:effectLst/>
            <a:uFillTx/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  <a:sym typeface="Helvetica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>
          <a:solidFill>
            <a:srgbClr val="009CDB">
              <a:alpha val="30000"/>
            </a:srgbClr>
          </a:solidFill>
          <a:prstDash val="sysDot"/>
          <a:miter lim="400000"/>
        </a:ln>
      </a:spPr>
      <a:bodyPr wrap="square" lIns="0" tIns="0" rIns="0" bIns="0" numCol="1" anchor="ctr">
        <a:noAutofit/>
      </a:bodyPr>
      <a:lstStyle>
        <a:defPPr algn="l" defTabSz="144145">
          <a:defRPr sz="375" b="1" dirty="0">
            <a:solidFill>
              <a:srgbClr val="000000"/>
            </a:solidFill>
            <a:sym typeface="微软雅黑" panose="020B0503020204020204" charset="-122"/>
          </a:defRPr>
        </a:defPPr>
      </a:lstStyle>
    </a:sp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none" lIns="91437" tIns="91437" rIns="91437" bIns="91437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 dirty="0">
            <a:ln>
              <a:noFill/>
            </a:ln>
            <a:solidFill>
              <a:srgbClr val="B0CEFF"/>
            </a:solidFill>
            <a:effectLst/>
            <a:uFillTx/>
            <a:latin typeface="Arial" panose="020B0604020202020204" pitchFamily="34" charset="0"/>
            <a:ea typeface="微软雅黑" panose="020B0503020204020204" charset="-122"/>
            <a:cs typeface="Arial" panose="020B0604020202020204" pitchFamily="34" charset="0"/>
            <a:sym typeface="Helvetica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7" tIns="91437" rIns="91437" bIns="91437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91437" tIns="91437" rIns="91437" bIns="91437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45056</TotalTime>
  <Words>910</Words>
  <Application>Microsoft Office PowerPoint</Application>
  <PresentationFormat>全屏显示(16:9)</PresentationFormat>
  <Paragraphs>222</Paragraphs>
  <Slides>11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Helvetica Light</vt:lpstr>
      <vt:lpstr>Midea Type</vt:lpstr>
      <vt:lpstr>等线</vt:lpstr>
      <vt:lpstr>等线 Light</vt:lpstr>
      <vt:lpstr>仿宋</vt:lpstr>
      <vt:lpstr>美的无界联动体</vt:lpstr>
      <vt:lpstr>美的无界联动体 Medium</vt:lpstr>
      <vt:lpstr>宋体</vt:lpstr>
      <vt:lpstr>微软雅黑</vt:lpstr>
      <vt:lpstr>Arial</vt:lpstr>
      <vt:lpstr>Calibri</vt:lpstr>
      <vt:lpstr>Calibri Light</vt:lpstr>
      <vt:lpstr>Helvetica</vt:lpstr>
      <vt:lpstr>Office 主题</vt:lpstr>
      <vt:lpstr>1_Office 主题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熊程程</dc:creator>
  <cp:lastModifiedBy>Midea</cp:lastModifiedBy>
  <cp:revision>1351</cp:revision>
  <cp:lastPrinted>2019-04-28T08:32:41Z</cp:lastPrinted>
  <dcterms:created xsi:type="dcterms:W3CDTF">2018-06-29T07:31:00Z</dcterms:created>
  <dcterms:modified xsi:type="dcterms:W3CDTF">2026-03-20T02:59:13Z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