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</p:sldMasterIdLst>
  <p:notesMasterIdLst>
    <p:notesMasterId r:id="rId7"/>
  </p:notesMasterIdLst>
  <p:handoutMasterIdLst>
    <p:handoutMasterId r:id="rId8"/>
  </p:handoutMasterIdLst>
  <p:sldIdLst>
    <p:sldId id="568" r:id="rId4"/>
    <p:sldId id="573" r:id="rId5"/>
    <p:sldId id="570" r:id="rId6"/>
  </p:sldIdLst>
  <p:sldSz cx="9144000" cy="5143500" type="screen16x9"/>
  <p:notesSz cx="6799263" cy="9929813"/>
  <p:custDataLst>
    <p:custData r:id="rId1"/>
    <p:custData r:id="rId2"/>
  </p:custDataLst>
  <p:defaultTextStyle>
    <a:defPPr marL="0" marR="0" indent="0" algn="l" defTabSz="3429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521415D9-36F7-43E2-AB2F-B90AF26B5E84}">
      <p14:sectionLst xmlns:p14="http://schemas.microsoft.com/office/powerpoint/2010/main">
        <p14:section name="美的金融" id="{A1A3B016-A9A2-4B99-B1E7-000BF0ACFB8F}">
          <p14:sldIdLst/>
        </p14:section>
        <p14:section name="概述" id="{D0ECD486-14F8-4BE1-A22E-04133F43B1D8}">
          <p14:sldIdLst>
            <p14:sldId id="568"/>
            <p14:sldId id="573"/>
            <p14:sldId id="5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26">
          <p15:clr>
            <a:srgbClr val="A4A3A4"/>
          </p15:clr>
        </p15:guide>
        <p15:guide id="2" pos="317">
          <p15:clr>
            <a:srgbClr val="A4A3A4"/>
          </p15:clr>
        </p15:guide>
        <p15:guide id="3" pos="5443">
          <p15:clr>
            <a:srgbClr val="A4A3A4"/>
          </p15:clr>
        </p15:guide>
        <p15:guide id="4" orient="horz" pos="1334">
          <p15:clr>
            <a:srgbClr val="A4A3A4"/>
          </p15:clr>
        </p15:guide>
        <p15:guide id="5" pos="5261">
          <p15:clr>
            <a:srgbClr val="A4A3A4"/>
          </p15:clr>
        </p15:guide>
        <p15:guide id="6" pos="204">
          <p15:clr>
            <a:srgbClr val="A4A3A4"/>
          </p15:clr>
        </p15:guide>
        <p15:guide id="7" orient="horz" pos="3099">
          <p15:clr>
            <a:srgbClr val="A4A3A4"/>
          </p15:clr>
        </p15:guide>
        <p15:guide id="8" orient="horz" pos="282">
          <p15:clr>
            <a:srgbClr val="A4A3A4"/>
          </p15:clr>
        </p15:guide>
        <p15:guide id="9" pos="2903">
          <p15:clr>
            <a:srgbClr val="A4A3A4"/>
          </p15:clr>
        </p15:guide>
        <p15:guide id="10" orient="horz" pos="1234">
          <p15:clr>
            <a:srgbClr val="A4A3A4"/>
          </p15:clr>
        </p15:guide>
        <p15:guide id="11" pos="1314">
          <p15:clr>
            <a:srgbClr val="A4A3A4"/>
          </p15:clr>
        </p15:guide>
        <p15:guide id="12" pos="635">
          <p15:clr>
            <a:srgbClr val="A4A3A4"/>
          </p15:clr>
        </p15:guide>
        <p15:guide id="13" pos="3351">
          <p15:clr>
            <a:srgbClr val="A4A3A4"/>
          </p15:clr>
        </p15:guide>
        <p15:guide id="14" pos="1945">
          <p15:clr>
            <a:srgbClr val="A4A3A4"/>
          </p15:clr>
        </p15:guide>
        <p15:guide id="15" pos="5534">
          <p15:clr>
            <a:srgbClr val="A4A3A4"/>
          </p15:clr>
        </p15:guide>
        <p15:guide id="16" pos="2213">
          <p15:clr>
            <a:srgbClr val="A4A3A4"/>
          </p15:clr>
        </p15:guide>
        <p15:guide id="17" orient="horz" pos="395">
          <p15:clr>
            <a:srgbClr val="A4A3A4"/>
          </p15:clr>
        </p15:guide>
        <p15:guide id="18" orient="horz" pos="146">
          <p15:clr>
            <a:srgbClr val="A4A3A4"/>
          </p15:clr>
        </p15:guide>
        <p15:guide id="19" pos="4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rley 杨碧城" initials="S杨" lastIdx="1" clrIdx="0"/>
  <p:cmAuthor id="2" name="Young 杨刚" initials="Y杨" lastIdx="2" clrIdx="1"/>
  <p:cmAuthor id="3" name="Nora 史赵新" initials="N史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78FE"/>
    <a:srgbClr val="1478FE"/>
    <a:srgbClr val="232323"/>
    <a:srgbClr val="404040"/>
    <a:srgbClr val="FF9800"/>
    <a:srgbClr val="94C8FF"/>
    <a:srgbClr val="DDDDDD"/>
    <a:srgbClr val="4472C4"/>
    <a:srgbClr val="000000"/>
    <a:srgbClr val="11A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4301" autoAdjust="0"/>
  </p:normalViewPr>
  <p:slideViewPr>
    <p:cSldViewPr snapToGrid="0" snapToObjects="1">
      <p:cViewPr varScale="1">
        <p:scale>
          <a:sx n="91" d="100"/>
          <a:sy n="91" d="100"/>
        </p:scale>
        <p:origin x="504" y="52"/>
      </p:cViewPr>
      <p:guideLst>
        <p:guide orient="horz" pos="826"/>
        <p:guide pos="317"/>
        <p:guide pos="5443"/>
        <p:guide orient="horz" pos="1334"/>
        <p:guide pos="5261"/>
        <p:guide pos="204"/>
        <p:guide orient="horz" pos="3099"/>
        <p:guide orient="horz" pos="282"/>
        <p:guide pos="2903"/>
        <p:guide orient="horz" pos="1234"/>
        <p:guide pos="1314"/>
        <p:guide pos="635"/>
        <p:guide pos="3351"/>
        <p:guide pos="1945"/>
        <p:guide pos="5534"/>
        <p:guide pos="2213"/>
        <p:guide orient="horz" pos="395"/>
        <p:guide orient="horz" pos="146"/>
        <p:guide pos="495"/>
      </p:guideLst>
    </p:cSldViewPr>
  </p:slideViewPr>
  <p:outlineViewPr>
    <p:cViewPr>
      <p:scale>
        <a:sx n="65" d="100"/>
        <a:sy n="65" d="100"/>
      </p:scale>
      <p:origin x="0" y="-879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1" d="100"/>
          <a:sy n="51" d="100"/>
        </p:scale>
        <p:origin x="2976" y="90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11F44-3E24-47CC-A9E1-A4E2E85A7160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5CF3C-7C21-4E8C-B6DD-1FC7EE6AE9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572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8287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73" name="Shape 573"/>
          <p:cNvSpPr>
            <a:spLocks noGrp="1"/>
          </p:cNvSpPr>
          <p:nvPr>
            <p:ph type="body" sz="quarter" idx="1"/>
          </p:nvPr>
        </p:nvSpPr>
        <p:spPr>
          <a:xfrm>
            <a:off x="906569" y="4716661"/>
            <a:ext cx="4986126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85800" latinLnBrk="0">
      <a:defRPr sz="900">
        <a:latin typeface="+mj-lt"/>
        <a:ea typeface="+mj-ea"/>
        <a:cs typeface="+mj-cs"/>
        <a:sym typeface="Calibri" panose="020F0502020204030204"/>
      </a:defRPr>
    </a:lvl1pPr>
    <a:lvl2pPr indent="85725" defTabSz="685800" latinLnBrk="0">
      <a:defRPr sz="900">
        <a:latin typeface="+mj-lt"/>
        <a:ea typeface="+mj-ea"/>
        <a:cs typeface="+mj-cs"/>
        <a:sym typeface="Calibri" panose="020F0502020204030204"/>
      </a:defRPr>
    </a:lvl2pPr>
    <a:lvl3pPr indent="171450" defTabSz="685800" latinLnBrk="0">
      <a:defRPr sz="900">
        <a:latin typeface="+mj-lt"/>
        <a:ea typeface="+mj-ea"/>
        <a:cs typeface="+mj-cs"/>
        <a:sym typeface="Calibri" panose="020F0502020204030204"/>
      </a:defRPr>
    </a:lvl3pPr>
    <a:lvl4pPr indent="257175" defTabSz="685800" latinLnBrk="0">
      <a:defRPr sz="900">
        <a:latin typeface="+mj-lt"/>
        <a:ea typeface="+mj-ea"/>
        <a:cs typeface="+mj-cs"/>
        <a:sym typeface="Calibri" panose="020F0502020204030204"/>
      </a:defRPr>
    </a:lvl4pPr>
    <a:lvl5pPr indent="342900" defTabSz="685800" latinLnBrk="0">
      <a:defRPr sz="900">
        <a:latin typeface="+mj-lt"/>
        <a:ea typeface="+mj-ea"/>
        <a:cs typeface="+mj-cs"/>
        <a:sym typeface="Calibri" panose="020F0502020204030204"/>
      </a:defRPr>
    </a:lvl5pPr>
    <a:lvl6pPr indent="428625" defTabSz="685800" latinLnBrk="0">
      <a:defRPr sz="900">
        <a:latin typeface="+mj-lt"/>
        <a:ea typeface="+mj-ea"/>
        <a:cs typeface="+mj-cs"/>
        <a:sym typeface="Calibri" panose="020F0502020204030204"/>
      </a:defRPr>
    </a:lvl6pPr>
    <a:lvl7pPr indent="514350" defTabSz="685800" latinLnBrk="0">
      <a:defRPr sz="900">
        <a:latin typeface="+mj-lt"/>
        <a:ea typeface="+mj-ea"/>
        <a:cs typeface="+mj-cs"/>
        <a:sym typeface="Calibri" panose="020F0502020204030204"/>
      </a:defRPr>
    </a:lvl7pPr>
    <a:lvl8pPr indent="600075" defTabSz="685800" latinLnBrk="0">
      <a:defRPr sz="900">
        <a:latin typeface="+mj-lt"/>
        <a:ea typeface="+mj-ea"/>
        <a:cs typeface="+mj-cs"/>
        <a:sym typeface="Calibri" panose="020F0502020204030204"/>
      </a:defRPr>
    </a:lvl8pPr>
    <a:lvl9pPr indent="685800" defTabSz="685800" latinLnBrk="0">
      <a:defRPr sz="9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hape 49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91" name="Shape 49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685800">
              <a:defRPr sz="900">
                <a:latin typeface="+mn-lt"/>
                <a:ea typeface="+mn-ea"/>
                <a:cs typeface="+mn-cs"/>
                <a:sym typeface="Trebuchet MS" panose="020B0603020202020204"/>
              </a:defRPr>
            </a:lvl1pPr>
          </a:lstStyle>
          <a:p>
            <a:r>
              <a:t>可开始修改</a:t>
            </a:r>
          </a:p>
        </p:txBody>
      </p:sp>
    </p:spTree>
    <p:extLst>
      <p:ext uri="{BB962C8B-B14F-4D97-AF65-F5344CB8AC3E}">
        <p14:creationId xmlns:p14="http://schemas.microsoft.com/office/powerpoint/2010/main" val="818249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82105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4B0BCC-05B3-AD47-9418-B95DB687A91E}" type="slidenum">
              <a:rPr kumimoji="1" lang="zh-CN" altLang="en-US" sz="5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/>
                <a:sym typeface="Helvetica Light"/>
              </a:rPr>
              <a:pPr marL="0" marR="0" lvl="0" indent="0" algn="ctr" defTabSz="82105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5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36971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88099" y="169485"/>
            <a:ext cx="968297" cy="340697"/>
          </a:xfrm>
          <a:prstGeom prst="rect">
            <a:avLst/>
          </a:prstGeom>
        </p:spPr>
      </p:pic>
      <p:pic>
        <p:nvPicPr>
          <p:cNvPr id="8" name="图像" descr="图像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225343" y="238066"/>
            <a:ext cx="618848" cy="83230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9" name="直线连接符 9"/>
          <p:cNvCxnSpPr/>
          <p:nvPr userDrawn="1"/>
        </p:nvCxnSpPr>
        <p:spPr>
          <a:xfrm>
            <a:off x="889362" y="207173"/>
            <a:ext cx="0" cy="520628"/>
          </a:xfrm>
          <a:prstGeom prst="line">
            <a:avLst/>
          </a:prstGeom>
          <a:ln>
            <a:solidFill>
              <a:srgbClr val="1577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88099" y="169485"/>
            <a:ext cx="968297" cy="3406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88099" y="169485"/>
            <a:ext cx="968297" cy="340697"/>
          </a:xfrm>
          <a:prstGeom prst="rect">
            <a:avLst/>
          </a:prstGeom>
        </p:spPr>
      </p:pic>
      <p:pic>
        <p:nvPicPr>
          <p:cNvPr id="6" name="图像" descr="图像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225343" y="238066"/>
            <a:ext cx="618848" cy="83230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7" name="直线连接符 9"/>
          <p:cNvCxnSpPr/>
          <p:nvPr userDrawn="1"/>
        </p:nvCxnSpPr>
        <p:spPr>
          <a:xfrm>
            <a:off x="889362" y="207173"/>
            <a:ext cx="0" cy="520628"/>
          </a:xfrm>
          <a:prstGeom prst="line">
            <a:avLst/>
          </a:prstGeom>
          <a:ln>
            <a:solidFill>
              <a:srgbClr val="1577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深色底封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xfrm>
            <a:off x="6233887" y="4605683"/>
            <a:ext cx="319313" cy="323159"/>
          </a:xfrm>
          <a:prstGeom prst="rect">
            <a:avLst/>
          </a:prstGeom>
        </p:spPr>
        <p:txBody>
          <a:bodyPr lIns="91437" tIns="91437" rIns="91437" bIns="91437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88099" y="169485"/>
            <a:ext cx="968297" cy="340697"/>
          </a:xfrm>
          <a:prstGeom prst="rect">
            <a:avLst/>
          </a:prstGeom>
        </p:spPr>
      </p:pic>
      <p:pic>
        <p:nvPicPr>
          <p:cNvPr id="4" name="图像" descr="图像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225343" y="238066"/>
            <a:ext cx="618848" cy="83230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5" name="直线连接符 9"/>
          <p:cNvCxnSpPr/>
          <p:nvPr userDrawn="1"/>
        </p:nvCxnSpPr>
        <p:spPr>
          <a:xfrm>
            <a:off x="889362" y="207173"/>
            <a:ext cx="0" cy="520628"/>
          </a:xfrm>
          <a:prstGeom prst="line">
            <a:avLst/>
          </a:prstGeom>
          <a:ln>
            <a:solidFill>
              <a:srgbClr val="1577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svg"/><Relationship Id="rId3" Type="http://schemas.openxmlformats.org/officeDocument/2006/relationships/notesSlide" Target="../notesSlides/notesSlide2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11" Type="http://schemas.openxmlformats.org/officeDocument/2006/relationships/image" Target="../media/image7.png"/><Relationship Id="rId10" Type="http://schemas.openxmlformats.org/officeDocument/2006/relationships/image" Target="../media/image134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365823" y="4074147"/>
            <a:ext cx="4793033" cy="1073219"/>
            <a:chOff x="2555128" y="3321771"/>
            <a:chExt cx="4323629" cy="1813897"/>
          </a:xfrm>
        </p:grpSpPr>
        <p:pic>
          <p:nvPicPr>
            <p:cNvPr id="89" name="图片 7" descr="图片 7"/>
            <p:cNvPicPr>
              <a:picLocks noChangeAspect="1"/>
            </p:cNvPicPr>
            <p:nvPr/>
          </p:nvPicPr>
          <p:blipFill rotWithShape="1">
            <a:blip r:embed="rId3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555128" y="3486969"/>
              <a:ext cx="4323629" cy="1648699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90" name="矩形"/>
            <p:cNvSpPr/>
            <p:nvPr/>
          </p:nvSpPr>
          <p:spPr>
            <a:xfrm>
              <a:off x="4196750" y="3481944"/>
              <a:ext cx="788363" cy="725760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685809"/>
              <a:endParaRPr sz="1275">
                <a:latin typeface="Calibri"/>
              </a:endParaRPr>
            </a:p>
          </p:txBody>
        </p:sp>
        <p:sp>
          <p:nvSpPr>
            <p:cNvPr id="91" name="三角形"/>
            <p:cNvSpPr/>
            <p:nvPr/>
          </p:nvSpPr>
          <p:spPr>
            <a:xfrm>
              <a:off x="4234839" y="3321771"/>
              <a:ext cx="693137" cy="2193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685809"/>
              <a:endParaRPr sz="1275">
                <a:latin typeface="Calibri"/>
              </a:endParaRPr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2990699" y="3321771"/>
              <a:ext cx="3023413" cy="1813897"/>
              <a:chOff x="2990699" y="3321771"/>
              <a:chExt cx="3023413" cy="1813897"/>
            </a:xfrm>
          </p:grpSpPr>
          <p:sp>
            <p:nvSpPr>
              <p:cNvPr id="96" name="矩形"/>
              <p:cNvSpPr/>
              <p:nvPr/>
            </p:nvSpPr>
            <p:spPr>
              <a:xfrm>
                <a:off x="4196750" y="3481944"/>
                <a:ext cx="788363" cy="725760"/>
              </a:xfrm>
              <a:prstGeom prst="rect">
                <a:avLst/>
              </a:pr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defTabSz="685809"/>
                <a:endParaRPr sz="1275">
                  <a:latin typeface="Calibri"/>
                </a:endParaRPr>
              </a:p>
            </p:txBody>
          </p:sp>
          <p:sp>
            <p:nvSpPr>
              <p:cNvPr id="97" name="三角形"/>
              <p:cNvSpPr/>
              <p:nvPr/>
            </p:nvSpPr>
            <p:spPr>
              <a:xfrm>
                <a:off x="4234839" y="3321771"/>
                <a:ext cx="693137" cy="2193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defTabSz="685809"/>
                <a:endParaRPr sz="1275">
                  <a:latin typeface="Calibri"/>
                </a:endParaRPr>
              </a:p>
            </p:txBody>
          </p:sp>
          <p:sp>
            <p:nvSpPr>
              <p:cNvPr id="98" name="任意形状 57"/>
              <p:cNvSpPr/>
              <p:nvPr/>
            </p:nvSpPr>
            <p:spPr>
              <a:xfrm>
                <a:off x="2990699" y="4205266"/>
                <a:ext cx="3023413" cy="930402"/>
              </a:xfrm>
              <a:custGeom>
                <a:avLst/>
                <a:gdLst>
                  <a:gd name="connsiteX0" fmla="*/ 1511706 w 3023413"/>
                  <a:gd name="connsiteY0" fmla="*/ 0 h 930402"/>
                  <a:gd name="connsiteX1" fmla="*/ 2999491 w 3023413"/>
                  <a:gd name="connsiteY1" fmla="*/ 880996 h 930402"/>
                  <a:gd name="connsiteX2" fmla="*/ 3023413 w 3023413"/>
                  <a:gd name="connsiteY2" fmla="*/ 930402 h 930402"/>
                  <a:gd name="connsiteX3" fmla="*/ 0 w 3023413"/>
                  <a:gd name="connsiteY3" fmla="*/ 930402 h 930402"/>
                  <a:gd name="connsiteX4" fmla="*/ 23921 w 3023413"/>
                  <a:gd name="connsiteY4" fmla="*/ 880996 h 930402"/>
                  <a:gd name="connsiteX5" fmla="*/ 1511706 w 3023413"/>
                  <a:gd name="connsiteY5" fmla="*/ 0 h 930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3413" h="930402">
                    <a:moveTo>
                      <a:pt x="1511706" y="0"/>
                    </a:moveTo>
                    <a:cubicBezTo>
                      <a:pt x="2154152" y="0"/>
                      <a:pt x="2712969" y="356235"/>
                      <a:pt x="2999491" y="880996"/>
                    </a:cubicBezTo>
                    <a:lnTo>
                      <a:pt x="3023413" y="930402"/>
                    </a:lnTo>
                    <a:lnTo>
                      <a:pt x="0" y="930402"/>
                    </a:lnTo>
                    <a:lnTo>
                      <a:pt x="23921" y="880996"/>
                    </a:lnTo>
                    <a:cubicBezTo>
                      <a:pt x="310443" y="356235"/>
                      <a:pt x="869261" y="0"/>
                      <a:pt x="15117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ysDot"/>
                <a:miter lim="400000"/>
              </a:ln>
              <a:effectLst/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144147"/>
                <a:endParaRPr kumimoji="1" lang="zh-CN" altLang="en-US" sz="375" b="1" dirty="0">
                  <a:latin typeface="Calibri"/>
                  <a:ea typeface="等线" panose="02010600030101010101" pitchFamily="2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94" name="三角形"/>
            <p:cNvSpPr/>
            <p:nvPr/>
          </p:nvSpPr>
          <p:spPr>
            <a:xfrm>
              <a:off x="4234839" y="3321771"/>
              <a:ext cx="693137" cy="2193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685809"/>
              <a:endParaRPr sz="1275">
                <a:latin typeface="Calibri"/>
              </a:endParaRPr>
            </a:p>
          </p:txBody>
        </p:sp>
      </p:grp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1" t="10227" r="13283" b="7542"/>
          <a:stretch/>
        </p:blipFill>
        <p:spPr>
          <a:xfrm>
            <a:off x="4215022" y="4675307"/>
            <a:ext cx="786599" cy="455104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522515" y="786651"/>
            <a:ext cx="8483982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71450" defTabSz="764142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prstClr val="black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 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美的金融隶属美的集团数字化创新业务板块，近年来积极布局供应链金融，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业务涵盖供应链上下游多级企业，根据客户需求设计个性化的金融服务产品，为产业生态圈内的所有企业提供综合解决方案</a:t>
            </a:r>
            <a:r>
              <a:rPr lang="zh-CN" altLang="en-US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100" dirty="0" smtClean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美</a:t>
            </a:r>
            <a:r>
              <a:rPr lang="zh-CN" altLang="en-US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的金融</a:t>
            </a:r>
            <a:r>
              <a:rPr lang="zh-CN" altLang="en-US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以</a:t>
            </a:r>
            <a:r>
              <a:rPr lang="zh-CN" altLang="en-US" sz="110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服务</a:t>
            </a:r>
            <a:r>
              <a:rPr lang="zh-CN" altLang="en-US" sz="1100" smtClean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产业科技</a:t>
            </a:r>
            <a:r>
              <a:rPr lang="zh-CN" altLang="en-US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创新为核心，</a:t>
            </a:r>
            <a:r>
              <a:rPr lang="zh-CN" altLang="zh-CN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坚持</a:t>
            </a:r>
            <a:r>
              <a:rPr lang="en-US" altLang="zh-CN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“</a:t>
            </a:r>
            <a:r>
              <a:rPr lang="zh-CN" altLang="zh-CN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数</a:t>
            </a:r>
            <a:r>
              <a:rPr lang="zh-CN" altLang="zh-CN" sz="110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智</a:t>
            </a:r>
            <a:r>
              <a:rPr lang="zh-CN" altLang="zh-CN" sz="1100" smtClean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驱动</a:t>
            </a:r>
            <a:r>
              <a:rPr lang="zh-CN" altLang="en-US" sz="1100" smtClean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运营提升业务</a:t>
            </a:r>
            <a:r>
              <a:rPr lang="zh-CN" altLang="zh-CN" sz="1100" smtClean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突破</a:t>
            </a:r>
            <a:r>
              <a:rPr lang="zh-CN" altLang="en-US" sz="1100" smtClean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深化</a:t>
            </a:r>
            <a:r>
              <a:rPr lang="zh-CN" altLang="en-US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布局</a:t>
            </a:r>
            <a:r>
              <a:rPr lang="en-US" altLang="zh-CN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”</a:t>
            </a:r>
            <a:r>
              <a:rPr lang="zh-CN" altLang="zh-CN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Helvetica Light"/>
              </a:rPr>
              <a:t> ，</a:t>
            </a:r>
            <a:r>
              <a:rPr lang="zh-CN" altLang="en-US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实现</a:t>
            </a:r>
            <a:r>
              <a:rPr lang="zh-CN" altLang="en-US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金融与</a:t>
            </a:r>
            <a:r>
              <a:rPr lang="zh-CN" altLang="en-US" sz="110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科技</a:t>
            </a:r>
            <a:r>
              <a:rPr lang="zh-CN" altLang="en-US" sz="1100" smtClean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</a:t>
            </a:r>
            <a:r>
              <a:rPr lang="zh-CN" altLang="en-US" sz="1100" smtClean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平台</a:t>
            </a:r>
            <a:r>
              <a:rPr lang="zh-CN" altLang="en-US" sz="110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化</a:t>
            </a:r>
            <a:r>
              <a:rPr lang="zh-CN" altLang="en-US" sz="1100" smtClean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发展外延式</a:t>
            </a:r>
            <a:r>
              <a:rPr lang="zh-CN" altLang="en-US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发展，致力于成为科技领先的供应链金融平台</a:t>
            </a:r>
            <a:r>
              <a:rPr lang="zh-CN" altLang="en-US" sz="1100" dirty="0">
                <a:solidFill>
                  <a:srgbClr val="006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dirty="0">
              <a:solidFill>
                <a:srgbClr val="006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48" name="Shape 687"/>
          <p:cNvSpPr txBox="1"/>
          <p:nvPr/>
        </p:nvSpPr>
        <p:spPr>
          <a:xfrm>
            <a:off x="982801" y="479762"/>
            <a:ext cx="2506692" cy="227222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lvl1pPr defTabSz="821055">
              <a:defRPr sz="2800">
                <a:solidFill>
                  <a:srgbClr val="23232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defTabSz="821065" hangingPunct="1">
              <a:defRPr/>
            </a:pPr>
            <a:r>
              <a:rPr lang="zh-CN" altLang="en-US" sz="112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/>
              </a:rPr>
              <a:t>致力于成为科技领先的供应链金融平台</a:t>
            </a:r>
            <a:endParaRPr sz="112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"/>
            </a:endParaRPr>
          </a:p>
        </p:txBody>
      </p:sp>
      <p:sp>
        <p:nvSpPr>
          <p:cNvPr id="49" name="Shape 687"/>
          <p:cNvSpPr txBox="1"/>
          <p:nvPr/>
        </p:nvSpPr>
        <p:spPr>
          <a:xfrm>
            <a:off x="984407" y="162834"/>
            <a:ext cx="977427" cy="331096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lvl1pPr defTabSz="821055">
              <a:defRPr sz="4600">
                <a:solidFill>
                  <a:srgbClr val="1478FE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defTabSz="821065" hangingPunct="1">
              <a:defRPr/>
            </a:pPr>
            <a:r>
              <a:rPr lang="zh-CN" altLang="en-US" sz="1800" kern="1200" dirty="0"/>
              <a:t>美的金融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0" t="32632" r="16951" b="41738"/>
          <a:stretch/>
        </p:blipFill>
        <p:spPr>
          <a:xfrm>
            <a:off x="3873274" y="4342672"/>
            <a:ext cx="1519605" cy="32652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43" name="圆角矩形"/>
          <p:cNvSpPr/>
          <p:nvPr/>
        </p:nvSpPr>
        <p:spPr>
          <a:xfrm>
            <a:off x="447724" y="1936588"/>
            <a:ext cx="1963636" cy="990000"/>
          </a:xfrm>
          <a:prstGeom prst="roundRect">
            <a:avLst>
              <a:gd name="adj" fmla="val 2089"/>
            </a:avLst>
          </a:prstGeom>
          <a:noFill/>
          <a:ln w="9525" cap="flat">
            <a:solidFill>
              <a:srgbClr val="1578FE">
                <a:alpha val="50000"/>
              </a:srgbClr>
            </a:solidFill>
            <a:prstDash val="solid"/>
            <a:miter lim="400000"/>
          </a:ln>
          <a:effectLst/>
        </p:spPr>
        <p:txBody>
          <a:bodyPr wrap="square" lIns="71435" tIns="71435" rIns="71435" bIns="71435" numCol="1" anchor="ctr">
            <a:noAutofit/>
          </a:bodyPr>
          <a:lstStyle/>
          <a:p>
            <a:pPr marL="205262" indent="-205262" defTabSz="685809"/>
            <a:endParaRPr sz="375">
              <a:latin typeface="Calibri"/>
            </a:endParaRPr>
          </a:p>
        </p:txBody>
      </p:sp>
      <p:sp>
        <p:nvSpPr>
          <p:cNvPr id="45" name="Shape 972"/>
          <p:cNvSpPr/>
          <p:nvPr/>
        </p:nvSpPr>
        <p:spPr>
          <a:xfrm>
            <a:off x="656722" y="2115100"/>
            <a:ext cx="1538409" cy="261844"/>
          </a:xfrm>
          <a:prstGeom prst="rect">
            <a:avLst/>
          </a:prstGeom>
          <a:ln w="12700">
            <a:miter lim="400000"/>
          </a:ln>
        </p:spPr>
        <p:txBody>
          <a:bodyPr wrap="square" lIns="26786" tIns="26786" rIns="26786" bIns="26786" anchor="ctr">
            <a:spAutoFit/>
          </a:bodyPr>
          <a:lstStyle/>
          <a:p>
            <a:pPr defTabSz="456719"/>
            <a:r>
              <a:rPr lang="en-US" altLang="zh-CN" smtClean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2023</a:t>
            </a:r>
            <a:r>
              <a:rPr lang="zh-CN" altLang="en-US" smtClean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/>
              </a:rPr>
              <a:t>年</a:t>
            </a:r>
            <a:r>
              <a:rPr lang="zh-CN" altLang="en-US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/>
              </a:rPr>
              <a:t>营业总收入</a:t>
            </a:r>
            <a:endParaRPr dirty="0">
              <a:solidFill>
                <a:srgbClr val="1578F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46" name="Shape 973"/>
          <p:cNvSpPr/>
          <p:nvPr/>
        </p:nvSpPr>
        <p:spPr>
          <a:xfrm>
            <a:off x="980469" y="2434194"/>
            <a:ext cx="809110" cy="365719"/>
          </a:xfrm>
          <a:prstGeom prst="rect">
            <a:avLst/>
          </a:prstGeom>
          <a:ln w="12700">
            <a:miter lim="400000"/>
          </a:ln>
        </p:spPr>
        <p:txBody>
          <a:bodyPr wrap="none" lIns="26786" tIns="26786" rIns="26786" bIns="26786" anchor="ctr">
            <a:spAutoFit/>
          </a:bodyPr>
          <a:lstStyle/>
          <a:p>
            <a:pPr defTabSz="307654"/>
            <a:r>
              <a:rPr lang="en-US" altLang="zh-CN" sz="2025" b="1" smtClean="0">
                <a:solidFill>
                  <a:srgbClr val="1578FE"/>
                </a:solidFill>
                <a:latin typeface="Arial" panose="020B0604020202090204" pitchFamily="34" charset="0"/>
                <a:ea typeface="Microsoft YaHei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13.6</a:t>
            </a:r>
            <a:r>
              <a:rPr lang="zh-CN" altLang="en-US" sz="975" smtClean="0">
                <a:solidFill>
                  <a:srgbClr val="1578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亿</a:t>
            </a:r>
            <a:r>
              <a:rPr lang="zh-CN" altLang="en-US" sz="975" dirty="0">
                <a:solidFill>
                  <a:srgbClr val="1578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元</a:t>
            </a:r>
          </a:p>
        </p:txBody>
      </p:sp>
      <p:sp>
        <p:nvSpPr>
          <p:cNvPr id="51" name="圆角矩形"/>
          <p:cNvSpPr/>
          <p:nvPr/>
        </p:nvSpPr>
        <p:spPr>
          <a:xfrm>
            <a:off x="2488009" y="1936588"/>
            <a:ext cx="1963636" cy="990000"/>
          </a:xfrm>
          <a:prstGeom prst="roundRect">
            <a:avLst>
              <a:gd name="adj" fmla="val 2260"/>
            </a:avLst>
          </a:prstGeom>
          <a:noFill/>
          <a:ln w="9525" cap="flat">
            <a:solidFill>
              <a:srgbClr val="1578FE">
                <a:alpha val="50000"/>
              </a:srgbClr>
            </a:solidFill>
            <a:prstDash val="solid"/>
            <a:miter lim="400000"/>
          </a:ln>
          <a:effectLst/>
        </p:spPr>
        <p:txBody>
          <a:bodyPr wrap="square" lIns="71435" tIns="71435" rIns="71435" bIns="71435" numCol="1" anchor="ctr">
            <a:noAutofit/>
          </a:bodyPr>
          <a:lstStyle/>
          <a:p>
            <a:pPr marL="205262" indent="-205262" defTabSz="685809"/>
            <a:endParaRPr sz="375">
              <a:latin typeface="Calibri"/>
            </a:endParaRPr>
          </a:p>
        </p:txBody>
      </p:sp>
      <p:sp>
        <p:nvSpPr>
          <p:cNvPr id="55" name="Shape 972"/>
          <p:cNvSpPr/>
          <p:nvPr/>
        </p:nvSpPr>
        <p:spPr>
          <a:xfrm>
            <a:off x="2696488" y="2115100"/>
            <a:ext cx="1538409" cy="261844"/>
          </a:xfrm>
          <a:prstGeom prst="rect">
            <a:avLst/>
          </a:prstGeom>
          <a:ln w="12700">
            <a:miter lim="400000"/>
          </a:ln>
        </p:spPr>
        <p:txBody>
          <a:bodyPr wrap="square" lIns="26786" tIns="26786" rIns="26786" bIns="26786" anchor="ctr">
            <a:spAutoFit/>
          </a:bodyPr>
          <a:lstStyle/>
          <a:p>
            <a:pPr defTabSz="456719"/>
            <a:r>
              <a:rPr lang="en-US" altLang="zh-CN" dirty="0" smtClean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2023</a:t>
            </a:r>
            <a:r>
              <a:rPr lang="zh-CN" altLang="en-US" dirty="0" smtClean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年</a:t>
            </a:r>
            <a:r>
              <a:rPr lang="zh-CN" altLang="en-US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资产规模</a:t>
            </a:r>
            <a:endParaRPr dirty="0">
              <a:solidFill>
                <a:srgbClr val="1578F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56" name="Shape 973"/>
          <p:cNvSpPr/>
          <p:nvPr/>
        </p:nvSpPr>
        <p:spPr>
          <a:xfrm>
            <a:off x="3078515" y="2432599"/>
            <a:ext cx="736974" cy="365719"/>
          </a:xfrm>
          <a:prstGeom prst="rect">
            <a:avLst/>
          </a:prstGeom>
          <a:ln w="12700">
            <a:miter lim="400000"/>
          </a:ln>
        </p:spPr>
        <p:txBody>
          <a:bodyPr wrap="none" lIns="26786" tIns="26786" rIns="26786" bIns="26786" anchor="ctr">
            <a:spAutoFit/>
          </a:bodyPr>
          <a:lstStyle/>
          <a:p>
            <a:pPr defTabSz="307654"/>
            <a:r>
              <a:rPr lang="en-US" altLang="zh-CN" sz="2025" b="1" dirty="0" smtClean="0">
                <a:solidFill>
                  <a:srgbClr val="1578FE"/>
                </a:solidFill>
                <a:latin typeface="Arial" panose="020B0604020202090204" pitchFamily="34" charset="0"/>
                <a:ea typeface="Microsoft YaHei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300</a:t>
            </a:r>
            <a:r>
              <a:rPr lang="zh-CN" altLang="en-US" sz="975" dirty="0">
                <a:solidFill>
                  <a:srgbClr val="1578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亿元</a:t>
            </a:r>
          </a:p>
        </p:txBody>
      </p:sp>
      <p:sp>
        <p:nvSpPr>
          <p:cNvPr id="57" name="圆角矩形"/>
          <p:cNvSpPr/>
          <p:nvPr/>
        </p:nvSpPr>
        <p:spPr>
          <a:xfrm>
            <a:off x="4528297" y="1936588"/>
            <a:ext cx="1963636" cy="990000"/>
          </a:xfrm>
          <a:prstGeom prst="roundRect">
            <a:avLst>
              <a:gd name="adj" fmla="val 2615"/>
            </a:avLst>
          </a:prstGeom>
          <a:noFill/>
          <a:ln w="9525" cap="flat">
            <a:solidFill>
              <a:srgbClr val="1578FE">
                <a:alpha val="50000"/>
              </a:srgbClr>
            </a:solidFill>
            <a:prstDash val="solid"/>
            <a:miter lim="400000"/>
          </a:ln>
          <a:effectLst/>
        </p:spPr>
        <p:txBody>
          <a:bodyPr wrap="square" lIns="71435" tIns="71435" rIns="71435" bIns="71435" numCol="1" anchor="ctr">
            <a:noAutofit/>
          </a:bodyPr>
          <a:lstStyle/>
          <a:p>
            <a:pPr marL="205262" indent="-205262" defTabSz="685809"/>
            <a:endParaRPr sz="375">
              <a:latin typeface="Calibri"/>
            </a:endParaRPr>
          </a:p>
        </p:txBody>
      </p:sp>
      <p:sp>
        <p:nvSpPr>
          <p:cNvPr id="58" name="Shape 972"/>
          <p:cNvSpPr/>
          <p:nvPr/>
        </p:nvSpPr>
        <p:spPr>
          <a:xfrm>
            <a:off x="4714813" y="2115100"/>
            <a:ext cx="1538409" cy="261844"/>
          </a:xfrm>
          <a:prstGeom prst="rect">
            <a:avLst/>
          </a:prstGeom>
          <a:ln w="12700">
            <a:miter lim="400000"/>
          </a:ln>
        </p:spPr>
        <p:txBody>
          <a:bodyPr wrap="square" lIns="26786" tIns="26786" rIns="26786" bIns="26786" anchor="ctr">
            <a:spAutoFit/>
          </a:bodyPr>
          <a:lstStyle/>
          <a:p>
            <a:pPr defTabSz="456719"/>
            <a:r>
              <a:rPr lang="zh-CN" altLang="en-US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/>
              </a:rPr>
              <a:t>服务客户数量</a:t>
            </a:r>
            <a:endParaRPr dirty="0">
              <a:solidFill>
                <a:srgbClr val="1578F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60" name="Shape 973"/>
          <p:cNvSpPr/>
          <p:nvPr/>
        </p:nvSpPr>
        <p:spPr>
          <a:xfrm>
            <a:off x="4963189" y="2432599"/>
            <a:ext cx="1052766" cy="365719"/>
          </a:xfrm>
          <a:prstGeom prst="rect">
            <a:avLst/>
          </a:prstGeom>
          <a:ln w="12700">
            <a:miter lim="400000"/>
          </a:ln>
        </p:spPr>
        <p:txBody>
          <a:bodyPr wrap="none" lIns="26786" tIns="26786" rIns="26786" bIns="26786" anchor="ctr">
            <a:spAutoFit/>
          </a:bodyPr>
          <a:lstStyle/>
          <a:p>
            <a:pPr defTabSz="307654"/>
            <a:r>
              <a:rPr lang="en-US" altLang="zh-CN" sz="2025" b="1" dirty="0">
                <a:solidFill>
                  <a:srgbClr val="1578FE"/>
                </a:solidFill>
                <a:latin typeface="Arial" panose="020B0604020202090204" pitchFamily="34" charset="0"/>
                <a:ea typeface="Microsoft YaHei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32000+</a:t>
            </a:r>
            <a:r>
              <a:rPr lang="zh-CN" altLang="en-US" sz="975" dirty="0">
                <a:solidFill>
                  <a:srgbClr val="1578FE"/>
                </a:solidFill>
                <a:latin typeface="Arial" panose="020B0604020202090204" pitchFamily="34" charset="0"/>
                <a:ea typeface="Microsoft YaHei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家</a:t>
            </a:r>
            <a:endParaRPr lang="zh-CN" altLang="en-US" sz="975" dirty="0">
              <a:solidFill>
                <a:srgbClr val="1578FE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61" name="圆角矩形"/>
          <p:cNvSpPr/>
          <p:nvPr/>
        </p:nvSpPr>
        <p:spPr>
          <a:xfrm>
            <a:off x="6568585" y="1936588"/>
            <a:ext cx="1963636" cy="990000"/>
          </a:xfrm>
          <a:prstGeom prst="roundRect">
            <a:avLst>
              <a:gd name="adj" fmla="val 2515"/>
            </a:avLst>
          </a:prstGeom>
          <a:noFill/>
          <a:ln w="9525" cap="flat">
            <a:solidFill>
              <a:srgbClr val="1578FE">
                <a:alpha val="50000"/>
              </a:srgbClr>
            </a:solidFill>
            <a:prstDash val="solid"/>
            <a:miter lim="400000"/>
          </a:ln>
          <a:effectLst/>
        </p:spPr>
        <p:txBody>
          <a:bodyPr wrap="square" lIns="71435" tIns="71435" rIns="71435" bIns="71435" numCol="1" anchor="ctr">
            <a:noAutofit/>
          </a:bodyPr>
          <a:lstStyle/>
          <a:p>
            <a:pPr marL="205262" indent="-205262" defTabSz="685809"/>
            <a:endParaRPr sz="375">
              <a:latin typeface="Calibri"/>
            </a:endParaRPr>
          </a:p>
        </p:txBody>
      </p:sp>
      <p:sp>
        <p:nvSpPr>
          <p:cNvPr id="62" name="Shape 972"/>
          <p:cNvSpPr/>
          <p:nvPr/>
        </p:nvSpPr>
        <p:spPr>
          <a:xfrm>
            <a:off x="6803308" y="2115100"/>
            <a:ext cx="1538409" cy="261844"/>
          </a:xfrm>
          <a:prstGeom prst="rect">
            <a:avLst/>
          </a:prstGeom>
          <a:ln w="12700">
            <a:miter lim="400000"/>
          </a:ln>
        </p:spPr>
        <p:txBody>
          <a:bodyPr wrap="square" lIns="26786" tIns="26786" rIns="26786" bIns="26786" anchor="ctr">
            <a:spAutoFit/>
          </a:bodyPr>
          <a:lstStyle/>
          <a:p>
            <a:pPr defTabSz="456719"/>
            <a:r>
              <a:rPr lang="zh-CN" altLang="en-US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/>
              </a:rPr>
              <a:t>金融评级</a:t>
            </a:r>
            <a:endParaRPr dirty="0">
              <a:solidFill>
                <a:srgbClr val="1578F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63" name="Shape 973"/>
          <p:cNvSpPr/>
          <p:nvPr/>
        </p:nvSpPr>
        <p:spPr>
          <a:xfrm>
            <a:off x="7371632" y="2443066"/>
            <a:ext cx="616750" cy="365719"/>
          </a:xfrm>
          <a:prstGeom prst="rect">
            <a:avLst/>
          </a:prstGeom>
          <a:ln w="12700">
            <a:miter lim="400000"/>
          </a:ln>
        </p:spPr>
        <p:txBody>
          <a:bodyPr wrap="none" lIns="26786" tIns="26786" rIns="26786" bIns="26786" anchor="ctr">
            <a:spAutoFit/>
          </a:bodyPr>
          <a:lstStyle/>
          <a:p>
            <a:pPr defTabSz="307654"/>
            <a:r>
              <a:rPr lang="en-US" sz="2025" b="1" smtClean="0">
                <a:solidFill>
                  <a:srgbClr val="1578FE"/>
                </a:solidFill>
                <a:latin typeface="Arial" panose="020B0604020202090204" pitchFamily="34" charset="0"/>
                <a:ea typeface="Microsoft YaHei" panose="020B0503020204020204" pitchFamily="34" charset="-122"/>
                <a:cs typeface="Arial" panose="020B0604020202090204" pitchFamily="34" charset="0"/>
                <a:sym typeface="Arial" panose="020B0604020202090204"/>
              </a:rPr>
              <a:t>AAA</a:t>
            </a:r>
            <a:endParaRPr lang="zh-CN" altLang="en-US" sz="2025" b="1" dirty="0">
              <a:solidFill>
                <a:srgbClr val="1578FE"/>
              </a:solidFill>
              <a:latin typeface="Arial" panose="020B0604020202090204" pitchFamily="34" charset="0"/>
              <a:ea typeface="Microsoft YaHei" panose="020B0503020204020204" pitchFamily="34" charset="-122"/>
              <a:cs typeface="Arial" panose="020B0604020202090204" pitchFamily="34" charset="0"/>
              <a:sym typeface="Arial" panose="020B0604020202090204"/>
            </a:endParaRPr>
          </a:p>
        </p:txBody>
      </p:sp>
      <p:sp>
        <p:nvSpPr>
          <p:cNvPr id="69" name="Shape 984"/>
          <p:cNvSpPr/>
          <p:nvPr/>
        </p:nvSpPr>
        <p:spPr>
          <a:xfrm>
            <a:off x="4801096" y="3718588"/>
            <a:ext cx="1360430" cy="51244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t">
            <a:spAutoFit/>
          </a:bodyPr>
          <a:lstStyle/>
          <a:p>
            <a:pPr defTabSz="685809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各级供应商</a:t>
            </a:r>
            <a:r>
              <a:rPr lang="en-US" altLang="zh-CN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7000</a:t>
            </a:r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家</a:t>
            </a:r>
            <a:endParaRPr lang="en-US" altLang="zh-CN" sz="1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685809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charset="-122"/>
              </a:rPr>
              <a:t>经销商</a:t>
            </a:r>
            <a:r>
              <a:rPr lang="en-US" altLang="zh-CN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charset="-122"/>
              </a:rPr>
              <a:t>25000</a:t>
            </a:r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charset="-122"/>
              </a:rPr>
              <a:t>家</a:t>
            </a:r>
            <a:endParaRPr lang="en-US" altLang="zh-CN" sz="1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70" name="Shape 984"/>
          <p:cNvSpPr/>
          <p:nvPr/>
        </p:nvSpPr>
        <p:spPr>
          <a:xfrm>
            <a:off x="6655348" y="3718588"/>
            <a:ext cx="1917000" cy="7340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t">
            <a:spAutoFit/>
          </a:bodyPr>
          <a:lstStyle/>
          <a:p>
            <a:pPr defTabSz="685809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charset="-122"/>
              </a:rPr>
              <a:t>金融</a:t>
            </a:r>
            <a:r>
              <a:rPr lang="zh-CN" altLang="en-US" sz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charset="-122"/>
              </a:rPr>
              <a:t>主体</a:t>
            </a:r>
            <a:r>
              <a:rPr lang="en-US" altLang="zh-CN" sz="120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charset="-122"/>
              </a:rPr>
              <a:t>AAA</a:t>
            </a:r>
            <a:endParaRPr lang="en-US" altLang="zh-CN" sz="1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charset="-122"/>
            </a:endParaRPr>
          </a:p>
          <a:p>
            <a:pPr defTabSz="685809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charset="-122"/>
              </a:rPr>
              <a:t>广东省首批供应链金融创新平台试点</a:t>
            </a:r>
            <a:endParaRPr lang="en-US" altLang="zh-CN" sz="1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2459205" y="3550739"/>
            <a:ext cx="4078172" cy="637717"/>
            <a:chOff x="2515299" y="2839360"/>
            <a:chExt cx="4078172" cy="1347102"/>
          </a:xfrm>
        </p:grpSpPr>
        <p:sp>
          <p:nvSpPr>
            <p:cNvPr id="72" name="Shape 1004"/>
            <p:cNvSpPr/>
            <p:nvPr/>
          </p:nvSpPr>
          <p:spPr>
            <a:xfrm flipV="1">
              <a:off x="2515299" y="2839360"/>
              <a:ext cx="0" cy="1347102"/>
            </a:xfrm>
            <a:prstGeom prst="line">
              <a:avLst/>
            </a:prstGeom>
            <a:noFill/>
            <a:ln w="6350" cap="flat">
              <a:solidFill>
                <a:srgbClr val="1578FE">
                  <a:alpha val="30000"/>
                </a:srgbClr>
              </a:solidFill>
              <a:prstDash val="sysDot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144303"/>
              <a:endParaRPr sz="375" b="1" dirty="0">
                <a:latin typeface="Calibri"/>
              </a:endParaRPr>
            </a:p>
          </p:txBody>
        </p:sp>
        <p:sp>
          <p:nvSpPr>
            <p:cNvPr id="73" name="Shape 1004"/>
            <p:cNvSpPr/>
            <p:nvPr/>
          </p:nvSpPr>
          <p:spPr>
            <a:xfrm flipV="1">
              <a:off x="4563551" y="2839360"/>
              <a:ext cx="0" cy="1347102"/>
            </a:xfrm>
            <a:prstGeom prst="line">
              <a:avLst/>
            </a:prstGeom>
            <a:noFill/>
            <a:ln w="6350" cap="flat">
              <a:solidFill>
                <a:srgbClr val="1578FE">
                  <a:alpha val="30000"/>
                </a:srgbClr>
              </a:solidFill>
              <a:prstDash val="sysDot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144303"/>
              <a:endParaRPr sz="375" b="1" dirty="0">
                <a:latin typeface="Calibri"/>
              </a:endParaRPr>
            </a:p>
          </p:txBody>
        </p:sp>
        <p:sp>
          <p:nvSpPr>
            <p:cNvPr id="74" name="Shape 1004"/>
            <p:cNvSpPr/>
            <p:nvPr/>
          </p:nvSpPr>
          <p:spPr>
            <a:xfrm flipV="1">
              <a:off x="6593471" y="2839360"/>
              <a:ext cx="0" cy="1347102"/>
            </a:xfrm>
            <a:prstGeom prst="line">
              <a:avLst/>
            </a:prstGeom>
            <a:noFill/>
            <a:ln w="6350" cap="flat">
              <a:solidFill>
                <a:srgbClr val="1578FE">
                  <a:alpha val="30000"/>
                </a:srgbClr>
              </a:solidFill>
              <a:prstDash val="sysDot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144303"/>
              <a:endParaRPr sz="375" b="1" dirty="0">
                <a:latin typeface="Calibri"/>
              </a:endParaRPr>
            </a:p>
          </p:txBody>
        </p:sp>
      </p:grpSp>
      <p:sp>
        <p:nvSpPr>
          <p:cNvPr id="93" name="Shape 984"/>
          <p:cNvSpPr/>
          <p:nvPr/>
        </p:nvSpPr>
        <p:spPr>
          <a:xfrm>
            <a:off x="2874467" y="3728654"/>
            <a:ext cx="1360430" cy="29084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t">
            <a:spAutoFit/>
          </a:bodyPr>
          <a:lstStyle/>
          <a:p>
            <a:pPr defTabSz="685809">
              <a:lnSpc>
                <a:spcPct val="120000"/>
              </a:lnSpc>
            </a:pPr>
            <a:r>
              <a:rPr lang="zh-CN" altLang="en-US" sz="12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三年累计</a:t>
            </a:r>
            <a:r>
              <a:rPr lang="en-US" altLang="zh-CN" sz="12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800</a:t>
            </a:r>
            <a:r>
              <a:rPr lang="zh-CN" altLang="en-US" sz="12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亿元</a:t>
            </a:r>
            <a:endParaRPr lang="en-US" altLang="zh-CN" sz="12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73093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 85"/>
          <p:cNvSpPr txBox="1"/>
          <p:nvPr/>
        </p:nvSpPr>
        <p:spPr>
          <a:xfrm>
            <a:off x="6488999" y="4145503"/>
            <a:ext cx="1781851" cy="701505"/>
          </a:xfrm>
          <a:prstGeom prst="rect">
            <a:avLst/>
          </a:prstGeom>
          <a:noFill/>
          <a:ln w="12700" cap="flat">
            <a:solidFill>
              <a:srgbClr val="006FFF"/>
            </a:solidFill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endParaRPr lang="zh-CN" altLang="en-US" sz="450" dirty="0">
              <a:solidFill>
                <a:srgbClr val="B0CE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494173" y="2867667"/>
            <a:ext cx="1776678" cy="726611"/>
          </a:xfrm>
          <a:prstGeom prst="rect">
            <a:avLst/>
          </a:prstGeom>
          <a:noFill/>
          <a:ln w="12700" cap="flat">
            <a:solidFill>
              <a:srgbClr val="006FFF"/>
            </a:solidFill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endParaRPr lang="zh-CN" altLang="en-US" sz="450" dirty="0">
              <a:solidFill>
                <a:srgbClr val="B0CE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743172" y="4145503"/>
            <a:ext cx="1742711" cy="749631"/>
          </a:xfrm>
          <a:prstGeom prst="rect">
            <a:avLst/>
          </a:prstGeom>
          <a:noFill/>
          <a:ln w="12700" cap="flat">
            <a:solidFill>
              <a:srgbClr val="006FFF"/>
            </a:solidFill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endParaRPr lang="zh-CN" altLang="en-US" sz="450" dirty="0">
              <a:solidFill>
                <a:srgbClr val="B0CE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6869" y="2875709"/>
            <a:ext cx="1725537" cy="727155"/>
          </a:xfrm>
          <a:prstGeom prst="rect">
            <a:avLst/>
          </a:prstGeom>
          <a:noFill/>
          <a:ln w="12700" cap="flat">
            <a:solidFill>
              <a:srgbClr val="006FFF"/>
            </a:solidFill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endParaRPr lang="zh-CN" altLang="en-US" sz="450" dirty="0">
              <a:solidFill>
                <a:srgbClr val="B0CE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0" name="Shape 687"/>
          <p:cNvSpPr txBox="1"/>
          <p:nvPr/>
        </p:nvSpPr>
        <p:spPr>
          <a:xfrm>
            <a:off x="981000" y="168750"/>
            <a:ext cx="3402097" cy="331094"/>
          </a:xfrm>
          <a:prstGeom prst="rect">
            <a:avLst/>
          </a:prstGeom>
          <a:ln w="25400">
            <a:miter lim="400000"/>
          </a:ln>
        </p:spPr>
        <p:txBody>
          <a:bodyPr wrap="square" lIns="26786" tIns="26786" rIns="26786" bIns="26786" anchor="ctr">
            <a:spAutoFit/>
          </a:bodyPr>
          <a:lstStyle>
            <a:lvl1pPr defTabSz="821690">
              <a:defRPr sz="460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defTabSz="461951">
              <a:defRPr/>
            </a:pPr>
            <a:r>
              <a:rPr lang="zh-CN" altLang="en-US" sz="1800" dirty="0">
                <a:solidFill>
                  <a:srgbClr val="1178FE"/>
                </a:solidFill>
              </a:rPr>
              <a:t>美的</a:t>
            </a:r>
            <a:r>
              <a:rPr lang="zh-CN" altLang="en-US" sz="1800" dirty="0" smtClean="0">
                <a:solidFill>
                  <a:srgbClr val="1178FE"/>
                </a:solidFill>
              </a:rPr>
              <a:t>金融</a:t>
            </a:r>
            <a:endParaRPr lang="zh-CN" altLang="en-US" sz="1800" dirty="0">
              <a:solidFill>
                <a:srgbClr val="1178FE"/>
              </a:solidFill>
            </a:endParaRPr>
          </a:p>
        </p:txBody>
      </p:sp>
      <p:pic>
        <p:nvPicPr>
          <p:cNvPr id="32" name="图像" descr="图像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29977" y="228599"/>
            <a:ext cx="516998" cy="6953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" name="矩形"/>
          <p:cNvSpPr/>
          <p:nvPr/>
        </p:nvSpPr>
        <p:spPr>
          <a:xfrm>
            <a:off x="924500" y="222810"/>
            <a:ext cx="10800" cy="432000"/>
          </a:xfrm>
          <a:prstGeom prst="rect">
            <a:avLst/>
          </a:prstGeom>
          <a:solidFill>
            <a:srgbClr val="1478FE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514337">
              <a:defRPr/>
            </a:pPr>
            <a:endParaRPr sz="525">
              <a:latin typeface="Calibri" panose="020F0502020204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9901" y="466377"/>
            <a:ext cx="1436930" cy="242372"/>
          </a:xfrm>
          <a:prstGeom prst="rect">
            <a:avLst/>
          </a:prstGeom>
        </p:spPr>
        <p:txBody>
          <a:bodyPr wrap="none" lIns="68579" tIns="34289" rIns="68579" bIns="34289">
            <a:spAutoFit/>
          </a:bodyPr>
          <a:lstStyle/>
          <a:p>
            <a:pPr defTabSz="462098">
              <a:defRPr/>
            </a:pPr>
            <a:r>
              <a:rPr lang="zh-CN" altLang="en-US" sz="1125" dirty="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聚焦供应链金融服务</a:t>
            </a:r>
          </a:p>
        </p:txBody>
      </p:sp>
      <p:sp>
        <p:nvSpPr>
          <p:cNvPr id="152" name="Text Box 18"/>
          <p:cNvSpPr txBox="1">
            <a:spLocks noChangeArrowheads="1"/>
          </p:cNvSpPr>
          <p:nvPr/>
        </p:nvSpPr>
        <p:spPr bwMode="gray">
          <a:xfrm>
            <a:off x="481341" y="2814750"/>
            <a:ext cx="1885654" cy="312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8579" tIns="34289" rIns="68579" bIns="34289">
            <a:spAutoFit/>
          </a:bodyPr>
          <a:lstStyle/>
          <a:p>
            <a:pPr>
              <a:lnSpc>
                <a:spcPts val="1875"/>
              </a:lnSpc>
            </a:pPr>
            <a:endParaRPr lang="en-US" altLang="zh-CN" sz="1125" dirty="0">
              <a:latin typeface="微软雅黑" panose="020B0503020204020204" pitchFamily="34" charset="-122"/>
              <a:ea typeface="微软雅黑" panose="020B0503020204020204" pitchFamily="34" charset="-122"/>
              <a:cs typeface="Arial" charset="0"/>
            </a:endParaRPr>
          </a:p>
        </p:txBody>
      </p:sp>
      <p:sp>
        <p:nvSpPr>
          <p:cNvPr id="159" name="矩形 158"/>
          <p:cNvSpPr/>
          <p:nvPr/>
        </p:nvSpPr>
        <p:spPr bwMode="ltGray">
          <a:xfrm>
            <a:off x="726869" y="1186829"/>
            <a:ext cx="3502919" cy="1392654"/>
          </a:xfrm>
          <a:prstGeom prst="rect">
            <a:avLst/>
          </a:prstGeom>
          <a:noFill/>
          <a:ln w="6350" cap="flat">
            <a:solidFill>
              <a:srgbClr val="006FFF"/>
            </a:solidFill>
            <a:prstDash val="solid"/>
            <a:miter lim="400000"/>
          </a:ln>
          <a:effectLst/>
          <a:extLst/>
        </p:spPr>
        <p:txBody>
          <a:bodyPr wrap="square" lIns="0" tIns="0" rIns="0" bIns="0" numCol="1" rtlCol="0" anchor="ctr">
            <a:noAutofit/>
          </a:bodyPr>
          <a:lstStyle/>
          <a:p>
            <a:pPr defTabSz="144298"/>
            <a:endParaRPr kumimoji="1" lang="zh-CN" altLang="en-US" sz="8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矩形 160"/>
          <p:cNvSpPr/>
          <p:nvPr/>
        </p:nvSpPr>
        <p:spPr bwMode="ltGray">
          <a:xfrm>
            <a:off x="1208796" y="2212064"/>
            <a:ext cx="2546046" cy="208856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金融机构</a:t>
            </a:r>
            <a:r>
              <a:rPr lang="zh-CN" altLang="en-US" sz="82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825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银行担保公司保险公司</a:t>
            </a:r>
            <a:endParaRPr lang="zh-CN" altLang="en-US" sz="82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矩形 161"/>
          <p:cNvSpPr/>
          <p:nvPr/>
        </p:nvSpPr>
        <p:spPr bwMode="ltGray">
          <a:xfrm>
            <a:off x="1208797" y="1302895"/>
            <a:ext cx="698285" cy="162355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</a:p>
        </p:txBody>
      </p:sp>
      <p:grpSp>
        <p:nvGrpSpPr>
          <p:cNvPr id="172" name="组合 171"/>
          <p:cNvGrpSpPr/>
          <p:nvPr/>
        </p:nvGrpSpPr>
        <p:grpSpPr>
          <a:xfrm>
            <a:off x="873000" y="2957791"/>
            <a:ext cx="7209000" cy="1632076"/>
            <a:chOff x="-589471" y="4759054"/>
            <a:chExt cx="24260233" cy="5320950"/>
          </a:xfrm>
        </p:grpSpPr>
        <p:grpSp>
          <p:nvGrpSpPr>
            <p:cNvPr id="173" name="组合 172"/>
            <p:cNvGrpSpPr/>
            <p:nvPr/>
          </p:nvGrpSpPr>
          <p:grpSpPr>
            <a:xfrm>
              <a:off x="5352438" y="5627475"/>
              <a:ext cx="12965606" cy="4346946"/>
              <a:chOff x="10022484" y="5983545"/>
              <a:chExt cx="6408939" cy="3337431"/>
            </a:xfrm>
          </p:grpSpPr>
          <p:grpSp>
            <p:nvGrpSpPr>
              <p:cNvPr id="219" name="Group 74"/>
              <p:cNvGrpSpPr/>
              <p:nvPr/>
            </p:nvGrpSpPr>
            <p:grpSpPr>
              <a:xfrm flipH="1">
                <a:off x="14727195" y="5983545"/>
                <a:ext cx="1700196" cy="587382"/>
                <a:chOff x="3024435" y="1545506"/>
                <a:chExt cx="767091" cy="220268"/>
              </a:xfrm>
            </p:grpSpPr>
            <p:cxnSp>
              <p:nvCxnSpPr>
                <p:cNvPr id="225" name="Straight Connector 18"/>
                <p:cNvCxnSpPr/>
                <p:nvPr/>
              </p:nvCxnSpPr>
              <p:spPr>
                <a:xfrm flipH="1" flipV="1">
                  <a:off x="3552472" y="1545506"/>
                  <a:ext cx="239054" cy="220268"/>
                </a:xfrm>
                <a:prstGeom prst="line">
                  <a:avLst/>
                </a:prstGeom>
                <a:ln w="19050" cap="rnd">
                  <a:solidFill>
                    <a:schemeClr val="accent1"/>
                  </a:solidFill>
                  <a:prstDash val="solid"/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19"/>
                <p:cNvCxnSpPr/>
                <p:nvPr/>
              </p:nvCxnSpPr>
              <p:spPr>
                <a:xfrm flipH="1" flipV="1">
                  <a:off x="3024435" y="1545506"/>
                  <a:ext cx="528036" cy="3666"/>
                </a:xfrm>
                <a:prstGeom prst="line">
                  <a:avLst/>
                </a:prstGeom>
                <a:ln w="19050" cap="rnd">
                  <a:solidFill>
                    <a:schemeClr val="accent1"/>
                  </a:solidFill>
                  <a:prstDash val="solid"/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74"/>
              <p:cNvGrpSpPr/>
              <p:nvPr/>
            </p:nvGrpSpPr>
            <p:grpSpPr>
              <a:xfrm flipH="1" flipV="1">
                <a:off x="14935933" y="8733594"/>
                <a:ext cx="1495490" cy="587382"/>
                <a:chOff x="2999704" y="1677051"/>
                <a:chExt cx="674734" cy="220268"/>
              </a:xfrm>
            </p:grpSpPr>
            <p:cxnSp>
              <p:nvCxnSpPr>
                <p:cNvPr id="223" name="Straight Connector 30"/>
                <p:cNvCxnSpPr/>
                <p:nvPr/>
              </p:nvCxnSpPr>
              <p:spPr>
                <a:xfrm flipH="1" flipV="1">
                  <a:off x="3435384" y="1677051"/>
                  <a:ext cx="239054" cy="220268"/>
                </a:xfrm>
                <a:prstGeom prst="line">
                  <a:avLst/>
                </a:prstGeom>
                <a:ln w="19050" cap="rnd">
                  <a:solidFill>
                    <a:schemeClr val="accent1"/>
                  </a:solidFill>
                  <a:prstDash val="solid"/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31"/>
                <p:cNvCxnSpPr/>
                <p:nvPr/>
              </p:nvCxnSpPr>
              <p:spPr>
                <a:xfrm flipH="1" flipV="1">
                  <a:off x="2999704" y="1680718"/>
                  <a:ext cx="435677" cy="0"/>
                </a:xfrm>
                <a:prstGeom prst="line">
                  <a:avLst/>
                </a:prstGeom>
                <a:ln w="19050" cap="rnd">
                  <a:solidFill>
                    <a:schemeClr val="accent1"/>
                  </a:solidFill>
                  <a:prstDash val="solid"/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1" name="Text Placeholder 3"/>
              <p:cNvSpPr txBox="1">
                <a:spLocks/>
              </p:cNvSpPr>
              <p:nvPr/>
            </p:nvSpPr>
            <p:spPr>
              <a:xfrm>
                <a:off x="15755352" y="8801179"/>
                <a:ext cx="527975" cy="317788"/>
              </a:xfrm>
              <a:prstGeom prst="rect">
                <a:avLst/>
              </a:prstGeom>
            </p:spPr>
            <p:txBody>
              <a:bodyPr wrap="none" lIns="0" tIns="0" rIns="0" bIns="0" anchor="b">
                <a:spAutoFit/>
              </a:bodyPr>
              <a:lstStyle>
                <a:lvl1pPr marL="0" indent="0" algn="ctr">
                  <a:buNone/>
                  <a:defRPr sz="2800" b="1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algn="l" defTabSz="1828709">
                  <a:spcBef>
                    <a:spcPct val="20000"/>
                  </a:spcBef>
                  <a:defRPr/>
                </a:pPr>
                <a:r>
                  <a:rPr lang="zh-CN" altLang="en-US" sz="825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消费者</a:t>
                </a:r>
                <a:endParaRPr lang="en-US" sz="8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Text Placeholder 3"/>
              <p:cNvSpPr txBox="1">
                <a:spLocks/>
              </p:cNvSpPr>
              <p:nvPr/>
            </p:nvSpPr>
            <p:spPr>
              <a:xfrm flipH="1">
                <a:off x="10022484" y="8540682"/>
                <a:ext cx="413346" cy="317788"/>
              </a:xfrm>
              <a:prstGeom prst="rect">
                <a:avLst/>
              </a:prstGeom>
            </p:spPr>
            <p:txBody>
              <a:bodyPr wrap="square" lIns="0" tIns="0" rIns="0" bIns="0" anchor="b">
                <a:spAutoFit/>
              </a:bodyPr>
              <a:lstStyle>
                <a:lvl1pPr marL="0" indent="0" algn="ctr">
                  <a:buNone/>
                  <a:defRPr sz="2800" b="1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algn="l" defTabSz="1828709">
                  <a:spcBef>
                    <a:spcPct val="20000"/>
                  </a:spcBef>
                  <a:defRPr/>
                </a:pPr>
                <a:r>
                  <a:rPr lang="zh-CN" altLang="en-US" sz="825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员工</a:t>
                </a:r>
                <a:endParaRPr lang="en-US" sz="8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4838315" y="4759054"/>
              <a:ext cx="13108124" cy="4940870"/>
              <a:chOff x="7467882" y="5319847"/>
              <a:chExt cx="10203669" cy="3828847"/>
            </a:xfrm>
          </p:grpSpPr>
          <p:grpSp>
            <p:nvGrpSpPr>
              <p:cNvPr id="211" name="Group 73"/>
              <p:cNvGrpSpPr/>
              <p:nvPr/>
            </p:nvGrpSpPr>
            <p:grpSpPr>
              <a:xfrm>
                <a:off x="7467882" y="5946835"/>
                <a:ext cx="2281984" cy="577821"/>
                <a:chOff x="2778810" y="1525166"/>
                <a:chExt cx="1029582" cy="220352"/>
              </a:xfrm>
            </p:grpSpPr>
            <p:cxnSp>
              <p:nvCxnSpPr>
                <p:cNvPr id="217" name="Straight Connector 15"/>
                <p:cNvCxnSpPr/>
                <p:nvPr/>
              </p:nvCxnSpPr>
              <p:spPr>
                <a:xfrm flipH="1" flipV="1">
                  <a:off x="3569338" y="1525250"/>
                  <a:ext cx="239054" cy="220268"/>
                </a:xfrm>
                <a:prstGeom prst="line">
                  <a:avLst/>
                </a:prstGeom>
                <a:ln w="19050" cap="rnd">
                  <a:solidFill>
                    <a:schemeClr val="accent1"/>
                  </a:solidFill>
                  <a:prstDash val="solid"/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16"/>
                <p:cNvCxnSpPr/>
                <p:nvPr/>
              </p:nvCxnSpPr>
              <p:spPr>
                <a:xfrm flipH="1" flipV="1">
                  <a:off x="2778810" y="1525166"/>
                  <a:ext cx="790528" cy="3752"/>
                </a:xfrm>
                <a:prstGeom prst="line">
                  <a:avLst/>
                </a:prstGeom>
                <a:ln w="19050" cap="rnd">
                  <a:solidFill>
                    <a:schemeClr val="accent1"/>
                  </a:solidFill>
                  <a:prstDash val="solid"/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73"/>
              <p:cNvGrpSpPr/>
              <p:nvPr/>
            </p:nvGrpSpPr>
            <p:grpSpPr>
              <a:xfrm flipV="1">
                <a:off x="7486524" y="8571094"/>
                <a:ext cx="2107205" cy="577600"/>
                <a:chOff x="2787222" y="1750474"/>
                <a:chExt cx="950726" cy="220268"/>
              </a:xfrm>
            </p:grpSpPr>
            <p:cxnSp>
              <p:nvCxnSpPr>
                <p:cNvPr id="215" name="Straight Connector 27"/>
                <p:cNvCxnSpPr/>
                <p:nvPr/>
              </p:nvCxnSpPr>
              <p:spPr>
                <a:xfrm flipH="1" flipV="1">
                  <a:off x="3498894" y="1750474"/>
                  <a:ext cx="239054" cy="220268"/>
                </a:xfrm>
                <a:prstGeom prst="line">
                  <a:avLst/>
                </a:prstGeom>
                <a:ln w="19050" cap="rnd">
                  <a:solidFill>
                    <a:schemeClr val="accent1"/>
                  </a:solidFill>
                  <a:prstDash val="solid"/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8"/>
                <p:cNvCxnSpPr/>
                <p:nvPr/>
              </p:nvCxnSpPr>
              <p:spPr>
                <a:xfrm flipH="1" flipV="1">
                  <a:off x="2787222" y="1750474"/>
                  <a:ext cx="702055" cy="4733"/>
                </a:xfrm>
                <a:prstGeom prst="line">
                  <a:avLst/>
                </a:prstGeom>
                <a:ln w="19050" cap="rnd">
                  <a:solidFill>
                    <a:schemeClr val="accent1"/>
                  </a:solidFill>
                  <a:prstDash val="solid"/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3" name="Text Placeholder 3"/>
              <p:cNvSpPr txBox="1">
                <a:spLocks/>
              </p:cNvSpPr>
              <p:nvPr/>
            </p:nvSpPr>
            <p:spPr>
              <a:xfrm>
                <a:off x="7586097" y="5319847"/>
                <a:ext cx="1385747" cy="320755"/>
              </a:xfrm>
              <a:prstGeom prst="rect">
                <a:avLst/>
              </a:prstGeom>
            </p:spPr>
            <p:txBody>
              <a:bodyPr wrap="none" lIns="0" tIns="0" rIns="0" bIns="0" anchor="b">
                <a:spAutoFit/>
              </a:bodyPr>
              <a:lstStyle>
                <a:lvl1pPr marL="0" indent="0" algn="ctr">
                  <a:buNone/>
                  <a:defRPr sz="2800" b="1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algn="r" defTabSz="1828709">
                  <a:spcBef>
                    <a:spcPct val="20000"/>
                  </a:spcBef>
                  <a:defRPr/>
                </a:pPr>
                <a:r>
                  <a:rPr lang="zh-CN" altLang="en-US" sz="825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上游供应商</a:t>
                </a:r>
                <a:endParaRPr lang="en-US" sz="8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4" name="Text Placeholder 3"/>
              <p:cNvSpPr txBox="1">
                <a:spLocks/>
              </p:cNvSpPr>
              <p:nvPr/>
            </p:nvSpPr>
            <p:spPr>
              <a:xfrm>
                <a:off x="16285804" y="5388062"/>
                <a:ext cx="1385747" cy="320755"/>
              </a:xfrm>
              <a:prstGeom prst="rect">
                <a:avLst/>
              </a:prstGeom>
            </p:spPr>
            <p:txBody>
              <a:bodyPr wrap="none" lIns="0" tIns="0" rIns="0" bIns="0" anchor="b">
                <a:spAutoFit/>
              </a:bodyPr>
              <a:lstStyle>
                <a:lvl1pPr marL="0" indent="0" algn="ctr">
                  <a:buNone/>
                  <a:defRPr sz="2800" b="1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algn="r" defTabSz="1828709">
                  <a:spcBef>
                    <a:spcPct val="20000"/>
                  </a:spcBef>
                  <a:defRPr/>
                </a:pPr>
                <a:r>
                  <a:rPr lang="zh-CN" altLang="en-US" sz="825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下游经销商</a:t>
                </a:r>
                <a:endParaRPr lang="en-US" sz="825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5" name="Text Placeholder 3"/>
            <p:cNvSpPr txBox="1">
              <a:spLocks/>
            </p:cNvSpPr>
            <p:nvPr/>
          </p:nvSpPr>
          <p:spPr>
            <a:xfrm>
              <a:off x="-50816" y="4873843"/>
              <a:ext cx="3460073" cy="1354621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828664">
                <a:defRPr/>
              </a:pPr>
              <a:r>
                <a:rPr lang="zh-CN" altLang="en-US" sz="90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应收</a:t>
              </a:r>
              <a:r>
                <a:rPr lang="zh-CN" altLang="en-US" sz="9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账款质</a:t>
              </a:r>
              <a:r>
                <a:rPr lang="zh-CN" altLang="en-US" sz="9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押贷款</a:t>
              </a:r>
              <a:endParaRPr lang="en-US" altLang="zh-CN" sz="9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 defTabSz="1828664">
                <a:defRPr/>
              </a:pPr>
              <a:r>
                <a:rPr lang="zh-CN" altLang="en-US" sz="9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保理融资租赁</a:t>
              </a:r>
              <a:endParaRPr lang="en-US" altLang="zh-CN" sz="9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 defTabSz="1828664">
                <a:defRPr/>
              </a:pPr>
              <a:r>
                <a:rPr lang="zh-CN" altLang="en-US" sz="9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美</a:t>
              </a:r>
              <a:r>
                <a:rPr lang="zh-CN" altLang="en-US" sz="90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易</a:t>
              </a:r>
              <a:r>
                <a:rPr lang="zh-CN" altLang="en-US" sz="9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单票据</a:t>
              </a:r>
              <a:r>
                <a:rPr lang="zh-CN" altLang="en-US" sz="9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贴现</a:t>
              </a:r>
              <a:endParaRPr lang="en-US" sz="9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Text Placeholder 3"/>
            <p:cNvSpPr txBox="1">
              <a:spLocks/>
            </p:cNvSpPr>
            <p:nvPr/>
          </p:nvSpPr>
          <p:spPr>
            <a:xfrm>
              <a:off x="18951008" y="5150152"/>
              <a:ext cx="4719754" cy="903082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828664">
                <a:defRPr/>
              </a:pPr>
              <a:r>
                <a:rPr lang="zh-CN" altLang="en-US" sz="9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存货</a:t>
              </a:r>
              <a:r>
                <a:rPr lang="zh-CN" altLang="en-US" sz="90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质</a:t>
              </a:r>
              <a:r>
                <a:rPr lang="zh-CN" altLang="en-US" sz="9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押 订单融资 </a:t>
              </a:r>
              <a:endParaRPr lang="en-US" altLang="zh-CN" sz="900" smtClean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 defTabSz="1828664">
                <a:defRPr/>
              </a:pPr>
              <a:r>
                <a:rPr lang="zh-CN" altLang="en-US" sz="9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</a:t>
              </a:r>
              <a:r>
                <a:rPr lang="zh-CN" altLang="en-US" sz="90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</a:t>
              </a:r>
              <a:r>
                <a:rPr lang="zh-CN" altLang="en-US" sz="9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贷款 工程项目</a:t>
              </a:r>
              <a:r>
                <a:rPr lang="zh-CN" altLang="en-US" sz="9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融资</a:t>
              </a:r>
              <a:endParaRPr lang="en-US" sz="9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Text Placeholder 3"/>
            <p:cNvSpPr txBox="1">
              <a:spLocks/>
            </p:cNvSpPr>
            <p:nvPr/>
          </p:nvSpPr>
          <p:spPr>
            <a:xfrm>
              <a:off x="-589471" y="9510464"/>
              <a:ext cx="5016104" cy="451539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828664">
                <a:defRPr/>
              </a:pPr>
              <a:r>
                <a:rPr lang="zh-CN" altLang="en-US" sz="90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薪资</a:t>
              </a:r>
              <a:r>
                <a:rPr lang="zh-CN" altLang="en-US" sz="9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贷款 超</a:t>
              </a:r>
              <a:r>
                <a:rPr lang="zh-CN" altLang="en-US" sz="90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薪</a:t>
              </a:r>
              <a:r>
                <a:rPr lang="zh-CN" altLang="en-US" sz="900" smtClean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贷款 毕</a:t>
              </a:r>
              <a:r>
                <a:rPr lang="zh-CN" altLang="en-US" sz="9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分期</a:t>
              </a:r>
              <a:endParaRPr lang="en-US" sz="9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Text Placeholder 3"/>
            <p:cNvSpPr txBox="1">
              <a:spLocks/>
            </p:cNvSpPr>
            <p:nvPr/>
          </p:nvSpPr>
          <p:spPr>
            <a:xfrm>
              <a:off x="20643560" y="9533194"/>
              <a:ext cx="1811676" cy="451539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828664">
                <a:defRPr/>
              </a:pPr>
              <a:r>
                <a:rPr lang="zh-CN" altLang="en-US" sz="9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消费分期</a:t>
              </a:r>
              <a:endParaRPr lang="en-US" sz="9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15"/>
            <p:cNvSpPr>
              <a:spLocks/>
            </p:cNvSpPr>
            <p:nvPr/>
          </p:nvSpPr>
          <p:spPr bwMode="auto">
            <a:xfrm>
              <a:off x="8034386" y="5121842"/>
              <a:ext cx="5895424" cy="1712309"/>
            </a:xfrm>
            <a:custGeom>
              <a:avLst/>
              <a:gdLst>
                <a:gd name="T0" fmla="*/ 3938 w 4545"/>
                <a:gd name="T1" fmla="*/ 1277 h 2801"/>
                <a:gd name="T2" fmla="*/ 4116 w 4545"/>
                <a:gd name="T3" fmla="*/ 1349 h 2801"/>
                <a:gd name="T4" fmla="*/ 4270 w 4545"/>
                <a:gd name="T5" fmla="*/ 1457 h 2801"/>
                <a:gd name="T6" fmla="*/ 4396 w 4545"/>
                <a:gd name="T7" fmla="*/ 1599 h 2801"/>
                <a:gd name="T8" fmla="*/ 4486 w 4545"/>
                <a:gd name="T9" fmla="*/ 1765 h 2801"/>
                <a:gd name="T10" fmla="*/ 4537 w 4545"/>
                <a:gd name="T11" fmla="*/ 1953 h 2801"/>
                <a:gd name="T12" fmla="*/ 4543 w 4545"/>
                <a:gd name="T13" fmla="*/ 2131 h 2801"/>
                <a:gd name="T14" fmla="*/ 4521 w 4545"/>
                <a:gd name="T15" fmla="*/ 2272 h 2801"/>
                <a:gd name="T16" fmla="*/ 4476 w 4545"/>
                <a:gd name="T17" fmla="*/ 2405 h 2801"/>
                <a:gd name="T18" fmla="*/ 4409 w 4545"/>
                <a:gd name="T19" fmla="*/ 2526 h 2801"/>
                <a:gd name="T20" fmla="*/ 4324 w 4545"/>
                <a:gd name="T21" fmla="*/ 2634 h 2801"/>
                <a:gd name="T22" fmla="*/ 4224 w 4545"/>
                <a:gd name="T23" fmla="*/ 2726 h 2801"/>
                <a:gd name="T24" fmla="*/ 4107 w 4545"/>
                <a:gd name="T25" fmla="*/ 2801 h 2801"/>
                <a:gd name="T26" fmla="*/ 548 w 4545"/>
                <a:gd name="T27" fmla="*/ 2801 h 2801"/>
                <a:gd name="T28" fmla="*/ 407 w 4545"/>
                <a:gd name="T29" fmla="*/ 2754 h 2801"/>
                <a:gd name="T30" fmla="*/ 282 w 4545"/>
                <a:gd name="T31" fmla="*/ 2679 h 2801"/>
                <a:gd name="T32" fmla="*/ 175 w 4545"/>
                <a:gd name="T33" fmla="*/ 2582 h 2801"/>
                <a:gd name="T34" fmla="*/ 91 w 4545"/>
                <a:gd name="T35" fmla="*/ 2464 h 2801"/>
                <a:gd name="T36" fmla="*/ 33 w 4545"/>
                <a:gd name="T37" fmla="*/ 2329 h 2801"/>
                <a:gd name="T38" fmla="*/ 3 w 4545"/>
                <a:gd name="T39" fmla="*/ 2182 h 2801"/>
                <a:gd name="T40" fmla="*/ 8 w 4545"/>
                <a:gd name="T41" fmla="*/ 2018 h 2801"/>
                <a:gd name="T42" fmla="*/ 52 w 4545"/>
                <a:gd name="T43" fmla="*/ 1857 h 2801"/>
                <a:gd name="T44" fmla="*/ 130 w 4545"/>
                <a:gd name="T45" fmla="*/ 1715 h 2801"/>
                <a:gd name="T46" fmla="*/ 239 w 4545"/>
                <a:gd name="T47" fmla="*/ 1596 h 2801"/>
                <a:gd name="T48" fmla="*/ 374 w 4545"/>
                <a:gd name="T49" fmla="*/ 1504 h 2801"/>
                <a:gd name="T50" fmla="*/ 527 w 4545"/>
                <a:gd name="T51" fmla="*/ 1445 h 2801"/>
                <a:gd name="T52" fmla="*/ 653 w 4545"/>
                <a:gd name="T53" fmla="*/ 1401 h 2801"/>
                <a:gd name="T54" fmla="*/ 627 w 4545"/>
                <a:gd name="T55" fmla="*/ 1277 h 2801"/>
                <a:gd name="T56" fmla="*/ 631 w 4545"/>
                <a:gd name="T57" fmla="*/ 1138 h 2801"/>
                <a:gd name="T58" fmla="*/ 669 w 4545"/>
                <a:gd name="T59" fmla="*/ 1004 h 2801"/>
                <a:gd name="T60" fmla="*/ 737 w 4545"/>
                <a:gd name="T61" fmla="*/ 885 h 2801"/>
                <a:gd name="T62" fmla="*/ 831 w 4545"/>
                <a:gd name="T63" fmla="*/ 787 h 2801"/>
                <a:gd name="T64" fmla="*/ 946 w 4545"/>
                <a:gd name="T65" fmla="*/ 713 h 2801"/>
                <a:gd name="T66" fmla="*/ 1078 w 4545"/>
                <a:gd name="T67" fmla="*/ 668 h 2801"/>
                <a:gd name="T68" fmla="*/ 1225 w 4545"/>
                <a:gd name="T69" fmla="*/ 658 h 2801"/>
                <a:gd name="T70" fmla="*/ 1379 w 4545"/>
                <a:gd name="T71" fmla="*/ 688 h 2801"/>
                <a:gd name="T72" fmla="*/ 1515 w 4545"/>
                <a:gd name="T73" fmla="*/ 757 h 2801"/>
                <a:gd name="T74" fmla="*/ 1627 w 4545"/>
                <a:gd name="T75" fmla="*/ 858 h 2801"/>
                <a:gd name="T76" fmla="*/ 1701 w 4545"/>
                <a:gd name="T77" fmla="*/ 638 h 2801"/>
                <a:gd name="T78" fmla="*/ 1818 w 4545"/>
                <a:gd name="T79" fmla="*/ 442 h 2801"/>
                <a:gd name="T80" fmla="*/ 1972 w 4545"/>
                <a:gd name="T81" fmla="*/ 275 h 2801"/>
                <a:gd name="T82" fmla="*/ 2157 w 4545"/>
                <a:gd name="T83" fmla="*/ 143 h 2801"/>
                <a:gd name="T84" fmla="*/ 2368 w 4545"/>
                <a:gd name="T85" fmla="*/ 51 h 2801"/>
                <a:gd name="T86" fmla="*/ 2600 w 4545"/>
                <a:gd name="T87" fmla="*/ 5 h 2801"/>
                <a:gd name="T88" fmla="*/ 2864 w 4545"/>
                <a:gd name="T89" fmla="*/ 14 h 2801"/>
                <a:gd name="T90" fmla="*/ 3124 w 4545"/>
                <a:gd name="T91" fmla="*/ 87 h 2801"/>
                <a:gd name="T92" fmla="*/ 3353 w 4545"/>
                <a:gd name="T93" fmla="*/ 218 h 2801"/>
                <a:gd name="T94" fmla="*/ 3543 w 4545"/>
                <a:gd name="T95" fmla="*/ 399 h 2801"/>
                <a:gd name="T96" fmla="*/ 3685 w 4545"/>
                <a:gd name="T97" fmla="*/ 622 h 2801"/>
                <a:gd name="T98" fmla="*/ 3771 w 4545"/>
                <a:gd name="T99" fmla="*/ 875 h 2801"/>
                <a:gd name="T100" fmla="*/ 3793 w 4545"/>
                <a:gd name="T101" fmla="*/ 1117 h 2801"/>
                <a:gd name="T102" fmla="*/ 3787 w 4545"/>
                <a:gd name="T103" fmla="*/ 1213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545" h="2801">
                  <a:moveTo>
                    <a:pt x="3783" y="1251"/>
                  </a:moveTo>
                  <a:lnTo>
                    <a:pt x="3822" y="1255"/>
                  </a:lnTo>
                  <a:lnTo>
                    <a:pt x="3861" y="1260"/>
                  </a:lnTo>
                  <a:lnTo>
                    <a:pt x="3900" y="1268"/>
                  </a:lnTo>
                  <a:lnTo>
                    <a:pt x="3938" y="1277"/>
                  </a:lnTo>
                  <a:lnTo>
                    <a:pt x="3975" y="1289"/>
                  </a:lnTo>
                  <a:lnTo>
                    <a:pt x="4011" y="1301"/>
                  </a:lnTo>
                  <a:lnTo>
                    <a:pt x="4046" y="1315"/>
                  </a:lnTo>
                  <a:lnTo>
                    <a:pt x="4082" y="1331"/>
                  </a:lnTo>
                  <a:lnTo>
                    <a:pt x="4116" y="1349"/>
                  </a:lnTo>
                  <a:lnTo>
                    <a:pt x="4148" y="1368"/>
                  </a:lnTo>
                  <a:lnTo>
                    <a:pt x="4181" y="1388"/>
                  </a:lnTo>
                  <a:lnTo>
                    <a:pt x="4211" y="1410"/>
                  </a:lnTo>
                  <a:lnTo>
                    <a:pt x="4241" y="1433"/>
                  </a:lnTo>
                  <a:lnTo>
                    <a:pt x="4270" y="1457"/>
                  </a:lnTo>
                  <a:lnTo>
                    <a:pt x="4298" y="1484"/>
                  </a:lnTo>
                  <a:lnTo>
                    <a:pt x="4324" y="1510"/>
                  </a:lnTo>
                  <a:lnTo>
                    <a:pt x="4349" y="1539"/>
                  </a:lnTo>
                  <a:lnTo>
                    <a:pt x="4373" y="1568"/>
                  </a:lnTo>
                  <a:lnTo>
                    <a:pt x="4396" y="1599"/>
                  </a:lnTo>
                  <a:lnTo>
                    <a:pt x="4417" y="1629"/>
                  </a:lnTo>
                  <a:lnTo>
                    <a:pt x="4436" y="1662"/>
                  </a:lnTo>
                  <a:lnTo>
                    <a:pt x="4455" y="1696"/>
                  </a:lnTo>
                  <a:lnTo>
                    <a:pt x="4471" y="1730"/>
                  </a:lnTo>
                  <a:lnTo>
                    <a:pt x="4486" y="1765"/>
                  </a:lnTo>
                  <a:lnTo>
                    <a:pt x="4499" y="1801"/>
                  </a:lnTo>
                  <a:lnTo>
                    <a:pt x="4512" y="1838"/>
                  </a:lnTo>
                  <a:lnTo>
                    <a:pt x="4522" y="1876"/>
                  </a:lnTo>
                  <a:lnTo>
                    <a:pt x="4530" y="1913"/>
                  </a:lnTo>
                  <a:lnTo>
                    <a:pt x="4537" y="1953"/>
                  </a:lnTo>
                  <a:lnTo>
                    <a:pt x="4541" y="1992"/>
                  </a:lnTo>
                  <a:lnTo>
                    <a:pt x="4544" y="2032"/>
                  </a:lnTo>
                  <a:lnTo>
                    <a:pt x="4545" y="2072"/>
                  </a:lnTo>
                  <a:lnTo>
                    <a:pt x="4545" y="2102"/>
                  </a:lnTo>
                  <a:lnTo>
                    <a:pt x="4543" y="2131"/>
                  </a:lnTo>
                  <a:lnTo>
                    <a:pt x="4541" y="2160"/>
                  </a:lnTo>
                  <a:lnTo>
                    <a:pt x="4537" y="2189"/>
                  </a:lnTo>
                  <a:lnTo>
                    <a:pt x="4533" y="2216"/>
                  </a:lnTo>
                  <a:lnTo>
                    <a:pt x="4527" y="2245"/>
                  </a:lnTo>
                  <a:lnTo>
                    <a:pt x="4521" y="2272"/>
                  </a:lnTo>
                  <a:lnTo>
                    <a:pt x="4514" y="2300"/>
                  </a:lnTo>
                  <a:lnTo>
                    <a:pt x="4506" y="2326"/>
                  </a:lnTo>
                  <a:lnTo>
                    <a:pt x="4496" y="2353"/>
                  </a:lnTo>
                  <a:lnTo>
                    <a:pt x="4486" y="2379"/>
                  </a:lnTo>
                  <a:lnTo>
                    <a:pt x="4476" y="2405"/>
                  </a:lnTo>
                  <a:lnTo>
                    <a:pt x="4464" y="2430"/>
                  </a:lnTo>
                  <a:lnTo>
                    <a:pt x="4452" y="2455"/>
                  </a:lnTo>
                  <a:lnTo>
                    <a:pt x="4438" y="2479"/>
                  </a:lnTo>
                  <a:lnTo>
                    <a:pt x="4424" y="2502"/>
                  </a:lnTo>
                  <a:lnTo>
                    <a:pt x="4409" y="2526"/>
                  </a:lnTo>
                  <a:lnTo>
                    <a:pt x="4394" y="2548"/>
                  </a:lnTo>
                  <a:lnTo>
                    <a:pt x="4377" y="2571"/>
                  </a:lnTo>
                  <a:lnTo>
                    <a:pt x="4361" y="2592"/>
                  </a:lnTo>
                  <a:lnTo>
                    <a:pt x="4343" y="2613"/>
                  </a:lnTo>
                  <a:lnTo>
                    <a:pt x="4324" y="2634"/>
                  </a:lnTo>
                  <a:lnTo>
                    <a:pt x="4305" y="2653"/>
                  </a:lnTo>
                  <a:lnTo>
                    <a:pt x="4286" y="2672"/>
                  </a:lnTo>
                  <a:lnTo>
                    <a:pt x="4265" y="2691"/>
                  </a:lnTo>
                  <a:lnTo>
                    <a:pt x="4245" y="2709"/>
                  </a:lnTo>
                  <a:lnTo>
                    <a:pt x="4224" y="2726"/>
                  </a:lnTo>
                  <a:lnTo>
                    <a:pt x="4201" y="2743"/>
                  </a:lnTo>
                  <a:lnTo>
                    <a:pt x="4179" y="2758"/>
                  </a:lnTo>
                  <a:lnTo>
                    <a:pt x="4155" y="2773"/>
                  </a:lnTo>
                  <a:lnTo>
                    <a:pt x="4132" y="2787"/>
                  </a:lnTo>
                  <a:lnTo>
                    <a:pt x="4107" y="2801"/>
                  </a:lnTo>
                  <a:lnTo>
                    <a:pt x="3335" y="2801"/>
                  </a:lnTo>
                  <a:lnTo>
                    <a:pt x="3335" y="2801"/>
                  </a:lnTo>
                  <a:lnTo>
                    <a:pt x="846" y="2801"/>
                  </a:lnTo>
                  <a:lnTo>
                    <a:pt x="845" y="2801"/>
                  </a:lnTo>
                  <a:lnTo>
                    <a:pt x="548" y="2801"/>
                  </a:lnTo>
                  <a:lnTo>
                    <a:pt x="518" y="2793"/>
                  </a:lnTo>
                  <a:lnTo>
                    <a:pt x="490" y="2785"/>
                  </a:lnTo>
                  <a:lnTo>
                    <a:pt x="462" y="2776"/>
                  </a:lnTo>
                  <a:lnTo>
                    <a:pt x="435" y="2765"/>
                  </a:lnTo>
                  <a:lnTo>
                    <a:pt x="407" y="2754"/>
                  </a:lnTo>
                  <a:lnTo>
                    <a:pt x="381" y="2741"/>
                  </a:lnTo>
                  <a:lnTo>
                    <a:pt x="355" y="2727"/>
                  </a:lnTo>
                  <a:lnTo>
                    <a:pt x="330" y="2712"/>
                  </a:lnTo>
                  <a:lnTo>
                    <a:pt x="306" y="2697"/>
                  </a:lnTo>
                  <a:lnTo>
                    <a:pt x="282" y="2679"/>
                  </a:lnTo>
                  <a:lnTo>
                    <a:pt x="259" y="2662"/>
                  </a:lnTo>
                  <a:lnTo>
                    <a:pt x="237" y="2643"/>
                  </a:lnTo>
                  <a:lnTo>
                    <a:pt x="216" y="2623"/>
                  </a:lnTo>
                  <a:lnTo>
                    <a:pt x="196" y="2603"/>
                  </a:lnTo>
                  <a:lnTo>
                    <a:pt x="175" y="2582"/>
                  </a:lnTo>
                  <a:lnTo>
                    <a:pt x="157" y="2559"/>
                  </a:lnTo>
                  <a:lnTo>
                    <a:pt x="139" y="2537"/>
                  </a:lnTo>
                  <a:lnTo>
                    <a:pt x="122" y="2514"/>
                  </a:lnTo>
                  <a:lnTo>
                    <a:pt x="106" y="2489"/>
                  </a:lnTo>
                  <a:lnTo>
                    <a:pt x="91" y="2464"/>
                  </a:lnTo>
                  <a:lnTo>
                    <a:pt x="77" y="2438"/>
                  </a:lnTo>
                  <a:lnTo>
                    <a:pt x="64" y="2412"/>
                  </a:lnTo>
                  <a:lnTo>
                    <a:pt x="52" y="2385"/>
                  </a:lnTo>
                  <a:lnTo>
                    <a:pt x="42" y="2358"/>
                  </a:lnTo>
                  <a:lnTo>
                    <a:pt x="33" y="2329"/>
                  </a:lnTo>
                  <a:lnTo>
                    <a:pt x="24" y="2301"/>
                  </a:lnTo>
                  <a:lnTo>
                    <a:pt x="16" y="2272"/>
                  </a:lnTo>
                  <a:lnTo>
                    <a:pt x="11" y="2243"/>
                  </a:lnTo>
                  <a:lnTo>
                    <a:pt x="6" y="2212"/>
                  </a:lnTo>
                  <a:lnTo>
                    <a:pt x="3" y="2182"/>
                  </a:lnTo>
                  <a:lnTo>
                    <a:pt x="1" y="2151"/>
                  </a:lnTo>
                  <a:lnTo>
                    <a:pt x="0" y="2121"/>
                  </a:lnTo>
                  <a:lnTo>
                    <a:pt x="1" y="2086"/>
                  </a:lnTo>
                  <a:lnTo>
                    <a:pt x="4" y="2052"/>
                  </a:lnTo>
                  <a:lnTo>
                    <a:pt x="8" y="2018"/>
                  </a:lnTo>
                  <a:lnTo>
                    <a:pt x="13" y="1985"/>
                  </a:lnTo>
                  <a:lnTo>
                    <a:pt x="20" y="1952"/>
                  </a:lnTo>
                  <a:lnTo>
                    <a:pt x="30" y="1919"/>
                  </a:lnTo>
                  <a:lnTo>
                    <a:pt x="40" y="1888"/>
                  </a:lnTo>
                  <a:lnTo>
                    <a:pt x="52" y="1857"/>
                  </a:lnTo>
                  <a:lnTo>
                    <a:pt x="65" y="1827"/>
                  </a:lnTo>
                  <a:lnTo>
                    <a:pt x="80" y="1798"/>
                  </a:lnTo>
                  <a:lnTo>
                    <a:pt x="95" y="1770"/>
                  </a:lnTo>
                  <a:lnTo>
                    <a:pt x="112" y="1741"/>
                  </a:lnTo>
                  <a:lnTo>
                    <a:pt x="130" y="1715"/>
                  </a:lnTo>
                  <a:lnTo>
                    <a:pt x="150" y="1689"/>
                  </a:lnTo>
                  <a:lnTo>
                    <a:pt x="171" y="1664"/>
                  </a:lnTo>
                  <a:lnTo>
                    <a:pt x="193" y="1641"/>
                  </a:lnTo>
                  <a:lnTo>
                    <a:pt x="216" y="1617"/>
                  </a:lnTo>
                  <a:lnTo>
                    <a:pt x="239" y="1596"/>
                  </a:lnTo>
                  <a:lnTo>
                    <a:pt x="265" y="1574"/>
                  </a:lnTo>
                  <a:lnTo>
                    <a:pt x="290" y="1555"/>
                  </a:lnTo>
                  <a:lnTo>
                    <a:pt x="317" y="1537"/>
                  </a:lnTo>
                  <a:lnTo>
                    <a:pt x="345" y="1520"/>
                  </a:lnTo>
                  <a:lnTo>
                    <a:pt x="374" y="1504"/>
                  </a:lnTo>
                  <a:lnTo>
                    <a:pt x="402" y="1489"/>
                  </a:lnTo>
                  <a:lnTo>
                    <a:pt x="433" y="1477"/>
                  </a:lnTo>
                  <a:lnTo>
                    <a:pt x="463" y="1465"/>
                  </a:lnTo>
                  <a:lnTo>
                    <a:pt x="495" y="1454"/>
                  </a:lnTo>
                  <a:lnTo>
                    <a:pt x="527" y="1445"/>
                  </a:lnTo>
                  <a:lnTo>
                    <a:pt x="560" y="1438"/>
                  </a:lnTo>
                  <a:lnTo>
                    <a:pt x="593" y="1432"/>
                  </a:lnTo>
                  <a:lnTo>
                    <a:pt x="627" y="1428"/>
                  </a:lnTo>
                  <a:lnTo>
                    <a:pt x="661" y="1426"/>
                  </a:lnTo>
                  <a:lnTo>
                    <a:pt x="653" y="1401"/>
                  </a:lnTo>
                  <a:lnTo>
                    <a:pt x="645" y="1378"/>
                  </a:lnTo>
                  <a:lnTo>
                    <a:pt x="639" y="1354"/>
                  </a:lnTo>
                  <a:lnTo>
                    <a:pt x="634" y="1328"/>
                  </a:lnTo>
                  <a:lnTo>
                    <a:pt x="630" y="1303"/>
                  </a:lnTo>
                  <a:lnTo>
                    <a:pt x="627" y="1277"/>
                  </a:lnTo>
                  <a:lnTo>
                    <a:pt x="625" y="1251"/>
                  </a:lnTo>
                  <a:lnTo>
                    <a:pt x="624" y="1224"/>
                  </a:lnTo>
                  <a:lnTo>
                    <a:pt x="625" y="1196"/>
                  </a:lnTo>
                  <a:lnTo>
                    <a:pt x="627" y="1166"/>
                  </a:lnTo>
                  <a:lnTo>
                    <a:pt x="631" y="1138"/>
                  </a:lnTo>
                  <a:lnTo>
                    <a:pt x="636" y="1110"/>
                  </a:lnTo>
                  <a:lnTo>
                    <a:pt x="642" y="1083"/>
                  </a:lnTo>
                  <a:lnTo>
                    <a:pt x="650" y="1056"/>
                  </a:lnTo>
                  <a:lnTo>
                    <a:pt x="659" y="1029"/>
                  </a:lnTo>
                  <a:lnTo>
                    <a:pt x="669" y="1004"/>
                  </a:lnTo>
                  <a:lnTo>
                    <a:pt x="680" y="978"/>
                  </a:lnTo>
                  <a:lnTo>
                    <a:pt x="693" y="954"/>
                  </a:lnTo>
                  <a:lnTo>
                    <a:pt x="707" y="930"/>
                  </a:lnTo>
                  <a:lnTo>
                    <a:pt x="722" y="907"/>
                  </a:lnTo>
                  <a:lnTo>
                    <a:pt x="737" y="885"/>
                  </a:lnTo>
                  <a:lnTo>
                    <a:pt x="754" y="863"/>
                  </a:lnTo>
                  <a:lnTo>
                    <a:pt x="772" y="843"/>
                  </a:lnTo>
                  <a:lnTo>
                    <a:pt x="791" y="824"/>
                  </a:lnTo>
                  <a:lnTo>
                    <a:pt x="810" y="804"/>
                  </a:lnTo>
                  <a:lnTo>
                    <a:pt x="831" y="787"/>
                  </a:lnTo>
                  <a:lnTo>
                    <a:pt x="853" y="770"/>
                  </a:lnTo>
                  <a:lnTo>
                    <a:pt x="875" y="753"/>
                  </a:lnTo>
                  <a:lnTo>
                    <a:pt x="898" y="739"/>
                  </a:lnTo>
                  <a:lnTo>
                    <a:pt x="921" y="725"/>
                  </a:lnTo>
                  <a:lnTo>
                    <a:pt x="946" y="713"/>
                  </a:lnTo>
                  <a:lnTo>
                    <a:pt x="971" y="701"/>
                  </a:lnTo>
                  <a:lnTo>
                    <a:pt x="998" y="691"/>
                  </a:lnTo>
                  <a:lnTo>
                    <a:pt x="1023" y="682"/>
                  </a:lnTo>
                  <a:lnTo>
                    <a:pt x="1051" y="675"/>
                  </a:lnTo>
                  <a:lnTo>
                    <a:pt x="1078" y="668"/>
                  </a:lnTo>
                  <a:lnTo>
                    <a:pt x="1106" y="664"/>
                  </a:lnTo>
                  <a:lnTo>
                    <a:pt x="1134" y="660"/>
                  </a:lnTo>
                  <a:lnTo>
                    <a:pt x="1164" y="658"/>
                  </a:lnTo>
                  <a:lnTo>
                    <a:pt x="1192" y="657"/>
                  </a:lnTo>
                  <a:lnTo>
                    <a:pt x="1225" y="658"/>
                  </a:lnTo>
                  <a:lnTo>
                    <a:pt x="1257" y="661"/>
                  </a:lnTo>
                  <a:lnTo>
                    <a:pt x="1289" y="665"/>
                  </a:lnTo>
                  <a:lnTo>
                    <a:pt x="1319" y="671"/>
                  </a:lnTo>
                  <a:lnTo>
                    <a:pt x="1350" y="679"/>
                  </a:lnTo>
                  <a:lnTo>
                    <a:pt x="1379" y="688"/>
                  </a:lnTo>
                  <a:lnTo>
                    <a:pt x="1408" y="699"/>
                  </a:lnTo>
                  <a:lnTo>
                    <a:pt x="1435" y="712"/>
                  </a:lnTo>
                  <a:lnTo>
                    <a:pt x="1463" y="725"/>
                  </a:lnTo>
                  <a:lnTo>
                    <a:pt x="1489" y="740"/>
                  </a:lnTo>
                  <a:lnTo>
                    <a:pt x="1515" y="757"/>
                  </a:lnTo>
                  <a:lnTo>
                    <a:pt x="1539" y="775"/>
                  </a:lnTo>
                  <a:lnTo>
                    <a:pt x="1563" y="794"/>
                  </a:lnTo>
                  <a:lnTo>
                    <a:pt x="1585" y="814"/>
                  </a:lnTo>
                  <a:lnTo>
                    <a:pt x="1606" y="836"/>
                  </a:lnTo>
                  <a:lnTo>
                    <a:pt x="1627" y="858"/>
                  </a:lnTo>
                  <a:lnTo>
                    <a:pt x="1638" y="812"/>
                  </a:lnTo>
                  <a:lnTo>
                    <a:pt x="1651" y="768"/>
                  </a:lnTo>
                  <a:lnTo>
                    <a:pt x="1665" y="724"/>
                  </a:lnTo>
                  <a:lnTo>
                    <a:pt x="1683" y="681"/>
                  </a:lnTo>
                  <a:lnTo>
                    <a:pt x="1701" y="638"/>
                  </a:lnTo>
                  <a:lnTo>
                    <a:pt x="1721" y="597"/>
                  </a:lnTo>
                  <a:lnTo>
                    <a:pt x="1743" y="557"/>
                  </a:lnTo>
                  <a:lnTo>
                    <a:pt x="1766" y="517"/>
                  </a:lnTo>
                  <a:lnTo>
                    <a:pt x="1792" y="480"/>
                  </a:lnTo>
                  <a:lnTo>
                    <a:pt x="1818" y="442"/>
                  </a:lnTo>
                  <a:lnTo>
                    <a:pt x="1846" y="406"/>
                  </a:lnTo>
                  <a:lnTo>
                    <a:pt x="1875" y="372"/>
                  </a:lnTo>
                  <a:lnTo>
                    <a:pt x="1906" y="338"/>
                  </a:lnTo>
                  <a:lnTo>
                    <a:pt x="1938" y="306"/>
                  </a:lnTo>
                  <a:lnTo>
                    <a:pt x="1972" y="275"/>
                  </a:lnTo>
                  <a:lnTo>
                    <a:pt x="2006" y="246"/>
                  </a:lnTo>
                  <a:lnTo>
                    <a:pt x="2042" y="218"/>
                  </a:lnTo>
                  <a:lnTo>
                    <a:pt x="2080" y="192"/>
                  </a:lnTo>
                  <a:lnTo>
                    <a:pt x="2117" y="166"/>
                  </a:lnTo>
                  <a:lnTo>
                    <a:pt x="2157" y="143"/>
                  </a:lnTo>
                  <a:lnTo>
                    <a:pt x="2197" y="121"/>
                  </a:lnTo>
                  <a:lnTo>
                    <a:pt x="2239" y="101"/>
                  </a:lnTo>
                  <a:lnTo>
                    <a:pt x="2281" y="83"/>
                  </a:lnTo>
                  <a:lnTo>
                    <a:pt x="2324" y="66"/>
                  </a:lnTo>
                  <a:lnTo>
                    <a:pt x="2368" y="51"/>
                  </a:lnTo>
                  <a:lnTo>
                    <a:pt x="2413" y="38"/>
                  </a:lnTo>
                  <a:lnTo>
                    <a:pt x="2458" y="27"/>
                  </a:lnTo>
                  <a:lnTo>
                    <a:pt x="2505" y="18"/>
                  </a:lnTo>
                  <a:lnTo>
                    <a:pt x="2552" y="11"/>
                  </a:lnTo>
                  <a:lnTo>
                    <a:pt x="2600" y="5"/>
                  </a:lnTo>
                  <a:lnTo>
                    <a:pt x="2648" y="2"/>
                  </a:lnTo>
                  <a:lnTo>
                    <a:pt x="2697" y="0"/>
                  </a:lnTo>
                  <a:lnTo>
                    <a:pt x="2754" y="2"/>
                  </a:lnTo>
                  <a:lnTo>
                    <a:pt x="2809" y="6"/>
                  </a:lnTo>
                  <a:lnTo>
                    <a:pt x="2864" y="14"/>
                  </a:lnTo>
                  <a:lnTo>
                    <a:pt x="2918" y="23"/>
                  </a:lnTo>
                  <a:lnTo>
                    <a:pt x="2970" y="35"/>
                  </a:lnTo>
                  <a:lnTo>
                    <a:pt x="3023" y="50"/>
                  </a:lnTo>
                  <a:lnTo>
                    <a:pt x="3074" y="68"/>
                  </a:lnTo>
                  <a:lnTo>
                    <a:pt x="3124" y="87"/>
                  </a:lnTo>
                  <a:lnTo>
                    <a:pt x="3172" y="109"/>
                  </a:lnTo>
                  <a:lnTo>
                    <a:pt x="3220" y="133"/>
                  </a:lnTo>
                  <a:lnTo>
                    <a:pt x="3266" y="159"/>
                  </a:lnTo>
                  <a:lnTo>
                    <a:pt x="3309" y="188"/>
                  </a:lnTo>
                  <a:lnTo>
                    <a:pt x="3353" y="218"/>
                  </a:lnTo>
                  <a:lnTo>
                    <a:pt x="3394" y="251"/>
                  </a:lnTo>
                  <a:lnTo>
                    <a:pt x="3434" y="285"/>
                  </a:lnTo>
                  <a:lnTo>
                    <a:pt x="3472" y="322"/>
                  </a:lnTo>
                  <a:lnTo>
                    <a:pt x="3509" y="360"/>
                  </a:lnTo>
                  <a:lnTo>
                    <a:pt x="3543" y="399"/>
                  </a:lnTo>
                  <a:lnTo>
                    <a:pt x="3575" y="441"/>
                  </a:lnTo>
                  <a:lnTo>
                    <a:pt x="3606" y="484"/>
                  </a:lnTo>
                  <a:lnTo>
                    <a:pt x="3634" y="528"/>
                  </a:lnTo>
                  <a:lnTo>
                    <a:pt x="3661" y="574"/>
                  </a:lnTo>
                  <a:lnTo>
                    <a:pt x="3685" y="622"/>
                  </a:lnTo>
                  <a:lnTo>
                    <a:pt x="3707" y="670"/>
                  </a:lnTo>
                  <a:lnTo>
                    <a:pt x="3727" y="720"/>
                  </a:lnTo>
                  <a:lnTo>
                    <a:pt x="3744" y="771"/>
                  </a:lnTo>
                  <a:lnTo>
                    <a:pt x="3758" y="823"/>
                  </a:lnTo>
                  <a:lnTo>
                    <a:pt x="3771" y="875"/>
                  </a:lnTo>
                  <a:lnTo>
                    <a:pt x="3781" y="929"/>
                  </a:lnTo>
                  <a:lnTo>
                    <a:pt x="3788" y="984"/>
                  </a:lnTo>
                  <a:lnTo>
                    <a:pt x="3792" y="1040"/>
                  </a:lnTo>
                  <a:lnTo>
                    <a:pt x="3793" y="1096"/>
                  </a:lnTo>
                  <a:lnTo>
                    <a:pt x="3793" y="1117"/>
                  </a:lnTo>
                  <a:lnTo>
                    <a:pt x="3793" y="1136"/>
                  </a:lnTo>
                  <a:lnTo>
                    <a:pt x="3792" y="1155"/>
                  </a:lnTo>
                  <a:lnTo>
                    <a:pt x="3791" y="1175"/>
                  </a:lnTo>
                  <a:lnTo>
                    <a:pt x="3789" y="1194"/>
                  </a:lnTo>
                  <a:lnTo>
                    <a:pt x="3787" y="1213"/>
                  </a:lnTo>
                  <a:lnTo>
                    <a:pt x="3785" y="1232"/>
                  </a:lnTo>
                  <a:lnTo>
                    <a:pt x="3783" y="1251"/>
                  </a:ln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defTabSz="1371566">
                <a:defRPr/>
              </a:pPr>
              <a:endParaRPr lang="en-US" sz="825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Title 11"/>
            <p:cNvSpPr txBox="1">
              <a:spLocks/>
            </p:cNvSpPr>
            <p:nvPr/>
          </p:nvSpPr>
          <p:spPr>
            <a:xfrm>
              <a:off x="8991169" y="5723202"/>
              <a:ext cx="4127489" cy="946216"/>
            </a:xfrm>
            <a:prstGeom prst="rect">
              <a:avLst/>
            </a:prstGeom>
          </p:spPr>
          <p:txBody>
            <a:bodyPr vert="horz" wrap="square" lIns="68562" tIns="34281" rIns="68562" bIns="34281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82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美的金融</a:t>
              </a:r>
              <a:endParaRPr lang="en-US" sz="82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1" name="直接箭头连接符 180"/>
            <p:cNvCxnSpPr/>
            <p:nvPr/>
          </p:nvCxnSpPr>
          <p:spPr>
            <a:xfrm>
              <a:off x="10781496" y="6874113"/>
              <a:ext cx="0" cy="102873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/>
            <p:nvPr/>
          </p:nvCxnSpPr>
          <p:spPr>
            <a:xfrm flipV="1">
              <a:off x="11673956" y="6873056"/>
              <a:ext cx="0" cy="102872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44"/>
            <p:cNvSpPr txBox="1"/>
            <p:nvPr/>
          </p:nvSpPr>
          <p:spPr>
            <a:xfrm>
              <a:off x="7993832" y="7050822"/>
              <a:ext cx="2028602" cy="7149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2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融资服务</a:t>
              </a:r>
            </a:p>
          </p:txBody>
        </p:sp>
        <p:sp>
          <p:nvSpPr>
            <p:cNvPr id="184" name="TextBox 45"/>
            <p:cNvSpPr txBox="1"/>
            <p:nvPr/>
          </p:nvSpPr>
          <p:spPr>
            <a:xfrm>
              <a:off x="12044511" y="7041228"/>
              <a:ext cx="2257114" cy="7149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2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支付结算</a:t>
              </a:r>
            </a:p>
          </p:txBody>
        </p:sp>
        <p:grpSp>
          <p:nvGrpSpPr>
            <p:cNvPr id="185" name="组合 2"/>
            <p:cNvGrpSpPr/>
            <p:nvPr/>
          </p:nvGrpSpPr>
          <p:grpSpPr>
            <a:xfrm>
              <a:off x="7844782" y="7960315"/>
              <a:ext cx="7155530" cy="1577779"/>
              <a:chOff x="1351882" y="4014665"/>
              <a:chExt cx="9540707" cy="2103056"/>
            </a:xfrm>
          </p:grpSpPr>
          <p:grpSp>
            <p:nvGrpSpPr>
              <p:cNvPr id="187" name="Group 3"/>
              <p:cNvGrpSpPr/>
              <p:nvPr/>
            </p:nvGrpSpPr>
            <p:grpSpPr>
              <a:xfrm>
                <a:off x="1604688" y="4265735"/>
                <a:ext cx="9287901" cy="1851986"/>
                <a:chOff x="774273" y="3145321"/>
                <a:chExt cx="7823700" cy="1560029"/>
              </a:xfrm>
            </p:grpSpPr>
            <p:grpSp>
              <p:nvGrpSpPr>
                <p:cNvPr id="193" name="Group 4"/>
                <p:cNvGrpSpPr/>
                <p:nvPr/>
              </p:nvGrpSpPr>
              <p:grpSpPr>
                <a:xfrm>
                  <a:off x="774273" y="4208962"/>
                  <a:ext cx="1401958" cy="447873"/>
                  <a:chOff x="2193925" y="3784600"/>
                  <a:chExt cx="1182688" cy="377825"/>
                </a:xfrm>
                <a:solidFill>
                  <a:sysClr val="windowText" lastClr="000000">
                    <a:lumMod val="65000"/>
                    <a:lumOff val="35000"/>
                  </a:sysClr>
                </a:solidFill>
              </p:grpSpPr>
              <p:sp>
                <p:nvSpPr>
                  <p:cNvPr id="205" name="Oval 11"/>
                  <p:cNvSpPr>
                    <a:spLocks noChangeArrowheads="1"/>
                  </p:cNvSpPr>
                  <p:nvPr/>
                </p:nvSpPr>
                <p:spPr bwMode="auto">
                  <a:xfrm>
                    <a:off x="2708275" y="3894138"/>
                    <a:ext cx="165100" cy="165100"/>
                  </a:xfrm>
                  <a:prstGeom prst="ellipse">
                    <a:avLst/>
                  </a:prstGeom>
                  <a:solidFill>
                    <a:srgbClr val="FF901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6" name="Freeform 12"/>
                  <p:cNvSpPr>
                    <a:spLocks noEditPoints="1"/>
                  </p:cNvSpPr>
                  <p:nvPr/>
                </p:nvSpPr>
                <p:spPr bwMode="auto">
                  <a:xfrm>
                    <a:off x="2603500" y="3784600"/>
                    <a:ext cx="379413" cy="377825"/>
                  </a:xfrm>
                  <a:custGeom>
                    <a:avLst/>
                    <a:gdLst>
                      <a:gd name="T0" fmla="*/ 50 w 101"/>
                      <a:gd name="T1" fmla="*/ 0 h 100"/>
                      <a:gd name="T2" fmla="*/ 101 w 101"/>
                      <a:gd name="T3" fmla="*/ 50 h 100"/>
                      <a:gd name="T4" fmla="*/ 50 w 101"/>
                      <a:gd name="T5" fmla="*/ 100 h 100"/>
                      <a:gd name="T6" fmla="*/ 0 w 101"/>
                      <a:gd name="T7" fmla="*/ 50 h 100"/>
                      <a:gd name="T8" fmla="*/ 50 w 101"/>
                      <a:gd name="T9" fmla="*/ 0 h 100"/>
                      <a:gd name="T10" fmla="*/ 50 w 101"/>
                      <a:gd name="T11" fmla="*/ 77 h 100"/>
                      <a:gd name="T12" fmla="*/ 78 w 101"/>
                      <a:gd name="T13" fmla="*/ 50 h 100"/>
                      <a:gd name="T14" fmla="*/ 50 w 101"/>
                      <a:gd name="T15" fmla="*/ 23 h 100"/>
                      <a:gd name="T16" fmla="*/ 23 w 101"/>
                      <a:gd name="T17" fmla="*/ 50 h 100"/>
                      <a:gd name="T18" fmla="*/ 50 w 101"/>
                      <a:gd name="T19" fmla="*/ 77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01" h="100">
                        <a:moveTo>
                          <a:pt x="50" y="0"/>
                        </a:moveTo>
                        <a:cubicBezTo>
                          <a:pt x="78" y="0"/>
                          <a:pt x="101" y="23"/>
                          <a:pt x="101" y="50"/>
                        </a:cubicBezTo>
                        <a:cubicBezTo>
                          <a:pt x="101" y="78"/>
                          <a:pt x="78" y="100"/>
                          <a:pt x="50" y="100"/>
                        </a:cubicBezTo>
                        <a:cubicBezTo>
                          <a:pt x="23" y="100"/>
                          <a:pt x="0" y="78"/>
                          <a:pt x="0" y="50"/>
                        </a:cubicBezTo>
                        <a:cubicBezTo>
                          <a:pt x="0" y="23"/>
                          <a:pt x="23" y="0"/>
                          <a:pt x="50" y="0"/>
                        </a:cubicBezTo>
                        <a:close/>
                        <a:moveTo>
                          <a:pt x="50" y="77"/>
                        </a:moveTo>
                        <a:cubicBezTo>
                          <a:pt x="65" y="77"/>
                          <a:pt x="78" y="65"/>
                          <a:pt x="78" y="50"/>
                        </a:cubicBezTo>
                        <a:cubicBezTo>
                          <a:pt x="78" y="35"/>
                          <a:pt x="65" y="23"/>
                          <a:pt x="50" y="23"/>
                        </a:cubicBezTo>
                        <a:cubicBezTo>
                          <a:pt x="35" y="23"/>
                          <a:pt x="23" y="35"/>
                          <a:pt x="23" y="50"/>
                        </a:cubicBezTo>
                        <a:cubicBezTo>
                          <a:pt x="23" y="65"/>
                          <a:pt x="35" y="77"/>
                          <a:pt x="50" y="77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7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3106738" y="3894138"/>
                    <a:ext cx="165100" cy="165100"/>
                  </a:xfrm>
                  <a:prstGeom prst="ellipse">
                    <a:avLst/>
                  </a:prstGeom>
                  <a:solidFill>
                    <a:srgbClr val="FF901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8" name="Freeform 14"/>
                  <p:cNvSpPr>
                    <a:spLocks noEditPoints="1"/>
                  </p:cNvSpPr>
                  <p:nvPr/>
                </p:nvSpPr>
                <p:spPr bwMode="auto">
                  <a:xfrm>
                    <a:off x="3001963" y="3784600"/>
                    <a:ext cx="374650" cy="377825"/>
                  </a:xfrm>
                  <a:custGeom>
                    <a:avLst/>
                    <a:gdLst>
                      <a:gd name="T0" fmla="*/ 50 w 100"/>
                      <a:gd name="T1" fmla="*/ 0 h 100"/>
                      <a:gd name="T2" fmla="*/ 100 w 100"/>
                      <a:gd name="T3" fmla="*/ 50 h 100"/>
                      <a:gd name="T4" fmla="*/ 50 w 100"/>
                      <a:gd name="T5" fmla="*/ 100 h 100"/>
                      <a:gd name="T6" fmla="*/ 0 w 100"/>
                      <a:gd name="T7" fmla="*/ 50 h 100"/>
                      <a:gd name="T8" fmla="*/ 50 w 100"/>
                      <a:gd name="T9" fmla="*/ 0 h 100"/>
                      <a:gd name="T10" fmla="*/ 50 w 100"/>
                      <a:gd name="T11" fmla="*/ 77 h 100"/>
                      <a:gd name="T12" fmla="*/ 77 w 100"/>
                      <a:gd name="T13" fmla="*/ 50 h 100"/>
                      <a:gd name="T14" fmla="*/ 50 w 100"/>
                      <a:gd name="T15" fmla="*/ 23 h 100"/>
                      <a:gd name="T16" fmla="*/ 23 w 100"/>
                      <a:gd name="T17" fmla="*/ 50 h 100"/>
                      <a:gd name="T18" fmla="*/ 50 w 100"/>
                      <a:gd name="T19" fmla="*/ 77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00" h="100">
                        <a:moveTo>
                          <a:pt x="50" y="0"/>
                        </a:moveTo>
                        <a:cubicBezTo>
                          <a:pt x="78" y="0"/>
                          <a:pt x="100" y="23"/>
                          <a:pt x="100" y="50"/>
                        </a:cubicBezTo>
                        <a:cubicBezTo>
                          <a:pt x="100" y="78"/>
                          <a:pt x="78" y="100"/>
                          <a:pt x="50" y="100"/>
                        </a:cubicBezTo>
                        <a:cubicBezTo>
                          <a:pt x="22" y="100"/>
                          <a:pt x="0" y="78"/>
                          <a:pt x="0" y="50"/>
                        </a:cubicBezTo>
                        <a:cubicBezTo>
                          <a:pt x="0" y="23"/>
                          <a:pt x="22" y="0"/>
                          <a:pt x="50" y="0"/>
                        </a:cubicBezTo>
                        <a:close/>
                        <a:moveTo>
                          <a:pt x="50" y="77"/>
                        </a:moveTo>
                        <a:cubicBezTo>
                          <a:pt x="65" y="77"/>
                          <a:pt x="77" y="65"/>
                          <a:pt x="77" y="50"/>
                        </a:cubicBezTo>
                        <a:cubicBezTo>
                          <a:pt x="77" y="35"/>
                          <a:pt x="65" y="23"/>
                          <a:pt x="50" y="23"/>
                        </a:cubicBezTo>
                        <a:cubicBezTo>
                          <a:pt x="35" y="23"/>
                          <a:pt x="23" y="35"/>
                          <a:pt x="23" y="50"/>
                        </a:cubicBezTo>
                        <a:cubicBezTo>
                          <a:pt x="23" y="65"/>
                          <a:pt x="35" y="77"/>
                          <a:pt x="50" y="77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9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2303463" y="3894138"/>
                    <a:ext cx="165100" cy="165100"/>
                  </a:xfrm>
                  <a:prstGeom prst="ellipse">
                    <a:avLst/>
                  </a:prstGeom>
                  <a:solidFill>
                    <a:srgbClr val="FF901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0" name="Freeform 16"/>
                  <p:cNvSpPr>
                    <a:spLocks noEditPoints="1"/>
                  </p:cNvSpPr>
                  <p:nvPr/>
                </p:nvSpPr>
                <p:spPr bwMode="auto">
                  <a:xfrm>
                    <a:off x="2193925" y="3784600"/>
                    <a:ext cx="379413" cy="377825"/>
                  </a:xfrm>
                  <a:custGeom>
                    <a:avLst/>
                    <a:gdLst>
                      <a:gd name="T0" fmla="*/ 51 w 101"/>
                      <a:gd name="T1" fmla="*/ 0 h 100"/>
                      <a:gd name="T2" fmla="*/ 101 w 101"/>
                      <a:gd name="T3" fmla="*/ 50 h 100"/>
                      <a:gd name="T4" fmla="*/ 51 w 101"/>
                      <a:gd name="T5" fmla="*/ 100 h 100"/>
                      <a:gd name="T6" fmla="*/ 0 w 101"/>
                      <a:gd name="T7" fmla="*/ 50 h 100"/>
                      <a:gd name="T8" fmla="*/ 51 w 101"/>
                      <a:gd name="T9" fmla="*/ 0 h 100"/>
                      <a:gd name="T10" fmla="*/ 51 w 101"/>
                      <a:gd name="T11" fmla="*/ 77 h 100"/>
                      <a:gd name="T12" fmla="*/ 78 w 101"/>
                      <a:gd name="T13" fmla="*/ 50 h 100"/>
                      <a:gd name="T14" fmla="*/ 51 w 101"/>
                      <a:gd name="T15" fmla="*/ 23 h 100"/>
                      <a:gd name="T16" fmla="*/ 24 w 101"/>
                      <a:gd name="T17" fmla="*/ 50 h 100"/>
                      <a:gd name="T18" fmla="*/ 51 w 101"/>
                      <a:gd name="T19" fmla="*/ 77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01" h="100">
                        <a:moveTo>
                          <a:pt x="51" y="0"/>
                        </a:moveTo>
                        <a:cubicBezTo>
                          <a:pt x="78" y="0"/>
                          <a:pt x="101" y="23"/>
                          <a:pt x="101" y="50"/>
                        </a:cubicBezTo>
                        <a:cubicBezTo>
                          <a:pt x="101" y="78"/>
                          <a:pt x="78" y="100"/>
                          <a:pt x="51" y="100"/>
                        </a:cubicBezTo>
                        <a:cubicBezTo>
                          <a:pt x="23" y="100"/>
                          <a:pt x="0" y="78"/>
                          <a:pt x="0" y="50"/>
                        </a:cubicBezTo>
                        <a:cubicBezTo>
                          <a:pt x="0" y="23"/>
                          <a:pt x="23" y="0"/>
                          <a:pt x="51" y="0"/>
                        </a:cubicBezTo>
                        <a:close/>
                        <a:moveTo>
                          <a:pt x="51" y="77"/>
                        </a:moveTo>
                        <a:cubicBezTo>
                          <a:pt x="66" y="77"/>
                          <a:pt x="78" y="65"/>
                          <a:pt x="78" y="50"/>
                        </a:cubicBezTo>
                        <a:cubicBezTo>
                          <a:pt x="78" y="35"/>
                          <a:pt x="66" y="23"/>
                          <a:pt x="51" y="23"/>
                        </a:cubicBezTo>
                        <a:cubicBezTo>
                          <a:pt x="36" y="23"/>
                          <a:pt x="24" y="35"/>
                          <a:pt x="24" y="50"/>
                        </a:cubicBezTo>
                        <a:cubicBezTo>
                          <a:pt x="24" y="65"/>
                          <a:pt x="36" y="77"/>
                          <a:pt x="51" y="77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94" name="Group 6"/>
                <p:cNvGrpSpPr/>
                <p:nvPr/>
              </p:nvGrpSpPr>
              <p:grpSpPr>
                <a:xfrm>
                  <a:off x="6352958" y="3145321"/>
                  <a:ext cx="2245015" cy="1560029"/>
                  <a:chOff x="5256213" y="2846388"/>
                  <a:chExt cx="1893888" cy="1316037"/>
                </a:xfrm>
                <a:solidFill>
                  <a:sysClr val="windowText" lastClr="000000">
                    <a:lumMod val="65000"/>
                    <a:lumOff val="35000"/>
                  </a:sysClr>
                </a:solidFill>
              </p:grpSpPr>
              <p:sp>
                <p:nvSpPr>
                  <p:cNvPr id="195" name="Freeform 5"/>
                  <p:cNvSpPr>
                    <a:spLocks noEditPoints="1"/>
                  </p:cNvSpPr>
                  <p:nvPr/>
                </p:nvSpPr>
                <p:spPr bwMode="auto">
                  <a:xfrm>
                    <a:off x="6443663" y="3179763"/>
                    <a:ext cx="706438" cy="857250"/>
                  </a:xfrm>
                  <a:custGeom>
                    <a:avLst/>
                    <a:gdLst>
                      <a:gd name="T0" fmla="*/ 7 w 188"/>
                      <a:gd name="T1" fmla="*/ 165 h 227"/>
                      <a:gd name="T2" fmla="*/ 32 w 188"/>
                      <a:gd name="T3" fmla="*/ 134 h 227"/>
                      <a:gd name="T4" fmla="*/ 39 w 188"/>
                      <a:gd name="T5" fmla="*/ 125 h 227"/>
                      <a:gd name="T6" fmla="*/ 46 w 188"/>
                      <a:gd name="T7" fmla="*/ 15 h 227"/>
                      <a:gd name="T8" fmla="*/ 50 w 188"/>
                      <a:gd name="T9" fmla="*/ 0 h 227"/>
                      <a:gd name="T10" fmla="*/ 152 w 188"/>
                      <a:gd name="T11" fmla="*/ 5 h 227"/>
                      <a:gd name="T12" fmla="*/ 168 w 188"/>
                      <a:gd name="T13" fmla="*/ 11 h 227"/>
                      <a:gd name="T14" fmla="*/ 172 w 188"/>
                      <a:gd name="T15" fmla="*/ 24 h 227"/>
                      <a:gd name="T16" fmla="*/ 165 w 188"/>
                      <a:gd name="T17" fmla="*/ 25 h 227"/>
                      <a:gd name="T18" fmla="*/ 179 w 188"/>
                      <a:gd name="T19" fmla="*/ 84 h 227"/>
                      <a:gd name="T20" fmla="*/ 185 w 188"/>
                      <a:gd name="T21" fmla="*/ 88 h 227"/>
                      <a:gd name="T22" fmla="*/ 185 w 188"/>
                      <a:gd name="T23" fmla="*/ 134 h 227"/>
                      <a:gd name="T24" fmla="*/ 181 w 188"/>
                      <a:gd name="T25" fmla="*/ 154 h 227"/>
                      <a:gd name="T26" fmla="*/ 181 w 188"/>
                      <a:gd name="T27" fmla="*/ 159 h 227"/>
                      <a:gd name="T28" fmla="*/ 188 w 188"/>
                      <a:gd name="T29" fmla="*/ 165 h 227"/>
                      <a:gd name="T30" fmla="*/ 187 w 188"/>
                      <a:gd name="T31" fmla="*/ 191 h 227"/>
                      <a:gd name="T32" fmla="*/ 180 w 188"/>
                      <a:gd name="T33" fmla="*/ 202 h 227"/>
                      <a:gd name="T34" fmla="*/ 166 w 188"/>
                      <a:gd name="T35" fmla="*/ 202 h 227"/>
                      <a:gd name="T36" fmla="*/ 162 w 188"/>
                      <a:gd name="T37" fmla="*/ 202 h 227"/>
                      <a:gd name="T38" fmla="*/ 163 w 188"/>
                      <a:gd name="T39" fmla="*/ 221 h 227"/>
                      <a:gd name="T40" fmla="*/ 163 w 188"/>
                      <a:gd name="T41" fmla="*/ 221 h 227"/>
                      <a:gd name="T42" fmla="*/ 161 w 188"/>
                      <a:gd name="T43" fmla="*/ 225 h 227"/>
                      <a:gd name="T44" fmla="*/ 155 w 188"/>
                      <a:gd name="T45" fmla="*/ 227 h 227"/>
                      <a:gd name="T46" fmla="*/ 155 w 188"/>
                      <a:gd name="T47" fmla="*/ 227 h 227"/>
                      <a:gd name="T48" fmla="*/ 131 w 188"/>
                      <a:gd name="T49" fmla="*/ 227 h 227"/>
                      <a:gd name="T50" fmla="*/ 131 w 188"/>
                      <a:gd name="T51" fmla="*/ 227 h 227"/>
                      <a:gd name="T52" fmla="*/ 130 w 188"/>
                      <a:gd name="T53" fmla="*/ 227 h 227"/>
                      <a:gd name="T54" fmla="*/ 128 w 188"/>
                      <a:gd name="T55" fmla="*/ 225 h 227"/>
                      <a:gd name="T56" fmla="*/ 127 w 188"/>
                      <a:gd name="T57" fmla="*/ 220 h 227"/>
                      <a:gd name="T58" fmla="*/ 127 w 188"/>
                      <a:gd name="T59" fmla="*/ 219 h 227"/>
                      <a:gd name="T60" fmla="*/ 127 w 188"/>
                      <a:gd name="T61" fmla="*/ 202 h 227"/>
                      <a:gd name="T62" fmla="*/ 117 w 188"/>
                      <a:gd name="T63" fmla="*/ 202 h 227"/>
                      <a:gd name="T64" fmla="*/ 110 w 188"/>
                      <a:gd name="T65" fmla="*/ 172 h 227"/>
                      <a:gd name="T66" fmla="*/ 85 w 188"/>
                      <a:gd name="T67" fmla="*/ 146 h 227"/>
                      <a:gd name="T68" fmla="*/ 43 w 188"/>
                      <a:gd name="T69" fmla="*/ 144 h 227"/>
                      <a:gd name="T70" fmla="*/ 16 w 188"/>
                      <a:gd name="T71" fmla="*/ 170 h 227"/>
                      <a:gd name="T72" fmla="*/ 6 w 188"/>
                      <a:gd name="T73" fmla="*/ 215 h 227"/>
                      <a:gd name="T74" fmla="*/ 0 w 188"/>
                      <a:gd name="T75" fmla="*/ 215 h 227"/>
                      <a:gd name="T76" fmla="*/ 7 w 188"/>
                      <a:gd name="T77" fmla="*/ 165 h 227"/>
                      <a:gd name="T78" fmla="*/ 147 w 188"/>
                      <a:gd name="T79" fmla="*/ 15 h 227"/>
                      <a:gd name="T80" fmla="*/ 133 w 188"/>
                      <a:gd name="T81" fmla="*/ 14 h 227"/>
                      <a:gd name="T82" fmla="*/ 135 w 188"/>
                      <a:gd name="T83" fmla="*/ 112 h 227"/>
                      <a:gd name="T84" fmla="*/ 161 w 188"/>
                      <a:gd name="T85" fmla="*/ 112 h 227"/>
                      <a:gd name="T86" fmla="*/ 161 w 188"/>
                      <a:gd name="T87" fmla="*/ 80 h 227"/>
                      <a:gd name="T88" fmla="*/ 147 w 188"/>
                      <a:gd name="T89" fmla="*/ 15 h 227"/>
                      <a:gd name="T90" fmla="*/ 132 w 188"/>
                      <a:gd name="T91" fmla="*/ 219 h 227"/>
                      <a:gd name="T92" fmla="*/ 132 w 188"/>
                      <a:gd name="T93" fmla="*/ 220 h 227"/>
                      <a:gd name="T94" fmla="*/ 132 w 188"/>
                      <a:gd name="T95" fmla="*/ 222 h 227"/>
                      <a:gd name="T96" fmla="*/ 141 w 188"/>
                      <a:gd name="T97" fmla="*/ 222 h 227"/>
                      <a:gd name="T98" fmla="*/ 155 w 188"/>
                      <a:gd name="T99" fmla="*/ 222 h 227"/>
                      <a:gd name="T100" fmla="*/ 157 w 188"/>
                      <a:gd name="T101" fmla="*/ 222 h 227"/>
                      <a:gd name="T102" fmla="*/ 158 w 188"/>
                      <a:gd name="T103" fmla="*/ 221 h 227"/>
                      <a:gd name="T104" fmla="*/ 158 w 188"/>
                      <a:gd name="T105" fmla="*/ 221 h 227"/>
                      <a:gd name="T106" fmla="*/ 157 w 188"/>
                      <a:gd name="T107" fmla="*/ 202 h 227"/>
                      <a:gd name="T108" fmla="*/ 132 w 188"/>
                      <a:gd name="T109" fmla="*/ 202 h 227"/>
                      <a:gd name="T110" fmla="*/ 132 w 188"/>
                      <a:gd name="T111" fmla="*/ 219 h 227"/>
                      <a:gd name="T112" fmla="*/ 131 w 188"/>
                      <a:gd name="T113" fmla="*/ 81 h 227"/>
                      <a:gd name="T114" fmla="*/ 129 w 188"/>
                      <a:gd name="T115" fmla="*/ 15 h 227"/>
                      <a:gd name="T116" fmla="*/ 79 w 188"/>
                      <a:gd name="T117" fmla="*/ 13 h 227"/>
                      <a:gd name="T118" fmla="*/ 78 w 188"/>
                      <a:gd name="T119" fmla="*/ 65 h 227"/>
                      <a:gd name="T120" fmla="*/ 131 w 188"/>
                      <a:gd name="T121" fmla="*/ 81 h 2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88" h="227">
                        <a:moveTo>
                          <a:pt x="7" y="165"/>
                        </a:moveTo>
                        <a:cubicBezTo>
                          <a:pt x="11" y="154"/>
                          <a:pt x="25" y="139"/>
                          <a:pt x="32" y="134"/>
                        </a:cubicBezTo>
                        <a:cubicBezTo>
                          <a:pt x="39" y="128"/>
                          <a:pt x="39" y="125"/>
                          <a:pt x="39" y="125"/>
                        </a:cubicBezTo>
                        <a:cubicBezTo>
                          <a:pt x="39" y="125"/>
                          <a:pt x="44" y="30"/>
                          <a:pt x="46" y="15"/>
                        </a:cubicBezTo>
                        <a:cubicBezTo>
                          <a:pt x="48" y="0"/>
                          <a:pt x="50" y="0"/>
                          <a:pt x="50" y="0"/>
                        </a:cubicBezTo>
                        <a:cubicBezTo>
                          <a:pt x="50" y="0"/>
                          <a:pt x="137" y="4"/>
                          <a:pt x="152" y="5"/>
                        </a:cubicBezTo>
                        <a:cubicBezTo>
                          <a:pt x="166" y="5"/>
                          <a:pt x="165" y="8"/>
                          <a:pt x="168" y="11"/>
                        </a:cubicBezTo>
                        <a:cubicBezTo>
                          <a:pt x="171" y="13"/>
                          <a:pt x="172" y="22"/>
                          <a:pt x="172" y="24"/>
                        </a:cubicBezTo>
                        <a:cubicBezTo>
                          <a:pt x="172" y="26"/>
                          <a:pt x="165" y="25"/>
                          <a:pt x="165" y="25"/>
                        </a:cubicBezTo>
                        <a:cubicBezTo>
                          <a:pt x="165" y="25"/>
                          <a:pt x="179" y="82"/>
                          <a:pt x="179" y="84"/>
                        </a:cubicBezTo>
                        <a:cubicBezTo>
                          <a:pt x="179" y="86"/>
                          <a:pt x="185" y="88"/>
                          <a:pt x="185" y="88"/>
                        </a:cubicBezTo>
                        <a:cubicBezTo>
                          <a:pt x="185" y="88"/>
                          <a:pt x="184" y="113"/>
                          <a:pt x="185" y="134"/>
                        </a:cubicBezTo>
                        <a:cubicBezTo>
                          <a:pt x="185" y="155"/>
                          <a:pt x="181" y="154"/>
                          <a:pt x="181" y="154"/>
                        </a:cubicBezTo>
                        <a:cubicBezTo>
                          <a:pt x="181" y="154"/>
                          <a:pt x="177" y="159"/>
                          <a:pt x="181" y="159"/>
                        </a:cubicBezTo>
                        <a:cubicBezTo>
                          <a:pt x="186" y="159"/>
                          <a:pt x="188" y="165"/>
                          <a:pt x="188" y="165"/>
                        </a:cubicBezTo>
                        <a:cubicBezTo>
                          <a:pt x="188" y="165"/>
                          <a:pt x="187" y="181"/>
                          <a:pt x="187" y="191"/>
                        </a:cubicBezTo>
                        <a:cubicBezTo>
                          <a:pt x="187" y="202"/>
                          <a:pt x="180" y="202"/>
                          <a:pt x="180" y="202"/>
                        </a:cubicBezTo>
                        <a:cubicBezTo>
                          <a:pt x="166" y="202"/>
                          <a:pt x="166" y="202"/>
                          <a:pt x="166" y="202"/>
                        </a:cubicBezTo>
                        <a:cubicBezTo>
                          <a:pt x="162" y="202"/>
                          <a:pt x="162" y="202"/>
                          <a:pt x="162" y="202"/>
                        </a:cubicBezTo>
                        <a:cubicBezTo>
                          <a:pt x="163" y="221"/>
                          <a:pt x="163" y="221"/>
                          <a:pt x="163" y="221"/>
                        </a:cubicBezTo>
                        <a:cubicBezTo>
                          <a:pt x="163" y="221"/>
                          <a:pt x="163" y="221"/>
                          <a:pt x="163" y="221"/>
                        </a:cubicBezTo>
                        <a:cubicBezTo>
                          <a:pt x="163" y="222"/>
                          <a:pt x="162" y="223"/>
                          <a:pt x="161" y="225"/>
                        </a:cubicBezTo>
                        <a:cubicBezTo>
                          <a:pt x="160" y="226"/>
                          <a:pt x="158" y="227"/>
                          <a:pt x="155" y="227"/>
                        </a:cubicBezTo>
                        <a:cubicBezTo>
                          <a:pt x="155" y="227"/>
                          <a:pt x="155" y="227"/>
                          <a:pt x="155" y="227"/>
                        </a:cubicBezTo>
                        <a:cubicBezTo>
                          <a:pt x="151" y="227"/>
                          <a:pt x="131" y="227"/>
                          <a:pt x="131" y="227"/>
                        </a:cubicBezTo>
                        <a:cubicBezTo>
                          <a:pt x="131" y="227"/>
                          <a:pt x="131" y="227"/>
                          <a:pt x="131" y="227"/>
                        </a:cubicBezTo>
                        <a:cubicBezTo>
                          <a:pt x="130" y="227"/>
                          <a:pt x="130" y="227"/>
                          <a:pt x="130" y="227"/>
                        </a:cubicBezTo>
                        <a:cubicBezTo>
                          <a:pt x="130" y="227"/>
                          <a:pt x="129" y="226"/>
                          <a:pt x="128" y="225"/>
                        </a:cubicBezTo>
                        <a:cubicBezTo>
                          <a:pt x="127" y="224"/>
                          <a:pt x="127" y="222"/>
                          <a:pt x="127" y="220"/>
                        </a:cubicBezTo>
                        <a:cubicBezTo>
                          <a:pt x="127" y="219"/>
                          <a:pt x="127" y="219"/>
                          <a:pt x="127" y="219"/>
                        </a:cubicBezTo>
                        <a:cubicBezTo>
                          <a:pt x="127" y="216"/>
                          <a:pt x="127" y="207"/>
                          <a:pt x="127" y="202"/>
                        </a:cubicBezTo>
                        <a:cubicBezTo>
                          <a:pt x="117" y="202"/>
                          <a:pt x="117" y="202"/>
                          <a:pt x="117" y="202"/>
                        </a:cubicBezTo>
                        <a:cubicBezTo>
                          <a:pt x="117" y="202"/>
                          <a:pt x="114" y="193"/>
                          <a:pt x="110" y="172"/>
                        </a:cubicBezTo>
                        <a:cubicBezTo>
                          <a:pt x="106" y="152"/>
                          <a:pt x="85" y="146"/>
                          <a:pt x="85" y="146"/>
                        </a:cubicBezTo>
                        <a:cubicBezTo>
                          <a:pt x="43" y="144"/>
                          <a:pt x="43" y="144"/>
                          <a:pt x="43" y="144"/>
                        </a:cubicBezTo>
                        <a:cubicBezTo>
                          <a:pt x="43" y="144"/>
                          <a:pt x="27" y="149"/>
                          <a:pt x="16" y="170"/>
                        </a:cubicBezTo>
                        <a:cubicBezTo>
                          <a:pt x="6" y="190"/>
                          <a:pt x="6" y="215"/>
                          <a:pt x="6" y="215"/>
                        </a:cubicBezTo>
                        <a:cubicBezTo>
                          <a:pt x="0" y="215"/>
                          <a:pt x="0" y="215"/>
                          <a:pt x="0" y="215"/>
                        </a:cubicBezTo>
                        <a:cubicBezTo>
                          <a:pt x="0" y="215"/>
                          <a:pt x="4" y="177"/>
                          <a:pt x="7" y="165"/>
                        </a:cubicBezTo>
                        <a:close/>
                        <a:moveTo>
                          <a:pt x="147" y="15"/>
                        </a:moveTo>
                        <a:cubicBezTo>
                          <a:pt x="133" y="14"/>
                          <a:pt x="133" y="14"/>
                          <a:pt x="133" y="14"/>
                        </a:cubicBezTo>
                        <a:cubicBezTo>
                          <a:pt x="135" y="112"/>
                          <a:pt x="135" y="112"/>
                          <a:pt x="135" y="112"/>
                        </a:cubicBezTo>
                        <a:cubicBezTo>
                          <a:pt x="161" y="112"/>
                          <a:pt x="161" y="112"/>
                          <a:pt x="161" y="112"/>
                        </a:cubicBezTo>
                        <a:cubicBezTo>
                          <a:pt x="161" y="112"/>
                          <a:pt x="161" y="90"/>
                          <a:pt x="161" y="80"/>
                        </a:cubicBezTo>
                        <a:cubicBezTo>
                          <a:pt x="161" y="69"/>
                          <a:pt x="147" y="15"/>
                          <a:pt x="147" y="15"/>
                        </a:cubicBezTo>
                        <a:close/>
                        <a:moveTo>
                          <a:pt x="132" y="219"/>
                        </a:moveTo>
                        <a:cubicBezTo>
                          <a:pt x="132" y="219"/>
                          <a:pt x="132" y="219"/>
                          <a:pt x="132" y="220"/>
                        </a:cubicBezTo>
                        <a:cubicBezTo>
                          <a:pt x="132" y="221"/>
                          <a:pt x="132" y="221"/>
                          <a:pt x="132" y="222"/>
                        </a:cubicBezTo>
                        <a:cubicBezTo>
                          <a:pt x="134" y="222"/>
                          <a:pt x="137" y="222"/>
                          <a:pt x="141" y="222"/>
                        </a:cubicBezTo>
                        <a:cubicBezTo>
                          <a:pt x="147" y="222"/>
                          <a:pt x="153" y="222"/>
                          <a:pt x="155" y="222"/>
                        </a:cubicBezTo>
                        <a:cubicBezTo>
                          <a:pt x="157" y="222"/>
                          <a:pt x="157" y="222"/>
                          <a:pt x="157" y="222"/>
                        </a:cubicBezTo>
                        <a:cubicBezTo>
                          <a:pt x="157" y="221"/>
                          <a:pt x="158" y="221"/>
                          <a:pt x="158" y="221"/>
                        </a:cubicBezTo>
                        <a:cubicBezTo>
                          <a:pt x="158" y="221"/>
                          <a:pt x="158" y="221"/>
                          <a:pt x="158" y="221"/>
                        </a:cubicBezTo>
                        <a:cubicBezTo>
                          <a:pt x="157" y="202"/>
                          <a:pt x="157" y="202"/>
                          <a:pt x="157" y="202"/>
                        </a:cubicBezTo>
                        <a:cubicBezTo>
                          <a:pt x="132" y="202"/>
                          <a:pt x="132" y="202"/>
                          <a:pt x="132" y="202"/>
                        </a:cubicBezTo>
                        <a:cubicBezTo>
                          <a:pt x="132" y="207"/>
                          <a:pt x="132" y="216"/>
                          <a:pt x="132" y="219"/>
                        </a:cubicBezTo>
                        <a:close/>
                        <a:moveTo>
                          <a:pt x="131" y="81"/>
                        </a:moveTo>
                        <a:cubicBezTo>
                          <a:pt x="129" y="15"/>
                          <a:pt x="129" y="15"/>
                          <a:pt x="129" y="15"/>
                        </a:cubicBezTo>
                        <a:cubicBezTo>
                          <a:pt x="79" y="13"/>
                          <a:pt x="79" y="13"/>
                          <a:pt x="79" y="13"/>
                        </a:cubicBezTo>
                        <a:cubicBezTo>
                          <a:pt x="78" y="65"/>
                          <a:pt x="78" y="65"/>
                          <a:pt x="78" y="65"/>
                        </a:cubicBezTo>
                        <a:lnTo>
                          <a:pt x="131" y="81"/>
                        </a:lnTo>
                        <a:close/>
                      </a:path>
                    </a:pathLst>
                  </a:cu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6" name="Freeform 6"/>
                  <p:cNvSpPr>
                    <a:spLocks noEditPoints="1"/>
                  </p:cNvSpPr>
                  <p:nvPr/>
                </p:nvSpPr>
                <p:spPr bwMode="auto">
                  <a:xfrm>
                    <a:off x="6488113" y="3784600"/>
                    <a:ext cx="376238" cy="377825"/>
                  </a:xfrm>
                  <a:custGeom>
                    <a:avLst/>
                    <a:gdLst>
                      <a:gd name="T0" fmla="*/ 50 w 100"/>
                      <a:gd name="T1" fmla="*/ 0 h 100"/>
                      <a:gd name="T2" fmla="*/ 100 w 100"/>
                      <a:gd name="T3" fmla="*/ 50 h 100"/>
                      <a:gd name="T4" fmla="*/ 50 w 100"/>
                      <a:gd name="T5" fmla="*/ 100 h 100"/>
                      <a:gd name="T6" fmla="*/ 0 w 100"/>
                      <a:gd name="T7" fmla="*/ 50 h 100"/>
                      <a:gd name="T8" fmla="*/ 50 w 100"/>
                      <a:gd name="T9" fmla="*/ 0 h 100"/>
                      <a:gd name="T10" fmla="*/ 50 w 100"/>
                      <a:gd name="T11" fmla="*/ 77 h 100"/>
                      <a:gd name="T12" fmla="*/ 77 w 100"/>
                      <a:gd name="T13" fmla="*/ 50 h 100"/>
                      <a:gd name="T14" fmla="*/ 50 w 100"/>
                      <a:gd name="T15" fmla="*/ 23 h 100"/>
                      <a:gd name="T16" fmla="*/ 23 w 100"/>
                      <a:gd name="T17" fmla="*/ 50 h 100"/>
                      <a:gd name="T18" fmla="*/ 50 w 100"/>
                      <a:gd name="T19" fmla="*/ 77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00" h="100">
                        <a:moveTo>
                          <a:pt x="50" y="0"/>
                        </a:moveTo>
                        <a:cubicBezTo>
                          <a:pt x="78" y="0"/>
                          <a:pt x="100" y="23"/>
                          <a:pt x="100" y="50"/>
                        </a:cubicBezTo>
                        <a:cubicBezTo>
                          <a:pt x="100" y="78"/>
                          <a:pt x="78" y="100"/>
                          <a:pt x="50" y="100"/>
                        </a:cubicBezTo>
                        <a:cubicBezTo>
                          <a:pt x="23" y="100"/>
                          <a:pt x="0" y="78"/>
                          <a:pt x="0" y="50"/>
                        </a:cubicBezTo>
                        <a:cubicBezTo>
                          <a:pt x="0" y="23"/>
                          <a:pt x="23" y="0"/>
                          <a:pt x="50" y="0"/>
                        </a:cubicBezTo>
                        <a:close/>
                        <a:moveTo>
                          <a:pt x="50" y="77"/>
                        </a:moveTo>
                        <a:cubicBezTo>
                          <a:pt x="65" y="77"/>
                          <a:pt x="77" y="65"/>
                          <a:pt x="77" y="50"/>
                        </a:cubicBezTo>
                        <a:cubicBezTo>
                          <a:pt x="77" y="35"/>
                          <a:pt x="65" y="23"/>
                          <a:pt x="50" y="23"/>
                        </a:cubicBezTo>
                        <a:cubicBezTo>
                          <a:pt x="35" y="23"/>
                          <a:pt x="23" y="35"/>
                          <a:pt x="23" y="50"/>
                        </a:cubicBezTo>
                        <a:cubicBezTo>
                          <a:pt x="23" y="65"/>
                          <a:pt x="35" y="77"/>
                          <a:pt x="50" y="77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7" name="Oval 7"/>
                  <p:cNvSpPr>
                    <a:spLocks noChangeArrowheads="1"/>
                  </p:cNvSpPr>
                  <p:nvPr/>
                </p:nvSpPr>
                <p:spPr bwMode="auto">
                  <a:xfrm>
                    <a:off x="6592888" y="3894138"/>
                    <a:ext cx="165100" cy="165100"/>
                  </a:xfrm>
                  <a:prstGeom prst="ellipse">
                    <a:avLst/>
                  </a:prstGeom>
                  <a:solidFill>
                    <a:srgbClr val="FF901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8" name="Oval 8"/>
                  <p:cNvSpPr>
                    <a:spLocks noChangeArrowheads="1"/>
                  </p:cNvSpPr>
                  <p:nvPr/>
                </p:nvSpPr>
                <p:spPr bwMode="auto">
                  <a:xfrm>
                    <a:off x="5399088" y="3894138"/>
                    <a:ext cx="160338" cy="165100"/>
                  </a:xfrm>
                  <a:prstGeom prst="ellipse">
                    <a:avLst/>
                  </a:prstGeom>
                  <a:solidFill>
                    <a:srgbClr val="FF901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9" name="Freeform 9"/>
                  <p:cNvSpPr>
                    <a:spLocks/>
                  </p:cNvSpPr>
                  <p:nvPr/>
                </p:nvSpPr>
                <p:spPr bwMode="auto">
                  <a:xfrm>
                    <a:off x="6477000" y="3152775"/>
                    <a:ext cx="123825" cy="615950"/>
                  </a:xfrm>
                  <a:custGeom>
                    <a:avLst/>
                    <a:gdLst>
                      <a:gd name="T0" fmla="*/ 2 w 33"/>
                      <a:gd name="T1" fmla="*/ 35 h 163"/>
                      <a:gd name="T2" fmla="*/ 4 w 33"/>
                      <a:gd name="T3" fmla="*/ 36 h 163"/>
                      <a:gd name="T4" fmla="*/ 5 w 33"/>
                      <a:gd name="T5" fmla="*/ 8 h 163"/>
                      <a:gd name="T6" fmla="*/ 15 w 33"/>
                      <a:gd name="T7" fmla="*/ 7 h 163"/>
                      <a:gd name="T8" fmla="*/ 16 w 33"/>
                      <a:gd name="T9" fmla="*/ 36 h 163"/>
                      <a:gd name="T10" fmla="*/ 19 w 33"/>
                      <a:gd name="T11" fmla="*/ 37 h 163"/>
                      <a:gd name="T12" fmla="*/ 33 w 33"/>
                      <a:gd name="T13" fmla="*/ 38 h 163"/>
                      <a:gd name="T14" fmla="*/ 27 w 33"/>
                      <a:gd name="T15" fmla="*/ 133 h 163"/>
                      <a:gd name="T16" fmla="*/ 10 w 33"/>
                      <a:gd name="T17" fmla="*/ 150 h 163"/>
                      <a:gd name="T18" fmla="*/ 0 w 33"/>
                      <a:gd name="T19" fmla="*/ 163 h 163"/>
                      <a:gd name="T20" fmla="*/ 2 w 33"/>
                      <a:gd name="T21" fmla="*/ 35 h 1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3" h="163">
                        <a:moveTo>
                          <a:pt x="2" y="35"/>
                        </a:moveTo>
                        <a:cubicBezTo>
                          <a:pt x="4" y="36"/>
                          <a:pt x="4" y="36"/>
                          <a:pt x="4" y="36"/>
                        </a:cubicBezTo>
                        <a:cubicBezTo>
                          <a:pt x="5" y="8"/>
                          <a:pt x="5" y="8"/>
                          <a:pt x="5" y="8"/>
                        </a:cubicBezTo>
                        <a:cubicBezTo>
                          <a:pt x="5" y="8"/>
                          <a:pt x="10" y="0"/>
                          <a:pt x="15" y="7"/>
                        </a:cubicBezTo>
                        <a:cubicBezTo>
                          <a:pt x="16" y="36"/>
                          <a:pt x="16" y="36"/>
                          <a:pt x="16" y="36"/>
                        </a:cubicBezTo>
                        <a:cubicBezTo>
                          <a:pt x="19" y="37"/>
                          <a:pt x="19" y="37"/>
                          <a:pt x="19" y="37"/>
                        </a:cubicBezTo>
                        <a:cubicBezTo>
                          <a:pt x="33" y="38"/>
                          <a:pt x="33" y="38"/>
                          <a:pt x="33" y="38"/>
                        </a:cubicBezTo>
                        <a:cubicBezTo>
                          <a:pt x="27" y="133"/>
                          <a:pt x="27" y="133"/>
                          <a:pt x="27" y="133"/>
                        </a:cubicBezTo>
                        <a:cubicBezTo>
                          <a:pt x="27" y="133"/>
                          <a:pt x="19" y="139"/>
                          <a:pt x="10" y="150"/>
                        </a:cubicBezTo>
                        <a:cubicBezTo>
                          <a:pt x="1" y="160"/>
                          <a:pt x="0" y="163"/>
                          <a:pt x="0" y="163"/>
                        </a:cubicBezTo>
                        <a:lnTo>
                          <a:pt x="2" y="35"/>
                        </a:lnTo>
                        <a:close/>
                      </a:path>
                    </a:pathLst>
                  </a:custGeom>
                  <a:solidFill>
                    <a:srgbClr val="FF901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0" name="Freeform 10"/>
                  <p:cNvSpPr>
                    <a:spLocks noEditPoints="1"/>
                  </p:cNvSpPr>
                  <p:nvPr/>
                </p:nvSpPr>
                <p:spPr bwMode="auto">
                  <a:xfrm>
                    <a:off x="5289550" y="3784600"/>
                    <a:ext cx="379413" cy="377825"/>
                  </a:xfrm>
                  <a:custGeom>
                    <a:avLst/>
                    <a:gdLst>
                      <a:gd name="T0" fmla="*/ 51 w 101"/>
                      <a:gd name="T1" fmla="*/ 0 h 100"/>
                      <a:gd name="T2" fmla="*/ 101 w 101"/>
                      <a:gd name="T3" fmla="*/ 50 h 100"/>
                      <a:gd name="T4" fmla="*/ 51 w 101"/>
                      <a:gd name="T5" fmla="*/ 100 h 100"/>
                      <a:gd name="T6" fmla="*/ 0 w 101"/>
                      <a:gd name="T7" fmla="*/ 50 h 100"/>
                      <a:gd name="T8" fmla="*/ 51 w 101"/>
                      <a:gd name="T9" fmla="*/ 0 h 100"/>
                      <a:gd name="T10" fmla="*/ 51 w 101"/>
                      <a:gd name="T11" fmla="*/ 77 h 100"/>
                      <a:gd name="T12" fmla="*/ 78 w 101"/>
                      <a:gd name="T13" fmla="*/ 50 h 100"/>
                      <a:gd name="T14" fmla="*/ 51 w 101"/>
                      <a:gd name="T15" fmla="*/ 23 h 100"/>
                      <a:gd name="T16" fmla="*/ 23 w 101"/>
                      <a:gd name="T17" fmla="*/ 50 h 100"/>
                      <a:gd name="T18" fmla="*/ 51 w 101"/>
                      <a:gd name="T19" fmla="*/ 77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01" h="100">
                        <a:moveTo>
                          <a:pt x="51" y="0"/>
                        </a:moveTo>
                        <a:cubicBezTo>
                          <a:pt x="78" y="0"/>
                          <a:pt x="101" y="23"/>
                          <a:pt x="101" y="50"/>
                        </a:cubicBezTo>
                        <a:cubicBezTo>
                          <a:pt x="101" y="78"/>
                          <a:pt x="78" y="100"/>
                          <a:pt x="51" y="100"/>
                        </a:cubicBezTo>
                        <a:cubicBezTo>
                          <a:pt x="23" y="100"/>
                          <a:pt x="0" y="78"/>
                          <a:pt x="0" y="50"/>
                        </a:cubicBezTo>
                        <a:cubicBezTo>
                          <a:pt x="0" y="23"/>
                          <a:pt x="23" y="0"/>
                          <a:pt x="51" y="0"/>
                        </a:cubicBezTo>
                        <a:close/>
                        <a:moveTo>
                          <a:pt x="51" y="77"/>
                        </a:moveTo>
                        <a:cubicBezTo>
                          <a:pt x="66" y="77"/>
                          <a:pt x="78" y="65"/>
                          <a:pt x="78" y="50"/>
                        </a:cubicBezTo>
                        <a:cubicBezTo>
                          <a:pt x="78" y="35"/>
                          <a:pt x="66" y="23"/>
                          <a:pt x="51" y="23"/>
                        </a:cubicBezTo>
                        <a:cubicBezTo>
                          <a:pt x="36" y="23"/>
                          <a:pt x="23" y="35"/>
                          <a:pt x="23" y="50"/>
                        </a:cubicBezTo>
                        <a:cubicBezTo>
                          <a:pt x="23" y="65"/>
                          <a:pt x="36" y="77"/>
                          <a:pt x="51" y="77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1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5800725" y="3894138"/>
                    <a:ext cx="165100" cy="165100"/>
                  </a:xfrm>
                  <a:prstGeom prst="ellipse">
                    <a:avLst/>
                  </a:prstGeom>
                  <a:solidFill>
                    <a:srgbClr val="FF901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2" name="Freeform 18"/>
                  <p:cNvSpPr>
                    <a:spLocks noEditPoints="1"/>
                  </p:cNvSpPr>
                  <p:nvPr/>
                </p:nvSpPr>
                <p:spPr bwMode="auto">
                  <a:xfrm>
                    <a:off x="5695950" y="3784600"/>
                    <a:ext cx="379413" cy="377825"/>
                  </a:xfrm>
                  <a:custGeom>
                    <a:avLst/>
                    <a:gdLst>
                      <a:gd name="T0" fmla="*/ 50 w 101"/>
                      <a:gd name="T1" fmla="*/ 0 h 100"/>
                      <a:gd name="T2" fmla="*/ 101 w 101"/>
                      <a:gd name="T3" fmla="*/ 50 h 100"/>
                      <a:gd name="T4" fmla="*/ 50 w 101"/>
                      <a:gd name="T5" fmla="*/ 100 h 100"/>
                      <a:gd name="T6" fmla="*/ 0 w 101"/>
                      <a:gd name="T7" fmla="*/ 50 h 100"/>
                      <a:gd name="T8" fmla="*/ 50 w 101"/>
                      <a:gd name="T9" fmla="*/ 0 h 100"/>
                      <a:gd name="T10" fmla="*/ 50 w 101"/>
                      <a:gd name="T11" fmla="*/ 77 h 100"/>
                      <a:gd name="T12" fmla="*/ 78 w 101"/>
                      <a:gd name="T13" fmla="*/ 50 h 100"/>
                      <a:gd name="T14" fmla="*/ 50 w 101"/>
                      <a:gd name="T15" fmla="*/ 23 h 100"/>
                      <a:gd name="T16" fmla="*/ 23 w 101"/>
                      <a:gd name="T17" fmla="*/ 50 h 100"/>
                      <a:gd name="T18" fmla="*/ 50 w 101"/>
                      <a:gd name="T19" fmla="*/ 77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01" h="100">
                        <a:moveTo>
                          <a:pt x="50" y="0"/>
                        </a:moveTo>
                        <a:cubicBezTo>
                          <a:pt x="78" y="0"/>
                          <a:pt x="101" y="23"/>
                          <a:pt x="101" y="50"/>
                        </a:cubicBezTo>
                        <a:cubicBezTo>
                          <a:pt x="101" y="78"/>
                          <a:pt x="78" y="100"/>
                          <a:pt x="50" y="100"/>
                        </a:cubicBezTo>
                        <a:cubicBezTo>
                          <a:pt x="23" y="100"/>
                          <a:pt x="0" y="78"/>
                          <a:pt x="0" y="50"/>
                        </a:cubicBezTo>
                        <a:cubicBezTo>
                          <a:pt x="0" y="23"/>
                          <a:pt x="23" y="0"/>
                          <a:pt x="50" y="0"/>
                        </a:cubicBezTo>
                        <a:close/>
                        <a:moveTo>
                          <a:pt x="50" y="77"/>
                        </a:moveTo>
                        <a:cubicBezTo>
                          <a:pt x="65" y="77"/>
                          <a:pt x="78" y="65"/>
                          <a:pt x="78" y="50"/>
                        </a:cubicBezTo>
                        <a:cubicBezTo>
                          <a:pt x="78" y="35"/>
                          <a:pt x="65" y="23"/>
                          <a:pt x="50" y="23"/>
                        </a:cubicBezTo>
                        <a:cubicBezTo>
                          <a:pt x="35" y="23"/>
                          <a:pt x="23" y="35"/>
                          <a:pt x="23" y="50"/>
                        </a:cubicBezTo>
                        <a:cubicBezTo>
                          <a:pt x="23" y="65"/>
                          <a:pt x="35" y="77"/>
                          <a:pt x="50" y="77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3" name="Freeform 19"/>
                  <p:cNvSpPr>
                    <a:spLocks/>
                  </p:cNvSpPr>
                  <p:nvPr/>
                </p:nvSpPr>
                <p:spPr bwMode="auto">
                  <a:xfrm>
                    <a:off x="5256213" y="3757613"/>
                    <a:ext cx="1176338" cy="234950"/>
                  </a:xfrm>
                  <a:custGeom>
                    <a:avLst/>
                    <a:gdLst>
                      <a:gd name="T0" fmla="*/ 8 w 313"/>
                      <a:gd name="T1" fmla="*/ 0 h 62"/>
                      <a:gd name="T2" fmla="*/ 304 w 313"/>
                      <a:gd name="T3" fmla="*/ 0 h 62"/>
                      <a:gd name="T4" fmla="*/ 313 w 313"/>
                      <a:gd name="T5" fmla="*/ 9 h 62"/>
                      <a:gd name="T6" fmla="*/ 313 w 313"/>
                      <a:gd name="T7" fmla="*/ 54 h 62"/>
                      <a:gd name="T8" fmla="*/ 304 w 313"/>
                      <a:gd name="T9" fmla="*/ 62 h 62"/>
                      <a:gd name="T10" fmla="*/ 223 w 313"/>
                      <a:gd name="T11" fmla="*/ 62 h 62"/>
                      <a:gd name="T12" fmla="*/ 224 w 313"/>
                      <a:gd name="T13" fmla="*/ 58 h 62"/>
                      <a:gd name="T14" fmla="*/ 167 w 313"/>
                      <a:gd name="T15" fmla="*/ 2 h 62"/>
                      <a:gd name="T16" fmla="*/ 113 w 313"/>
                      <a:gd name="T17" fmla="*/ 43 h 62"/>
                      <a:gd name="T18" fmla="*/ 59 w 313"/>
                      <a:gd name="T19" fmla="*/ 2 h 62"/>
                      <a:gd name="T20" fmla="*/ 3 w 313"/>
                      <a:gd name="T21" fmla="*/ 58 h 62"/>
                      <a:gd name="T22" fmla="*/ 3 w 313"/>
                      <a:gd name="T23" fmla="*/ 60 h 62"/>
                      <a:gd name="T24" fmla="*/ 0 w 313"/>
                      <a:gd name="T25" fmla="*/ 54 h 62"/>
                      <a:gd name="T26" fmla="*/ 0 w 313"/>
                      <a:gd name="T27" fmla="*/ 9 h 62"/>
                      <a:gd name="T28" fmla="*/ 8 w 313"/>
                      <a:gd name="T29" fmla="*/ 0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313" h="62">
                        <a:moveTo>
                          <a:pt x="8" y="0"/>
                        </a:moveTo>
                        <a:cubicBezTo>
                          <a:pt x="304" y="0"/>
                          <a:pt x="304" y="0"/>
                          <a:pt x="304" y="0"/>
                        </a:cubicBezTo>
                        <a:cubicBezTo>
                          <a:pt x="309" y="0"/>
                          <a:pt x="313" y="4"/>
                          <a:pt x="313" y="9"/>
                        </a:cubicBezTo>
                        <a:cubicBezTo>
                          <a:pt x="313" y="54"/>
                          <a:pt x="313" y="54"/>
                          <a:pt x="313" y="54"/>
                        </a:cubicBezTo>
                        <a:cubicBezTo>
                          <a:pt x="313" y="58"/>
                          <a:pt x="309" y="62"/>
                          <a:pt x="304" y="62"/>
                        </a:cubicBezTo>
                        <a:cubicBezTo>
                          <a:pt x="223" y="62"/>
                          <a:pt x="223" y="62"/>
                          <a:pt x="223" y="62"/>
                        </a:cubicBezTo>
                        <a:cubicBezTo>
                          <a:pt x="224" y="60"/>
                          <a:pt x="224" y="59"/>
                          <a:pt x="224" y="58"/>
                        </a:cubicBezTo>
                        <a:cubicBezTo>
                          <a:pt x="224" y="27"/>
                          <a:pt x="198" y="2"/>
                          <a:pt x="167" y="2"/>
                        </a:cubicBezTo>
                        <a:cubicBezTo>
                          <a:pt x="141" y="2"/>
                          <a:pt x="120" y="19"/>
                          <a:pt x="113" y="43"/>
                        </a:cubicBezTo>
                        <a:cubicBezTo>
                          <a:pt x="107" y="19"/>
                          <a:pt x="85" y="2"/>
                          <a:pt x="59" y="2"/>
                        </a:cubicBezTo>
                        <a:cubicBezTo>
                          <a:pt x="28" y="2"/>
                          <a:pt x="3" y="27"/>
                          <a:pt x="3" y="58"/>
                        </a:cubicBezTo>
                        <a:cubicBezTo>
                          <a:pt x="3" y="58"/>
                          <a:pt x="3" y="59"/>
                          <a:pt x="3" y="60"/>
                        </a:cubicBezTo>
                        <a:cubicBezTo>
                          <a:pt x="1" y="58"/>
                          <a:pt x="0" y="56"/>
                          <a:pt x="0" y="54"/>
                        </a:cubicBez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0" y="4"/>
                          <a:pt x="4" y="0"/>
                          <a:pt x="8" y="0"/>
                        </a:cubicBezTo>
                        <a:close/>
                      </a:path>
                    </a:pathLst>
                  </a:custGeom>
                  <a:solidFill>
                    <a:srgbClr val="FF901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4" name="Freeform 21"/>
                  <p:cNvSpPr>
                    <a:spLocks/>
                  </p:cNvSpPr>
                  <p:nvPr/>
                </p:nvSpPr>
                <p:spPr bwMode="auto">
                  <a:xfrm>
                    <a:off x="6573838" y="2846388"/>
                    <a:ext cx="290513" cy="333375"/>
                  </a:xfrm>
                  <a:custGeom>
                    <a:avLst/>
                    <a:gdLst>
                      <a:gd name="T0" fmla="*/ 77 w 77"/>
                      <a:gd name="T1" fmla="*/ 88 h 88"/>
                      <a:gd name="T2" fmla="*/ 34 w 77"/>
                      <a:gd name="T3" fmla="*/ 23 h 88"/>
                      <a:gd name="T4" fmla="*/ 0 w 77"/>
                      <a:gd name="T5" fmla="*/ 0 h 88"/>
                      <a:gd name="T6" fmla="*/ 12 w 77"/>
                      <a:gd name="T7" fmla="*/ 85 h 88"/>
                      <a:gd name="T8" fmla="*/ 77 w 77"/>
                      <a:gd name="T9" fmla="*/ 88 h 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7" h="88">
                        <a:moveTo>
                          <a:pt x="77" y="88"/>
                        </a:moveTo>
                        <a:cubicBezTo>
                          <a:pt x="77" y="88"/>
                          <a:pt x="49" y="40"/>
                          <a:pt x="34" y="23"/>
                        </a:cubicBezTo>
                        <a:cubicBezTo>
                          <a:pt x="20" y="7"/>
                          <a:pt x="0" y="0"/>
                          <a:pt x="0" y="0"/>
                        </a:cubicBezTo>
                        <a:cubicBezTo>
                          <a:pt x="12" y="85"/>
                          <a:pt x="12" y="85"/>
                          <a:pt x="12" y="85"/>
                        </a:cubicBezTo>
                        <a:lnTo>
                          <a:pt x="77" y="88"/>
                        </a:lnTo>
                        <a:close/>
                      </a:path>
                    </a:pathLst>
                  </a:custGeom>
                  <a:solidFill>
                    <a:srgbClr val="FF901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hangingPunct="1">
                      <a:defRPr/>
                    </a:pPr>
                    <a:endParaRPr lang="en-US" sz="825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88" name="组合 4"/>
              <p:cNvGrpSpPr/>
              <p:nvPr/>
            </p:nvGrpSpPr>
            <p:grpSpPr>
              <a:xfrm>
                <a:off x="1351882" y="4014665"/>
                <a:ext cx="8320534" cy="1564635"/>
                <a:chOff x="1351882" y="4014665"/>
                <a:chExt cx="8320534" cy="1564635"/>
              </a:xfrm>
            </p:grpSpPr>
            <p:sp>
              <p:nvSpPr>
                <p:cNvPr id="189" name="Rectangle 28"/>
                <p:cNvSpPr/>
                <p:nvPr/>
              </p:nvSpPr>
              <p:spPr>
                <a:xfrm flipH="1">
                  <a:off x="1351882" y="4081062"/>
                  <a:ext cx="2304000" cy="1411187"/>
                </a:xfrm>
                <a:prstGeom prst="rect">
                  <a:avLst/>
                </a:prstGeom>
                <a:solidFill>
                  <a:srgbClr val="0066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hangingPunct="1">
                    <a:defRPr/>
                  </a:pPr>
                  <a:r>
                    <a:rPr lang="zh-CN" altLang="en-US" sz="825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采购</a:t>
                  </a:r>
                  <a:endParaRPr lang="en-US" sz="825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0" name="Rectangle 29"/>
                <p:cNvSpPr/>
                <p:nvPr/>
              </p:nvSpPr>
              <p:spPr>
                <a:xfrm flipH="1">
                  <a:off x="3726795" y="4081062"/>
                  <a:ext cx="1800000" cy="1411187"/>
                </a:xfrm>
                <a:prstGeom prst="rect">
                  <a:avLst/>
                </a:prstGeom>
                <a:solidFill>
                  <a:srgbClr val="006FFF"/>
                </a:solidFill>
                <a:ln w="25400" cap="flat" cmpd="sng" algn="ctr">
                  <a:solidFill>
                    <a:srgbClr val="006F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hangingPunct="1">
                    <a:defRPr/>
                  </a:pPr>
                  <a:r>
                    <a:rPr lang="zh-CN" altLang="en-US" sz="825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生产</a:t>
                  </a:r>
                  <a:endParaRPr lang="en-US" sz="825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Rectangle 30"/>
                <p:cNvSpPr/>
                <p:nvPr/>
              </p:nvSpPr>
              <p:spPr>
                <a:xfrm flipH="1">
                  <a:off x="5630623" y="4081062"/>
                  <a:ext cx="1800001" cy="1411187"/>
                </a:xfrm>
                <a:prstGeom prst="rect">
                  <a:avLst/>
                </a:prstGeom>
                <a:solidFill>
                  <a:srgbClr val="006FFF"/>
                </a:solidFill>
                <a:ln w="25400" cap="flat" cmpd="sng" algn="ctr">
                  <a:solidFill>
                    <a:srgbClr val="006F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hangingPunct="1">
                    <a:defRPr/>
                  </a:pPr>
                  <a:r>
                    <a:rPr lang="zh-CN" altLang="en-US" sz="825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销售</a:t>
                  </a:r>
                  <a:endParaRPr lang="en-US" sz="825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2" name="Rectangle 31"/>
                <p:cNvSpPr/>
                <p:nvPr/>
              </p:nvSpPr>
              <p:spPr>
                <a:xfrm flipH="1">
                  <a:off x="7477537" y="4014665"/>
                  <a:ext cx="2194879" cy="1564635"/>
                </a:xfrm>
                <a:prstGeom prst="rect">
                  <a:avLst/>
                </a:prstGeom>
                <a:solidFill>
                  <a:srgbClr val="0066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hangingPunct="1">
                    <a:defRPr/>
                  </a:pPr>
                  <a:r>
                    <a:rPr lang="zh-CN" altLang="en-US" sz="825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物流</a:t>
                  </a:r>
                  <a:endParaRPr lang="en-US" sz="825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86" name="TextBox 47"/>
            <p:cNvSpPr txBox="1"/>
            <p:nvPr/>
          </p:nvSpPr>
          <p:spPr>
            <a:xfrm>
              <a:off x="10307052" y="9365064"/>
              <a:ext cx="3051267" cy="714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25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事业部</a:t>
              </a:r>
            </a:p>
          </p:txBody>
        </p:sp>
      </p:grpSp>
      <p:sp>
        <p:nvSpPr>
          <p:cNvPr id="4" name="矩形 3"/>
          <p:cNvSpPr/>
          <p:nvPr/>
        </p:nvSpPr>
        <p:spPr>
          <a:xfrm>
            <a:off x="2034629" y="924588"/>
            <a:ext cx="1004119" cy="225060"/>
          </a:xfrm>
          <a:prstGeom prst="rect">
            <a:avLst/>
          </a:prstGeom>
        </p:spPr>
        <p:txBody>
          <a:bodyPr wrap="none" lIns="68579" tIns="34289" rIns="68579" bIns="34289">
            <a:spAutoFit/>
          </a:bodyPr>
          <a:lstStyle/>
          <a:p>
            <a:pPr defTabSz="56672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12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围绕美的产业</a:t>
            </a:r>
            <a:endParaRPr lang="zh-CN" altLang="zh-CN" sz="112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43" y="941099"/>
            <a:ext cx="715578" cy="225060"/>
          </a:xfrm>
          <a:prstGeom prst="rect">
            <a:avLst/>
          </a:prstGeom>
        </p:spPr>
        <p:txBody>
          <a:bodyPr wrap="none" lIns="68579" tIns="34289" rIns="68579" bIns="34289">
            <a:spAutoFit/>
          </a:bodyPr>
          <a:lstStyle/>
          <a:p>
            <a:pPr defTabSz="56672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12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金融布局</a:t>
            </a:r>
            <a:endParaRPr lang="en-US" altLang="zh-CN" sz="112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矩形 226"/>
          <p:cNvSpPr/>
          <p:nvPr/>
        </p:nvSpPr>
        <p:spPr bwMode="ltGray">
          <a:xfrm>
            <a:off x="2127554" y="1306060"/>
            <a:ext cx="698285" cy="162355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经销商</a:t>
            </a:r>
          </a:p>
        </p:txBody>
      </p:sp>
      <p:sp>
        <p:nvSpPr>
          <p:cNvPr id="228" name="矩形 227"/>
          <p:cNvSpPr/>
          <p:nvPr/>
        </p:nvSpPr>
        <p:spPr bwMode="ltGray">
          <a:xfrm>
            <a:off x="3050628" y="1306060"/>
            <a:ext cx="698285" cy="162355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工程商</a:t>
            </a:r>
          </a:p>
        </p:txBody>
      </p:sp>
      <p:sp>
        <p:nvSpPr>
          <p:cNvPr id="229" name="矩形 228"/>
          <p:cNvSpPr/>
          <p:nvPr/>
        </p:nvSpPr>
        <p:spPr bwMode="ltGray">
          <a:xfrm>
            <a:off x="1213496" y="1579980"/>
            <a:ext cx="698285" cy="162355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</a:t>
            </a:r>
          </a:p>
        </p:txBody>
      </p:sp>
      <p:sp>
        <p:nvSpPr>
          <p:cNvPr id="230" name="矩形 229"/>
          <p:cNvSpPr/>
          <p:nvPr/>
        </p:nvSpPr>
        <p:spPr bwMode="ltGray">
          <a:xfrm>
            <a:off x="2132254" y="1583145"/>
            <a:ext cx="698285" cy="162355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旗舰店</a:t>
            </a:r>
          </a:p>
        </p:txBody>
      </p:sp>
      <p:sp>
        <p:nvSpPr>
          <p:cNvPr id="231" name="矩形 230"/>
          <p:cNvSpPr/>
          <p:nvPr/>
        </p:nvSpPr>
        <p:spPr bwMode="ltGray">
          <a:xfrm>
            <a:off x="3055328" y="1583145"/>
            <a:ext cx="698285" cy="162355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专卖店</a:t>
            </a:r>
          </a:p>
        </p:txBody>
      </p:sp>
      <p:sp>
        <p:nvSpPr>
          <p:cNvPr id="232" name="矩形 231"/>
          <p:cNvSpPr/>
          <p:nvPr/>
        </p:nvSpPr>
        <p:spPr bwMode="ltGray">
          <a:xfrm>
            <a:off x="1214727" y="1874489"/>
            <a:ext cx="698285" cy="162355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服务网点</a:t>
            </a:r>
          </a:p>
        </p:txBody>
      </p:sp>
      <p:sp>
        <p:nvSpPr>
          <p:cNvPr id="233" name="矩形 232"/>
          <p:cNvSpPr/>
          <p:nvPr/>
        </p:nvSpPr>
        <p:spPr bwMode="ltGray">
          <a:xfrm>
            <a:off x="2133485" y="1877654"/>
            <a:ext cx="698285" cy="162355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电商</a:t>
            </a:r>
          </a:p>
        </p:txBody>
      </p:sp>
      <p:sp>
        <p:nvSpPr>
          <p:cNvPr id="234" name="矩形 233"/>
          <p:cNvSpPr/>
          <p:nvPr/>
        </p:nvSpPr>
        <p:spPr bwMode="ltGray">
          <a:xfrm>
            <a:off x="3056558" y="1877654"/>
            <a:ext cx="698285" cy="162355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</a:t>
            </a:r>
          </a:p>
        </p:txBody>
      </p:sp>
      <p:sp>
        <p:nvSpPr>
          <p:cNvPr id="235" name="矩形 234"/>
          <p:cNvSpPr/>
          <p:nvPr/>
        </p:nvSpPr>
        <p:spPr bwMode="ltGray">
          <a:xfrm>
            <a:off x="4751233" y="1190090"/>
            <a:ext cx="3502919" cy="1392654"/>
          </a:xfrm>
          <a:prstGeom prst="rect">
            <a:avLst/>
          </a:prstGeom>
          <a:noFill/>
          <a:ln w="6350" cap="flat">
            <a:solidFill>
              <a:srgbClr val="006FFF"/>
            </a:solidFill>
            <a:prstDash val="solid"/>
            <a:miter lim="400000"/>
          </a:ln>
          <a:effectLst/>
          <a:extLst/>
        </p:spPr>
        <p:txBody>
          <a:bodyPr wrap="square" lIns="0" tIns="0" rIns="0" bIns="0" numCol="1" rtlCol="0" anchor="ctr">
            <a:noAutofit/>
          </a:bodyPr>
          <a:lstStyle/>
          <a:p>
            <a:pPr defTabSz="144298"/>
            <a:endParaRPr kumimoji="1" lang="zh-CN" altLang="en-US" sz="8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7" name="矩形 236"/>
          <p:cNvSpPr/>
          <p:nvPr/>
        </p:nvSpPr>
        <p:spPr bwMode="ltGray">
          <a:xfrm>
            <a:off x="5282820" y="1526744"/>
            <a:ext cx="1157597" cy="173247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保理公司</a:t>
            </a:r>
          </a:p>
        </p:txBody>
      </p:sp>
      <p:sp>
        <p:nvSpPr>
          <p:cNvPr id="239" name="矩形 238"/>
          <p:cNvSpPr/>
          <p:nvPr/>
        </p:nvSpPr>
        <p:spPr bwMode="ltGray">
          <a:xfrm>
            <a:off x="6635973" y="1529909"/>
            <a:ext cx="1157597" cy="173247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小贷公司</a:t>
            </a:r>
          </a:p>
        </p:txBody>
      </p:sp>
      <p:sp>
        <p:nvSpPr>
          <p:cNvPr id="240" name="矩形 239"/>
          <p:cNvSpPr/>
          <p:nvPr/>
        </p:nvSpPr>
        <p:spPr bwMode="ltGray">
          <a:xfrm>
            <a:off x="5287519" y="1803828"/>
            <a:ext cx="1157597" cy="173247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消费金融</a:t>
            </a:r>
          </a:p>
        </p:txBody>
      </p:sp>
      <p:sp>
        <p:nvSpPr>
          <p:cNvPr id="242" name="矩形 241"/>
          <p:cNvSpPr/>
          <p:nvPr/>
        </p:nvSpPr>
        <p:spPr bwMode="ltGray">
          <a:xfrm>
            <a:off x="6640672" y="1806993"/>
            <a:ext cx="1157597" cy="173247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融资租赁</a:t>
            </a:r>
          </a:p>
        </p:txBody>
      </p:sp>
      <p:sp>
        <p:nvSpPr>
          <p:cNvPr id="243" name="矩形 242"/>
          <p:cNvSpPr/>
          <p:nvPr/>
        </p:nvSpPr>
        <p:spPr bwMode="ltGray">
          <a:xfrm>
            <a:off x="5288750" y="2098338"/>
            <a:ext cx="1157597" cy="173247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</a:t>
            </a:r>
            <a:r>
              <a:rPr lang="zh-CN" altLang="en-US" sz="825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方支付公司</a:t>
            </a:r>
            <a:endParaRPr lang="zh-CN" altLang="en-US" sz="82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" name="矩形 244"/>
          <p:cNvSpPr/>
          <p:nvPr/>
        </p:nvSpPr>
        <p:spPr bwMode="ltGray">
          <a:xfrm>
            <a:off x="6641903" y="2101503"/>
            <a:ext cx="1157597" cy="173247"/>
          </a:xfrm>
          <a:prstGeom prst="rect">
            <a:avLst/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  <a:extLst/>
        </p:spPr>
        <p:txBody>
          <a:bodyPr lIns="0" tIns="0" rIns="0" bIns="0" anchor="ctr"/>
          <a:lstStyle/>
          <a:p>
            <a:pPr algn="ctr" defTabSz="616253"/>
            <a:r>
              <a:rPr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供应链金融平台</a:t>
            </a:r>
          </a:p>
        </p:txBody>
      </p:sp>
    </p:spTree>
    <p:extLst>
      <p:ext uri="{BB962C8B-B14F-4D97-AF65-F5344CB8AC3E}">
        <p14:creationId xmlns:p14="http://schemas.microsoft.com/office/powerpoint/2010/main" val="7244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任意多边形: 形状 218">
            <a:extLst>
              <a:ext uri="{FF2B5EF4-FFF2-40B4-BE49-F238E27FC236}">
                <a16:creationId xmlns:a16="http://schemas.microsoft.com/office/drawing/2014/main" id="{919E2C6C-D397-2A4B-BEBE-BFEA05B62610}"/>
              </a:ext>
            </a:extLst>
          </p:cNvPr>
          <p:cNvSpPr>
            <a:spLocks noChangeAspect="1"/>
          </p:cNvSpPr>
          <p:nvPr/>
        </p:nvSpPr>
        <p:spPr>
          <a:xfrm flipV="1">
            <a:off x="7111987" y="1221750"/>
            <a:ext cx="1512148" cy="3024000"/>
          </a:xfrm>
          <a:custGeom>
            <a:avLst/>
            <a:gdLst>
              <a:gd name="connsiteX0" fmla="*/ 1749919 w 1749919"/>
              <a:gd name="connsiteY0" fmla="*/ 0 h 3692162"/>
              <a:gd name="connsiteX1" fmla="*/ 1749919 w 1749919"/>
              <a:gd name="connsiteY1" fmla="*/ 3692162 h 3692162"/>
              <a:gd name="connsiteX2" fmla="*/ 1661921 w 1749919"/>
              <a:gd name="connsiteY2" fmla="*/ 3687718 h 3692162"/>
              <a:gd name="connsiteX3" fmla="*/ 0 w 1749919"/>
              <a:gd name="connsiteY3" fmla="*/ 1846081 h 3692162"/>
              <a:gd name="connsiteX4" fmla="*/ 1661921 w 1749919"/>
              <a:gd name="connsiteY4" fmla="*/ 4444 h 3692162"/>
              <a:gd name="connsiteX5" fmla="*/ 1749919 w 1749919"/>
              <a:gd name="connsiteY5" fmla="*/ 0 h 369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9919" h="3692162">
                <a:moveTo>
                  <a:pt x="1749919" y="0"/>
                </a:moveTo>
                <a:lnTo>
                  <a:pt x="1749919" y="3692162"/>
                </a:lnTo>
                <a:lnTo>
                  <a:pt x="1661921" y="3687718"/>
                </a:lnTo>
                <a:cubicBezTo>
                  <a:pt x="728445" y="3592919"/>
                  <a:pt x="0" y="2804569"/>
                  <a:pt x="0" y="1846081"/>
                </a:cubicBezTo>
                <a:cubicBezTo>
                  <a:pt x="0" y="887593"/>
                  <a:pt x="728445" y="99243"/>
                  <a:pt x="1661921" y="4444"/>
                </a:cubicBezTo>
                <a:lnTo>
                  <a:pt x="1749919" y="0"/>
                </a:lnTo>
                <a:close/>
              </a:path>
            </a:pathLst>
          </a:custGeom>
          <a:gradFill>
            <a:gsLst>
              <a:gs pos="0">
                <a:srgbClr val="1578FE">
                  <a:alpha val="0"/>
                </a:srgbClr>
              </a:gs>
              <a:gs pos="50000">
                <a:srgbClr val="1578FE">
                  <a:alpha val="6000"/>
                </a:srgbClr>
              </a:gs>
            </a:gsLst>
            <a:lin ang="10800000" scaled="1"/>
          </a:gradFill>
          <a:ln>
            <a:gradFill flip="none" rotWithShape="1">
              <a:gsLst>
                <a:gs pos="0">
                  <a:srgbClr val="1578FE">
                    <a:alpha val="0"/>
                  </a:srgbClr>
                </a:gs>
                <a:gs pos="100000">
                  <a:srgbClr val="1578FE">
                    <a:alpha val="69621"/>
                  </a:srgbClr>
                </a:gs>
              </a:gsLst>
              <a:lin ang="10800000" scaled="1"/>
              <a:tileRect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7896">
              <a:defRPr/>
            </a:pPr>
            <a:endParaRPr lang="zh-CN" altLang="en-US" sz="3600" dirty="0">
              <a:solidFill>
                <a:prstClr val="white"/>
              </a:solidFill>
              <a:latin typeface="Calibri"/>
              <a:ea typeface="等线" panose="02010600030101010101" pitchFamily="2" charset="-122"/>
              <a:sym typeface="Helvetica Ligh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1E95C1-B16A-47AF-91CD-8936AC4977CA}"/>
              </a:ext>
            </a:extLst>
          </p:cNvPr>
          <p:cNvSpPr txBox="1"/>
          <p:nvPr/>
        </p:nvSpPr>
        <p:spPr>
          <a:xfrm>
            <a:off x="2049402" y="3400200"/>
            <a:ext cx="10028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7896">
              <a:defRPr/>
            </a:pPr>
            <a:r>
              <a:rPr lang="zh-CN" altLang="en-US" sz="9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区</a:t>
            </a:r>
            <a:r>
              <a:rPr lang="zh-CN" altLang="en-US" sz="9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块链智汇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AE97F2D-2A32-44E7-A19E-F8303259DA00}"/>
              </a:ext>
            </a:extLst>
          </p:cNvPr>
          <p:cNvSpPr txBox="1"/>
          <p:nvPr/>
        </p:nvSpPr>
        <p:spPr>
          <a:xfrm>
            <a:off x="2195921" y="3666718"/>
            <a:ext cx="709856" cy="246221"/>
          </a:xfrm>
          <a:prstGeom prst="rect">
            <a:avLst/>
          </a:prstGeom>
          <a:solidFill>
            <a:srgbClr val="1178FE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307896">
              <a:defRPr/>
            </a:pPr>
            <a:r>
              <a:rPr lang="zh-CN" altLang="en-US" b="1" dirty="0">
                <a:solidFill>
                  <a:prstClr val="white"/>
                </a:solidFill>
                <a:sym typeface="Helvetica Light"/>
              </a:rPr>
              <a:t>技术服务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04AE8E06-513A-41CC-B844-6188B213E00D}"/>
              </a:ext>
            </a:extLst>
          </p:cNvPr>
          <p:cNvSpPr txBox="1"/>
          <p:nvPr/>
        </p:nvSpPr>
        <p:spPr>
          <a:xfrm>
            <a:off x="1676897" y="1580661"/>
            <a:ext cx="174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7896">
              <a:defRPr/>
            </a:pP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美</a:t>
            </a:r>
            <a:r>
              <a:rPr lang="zh-CN" altLang="en-US" sz="9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易</a:t>
            </a:r>
            <a:r>
              <a:rPr lang="zh-CN" altLang="en-US" sz="9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单应收</a:t>
            </a:r>
            <a:r>
              <a:rPr lang="zh-CN" altLang="en-US" sz="9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账款</a:t>
            </a:r>
            <a:r>
              <a:rPr lang="zh-CN" altLang="en-US" sz="9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融资存货融资订单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融资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0E93DD61-07D7-4F4F-9503-3139109900AF}"/>
              </a:ext>
            </a:extLst>
          </p:cNvPr>
          <p:cNvSpPr txBox="1"/>
          <p:nvPr/>
        </p:nvSpPr>
        <p:spPr>
          <a:xfrm>
            <a:off x="2195922" y="2007787"/>
            <a:ext cx="709856" cy="246221"/>
          </a:xfrm>
          <a:prstGeom prst="rect">
            <a:avLst/>
          </a:prstGeom>
          <a:solidFill>
            <a:srgbClr val="1178FE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307896">
              <a:defRPr/>
            </a:pPr>
            <a:r>
              <a:rPr lang="zh-CN" altLang="en-US" b="1" dirty="0">
                <a:solidFill>
                  <a:prstClr val="white"/>
                </a:solidFill>
                <a:sym typeface="Helvetica Light"/>
              </a:rPr>
              <a:t>金融服务</a:t>
            </a:r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6EB4C060-6A55-4B7F-9DD3-DC1D0716A570}"/>
              </a:ext>
            </a:extLst>
          </p:cNvPr>
          <p:cNvCxnSpPr>
            <a:cxnSpLocks/>
          </p:cNvCxnSpPr>
          <p:nvPr/>
        </p:nvCxnSpPr>
        <p:spPr>
          <a:xfrm flipH="1" flipV="1">
            <a:off x="1975524" y="1945416"/>
            <a:ext cx="1152000" cy="0"/>
          </a:xfrm>
          <a:prstGeom prst="straightConnector1">
            <a:avLst/>
          </a:prstGeom>
          <a:ln w="9525">
            <a:solidFill>
              <a:srgbClr val="1578FE">
                <a:alpha val="70000"/>
              </a:srgbClr>
            </a:solidFill>
            <a:prstDash val="solid"/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58BC03EC-3965-42DD-BB79-09140A518110}"/>
              </a:ext>
            </a:extLst>
          </p:cNvPr>
          <p:cNvCxnSpPr>
            <a:cxnSpLocks/>
          </p:cNvCxnSpPr>
          <p:nvPr/>
        </p:nvCxnSpPr>
        <p:spPr>
          <a:xfrm flipH="1">
            <a:off x="1956654" y="3610132"/>
            <a:ext cx="1142271" cy="0"/>
          </a:xfrm>
          <a:prstGeom prst="straightConnector1">
            <a:avLst/>
          </a:prstGeom>
          <a:ln w="9525">
            <a:solidFill>
              <a:srgbClr val="1578FE">
                <a:alpha val="70000"/>
              </a:srgbClr>
            </a:solidFill>
            <a:prstDash val="solid"/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FE69D670-BF71-4B4D-8538-DD2ECC642E38}"/>
              </a:ext>
            </a:extLst>
          </p:cNvPr>
          <p:cNvSpPr>
            <a:spLocks noChangeAspect="1"/>
          </p:cNvSpPr>
          <p:nvPr/>
        </p:nvSpPr>
        <p:spPr>
          <a:xfrm>
            <a:off x="3063229" y="1221753"/>
            <a:ext cx="3024000" cy="3023997"/>
          </a:xfrm>
          <a:prstGeom prst="ellipse">
            <a:avLst/>
          </a:prstGeom>
          <a:solidFill>
            <a:srgbClr val="1578FE">
              <a:alpha val="6000"/>
            </a:srgbClr>
          </a:solidFill>
          <a:ln>
            <a:solidFill>
              <a:srgbClr val="1178FE">
                <a:alpha val="69801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7896">
              <a:defRPr/>
            </a:pPr>
            <a:endParaRPr lang="zh-CN" altLang="en-US" sz="3600">
              <a:solidFill>
                <a:prstClr val="white"/>
              </a:solidFill>
              <a:latin typeface="Calibri"/>
              <a:ea typeface="等线" panose="02010600030101010101" pitchFamily="2" charset="-122"/>
              <a:sym typeface="Helvetica Light"/>
            </a:endParaRPr>
          </a:p>
        </p:txBody>
      </p:sp>
      <p:grpSp>
        <p:nvGrpSpPr>
          <p:cNvPr id="168" name="核价信息数字化">
            <a:extLst>
              <a:ext uri="{FF2B5EF4-FFF2-40B4-BE49-F238E27FC236}">
                <a16:creationId xmlns:a16="http://schemas.microsoft.com/office/drawing/2014/main" id="{B51E877F-3BC5-43B0-AF6E-2F0AC85B570F}"/>
              </a:ext>
            </a:extLst>
          </p:cNvPr>
          <p:cNvGrpSpPr/>
          <p:nvPr/>
        </p:nvGrpSpPr>
        <p:grpSpPr>
          <a:xfrm>
            <a:off x="4060330" y="3773058"/>
            <a:ext cx="1186670" cy="367266"/>
            <a:chOff x="8807403" y="2548310"/>
            <a:chExt cx="3418297" cy="1011532"/>
          </a:xfrm>
        </p:grpSpPr>
        <p:sp>
          <p:nvSpPr>
            <p:cNvPr id="169" name="isliḍê">
              <a:extLst>
                <a:ext uri="{FF2B5EF4-FFF2-40B4-BE49-F238E27FC236}">
                  <a16:creationId xmlns:a16="http://schemas.microsoft.com/office/drawing/2014/main" id="{B3BF3B9E-E6CB-4C03-B947-728456FF92BF}"/>
                </a:ext>
              </a:extLst>
            </p:cNvPr>
            <p:cNvSpPr/>
            <p:nvPr/>
          </p:nvSpPr>
          <p:spPr bwMode="auto">
            <a:xfrm>
              <a:off x="8807403" y="2779656"/>
              <a:ext cx="3418297" cy="780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42895">
                <a:lnSpc>
                  <a:spcPct val="140000"/>
                </a:lnSpc>
                <a:defRPr/>
              </a:pPr>
              <a:r>
                <a:rPr lang="zh-CN" altLang="en-US" sz="700" b="1" dirty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资金</a:t>
              </a:r>
              <a:r>
                <a:rPr lang="zh-CN" altLang="en-US" sz="700" b="1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融通</a:t>
              </a:r>
              <a:r>
                <a:rPr lang="zh-CN" altLang="en-US" sz="700" b="1" smtClean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类资产</a:t>
              </a:r>
              <a:r>
                <a:rPr lang="zh-CN" altLang="en-US" sz="700" b="1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服务</a:t>
              </a:r>
              <a:r>
                <a:rPr lang="zh-CN" altLang="en-US" sz="700" b="1" smtClean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类</a:t>
              </a:r>
              <a:endParaRPr lang="en-US" altLang="zh-CN" sz="700" b="1" smtClean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  <a:p>
              <a:pPr algn="ctr" defTabSz="342895">
                <a:lnSpc>
                  <a:spcPct val="140000"/>
                </a:lnSpc>
                <a:defRPr/>
              </a:pPr>
              <a:r>
                <a:rPr lang="zh-CN" altLang="en-US" sz="700" b="1" smtClean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技术服务</a:t>
              </a:r>
              <a:r>
                <a:rPr lang="zh-CN" altLang="en-US" sz="700" b="1" dirty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类</a:t>
              </a:r>
              <a:endParaRPr lang="en-US" altLang="zh-CN" sz="700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  <p:sp>
          <p:nvSpPr>
            <p:cNvPr id="170" name="iS1iḋe">
              <a:extLst>
                <a:ext uri="{FF2B5EF4-FFF2-40B4-BE49-F238E27FC236}">
                  <a16:creationId xmlns:a16="http://schemas.microsoft.com/office/drawing/2014/main" id="{DC99A4B1-6A98-4E0D-852A-8AD24915DD81}"/>
                </a:ext>
              </a:extLst>
            </p:cNvPr>
            <p:cNvSpPr txBox="1"/>
            <p:nvPr/>
          </p:nvSpPr>
          <p:spPr bwMode="auto">
            <a:xfrm>
              <a:off x="9118600" y="2548310"/>
              <a:ext cx="240960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8">
                <a:spcBef>
                  <a:spcPct val="0"/>
                </a:spcBef>
                <a:defRPr/>
              </a:pPr>
              <a:r>
                <a:rPr lang="zh-CN" altLang="en-US" sz="900" b="1" dirty="0">
                  <a:solidFill>
                    <a:prstClr val="black"/>
                  </a:solidFill>
                  <a:latin typeface=""/>
                  <a:ea typeface="微软雅黑" panose="020B0503020204020204" pitchFamily="34" charset="-122"/>
                  <a:sym typeface=""/>
                </a:rPr>
                <a:t>产品管理</a:t>
              </a:r>
              <a:endParaRPr lang="en-US" altLang="zh-CN" sz="900" b="1" dirty="0">
                <a:solidFill>
                  <a:prstClr val="black"/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grpSp>
        <p:nvGrpSpPr>
          <p:cNvPr id="164" name="成本模型数字化">
            <a:extLst>
              <a:ext uri="{FF2B5EF4-FFF2-40B4-BE49-F238E27FC236}">
                <a16:creationId xmlns:a16="http://schemas.microsoft.com/office/drawing/2014/main" id="{6822675A-78DB-4A38-8BED-106836B36175}"/>
              </a:ext>
            </a:extLst>
          </p:cNvPr>
          <p:cNvGrpSpPr/>
          <p:nvPr/>
        </p:nvGrpSpPr>
        <p:grpSpPr>
          <a:xfrm>
            <a:off x="5052321" y="2623767"/>
            <a:ext cx="1137753" cy="409557"/>
            <a:chOff x="8632903" y="2548310"/>
            <a:chExt cx="3277388" cy="1128011"/>
          </a:xfrm>
        </p:grpSpPr>
        <p:sp>
          <p:nvSpPr>
            <p:cNvPr id="165" name="í$ļíḋê">
              <a:extLst>
                <a:ext uri="{FF2B5EF4-FFF2-40B4-BE49-F238E27FC236}">
                  <a16:creationId xmlns:a16="http://schemas.microsoft.com/office/drawing/2014/main" id="{B2888117-6EE6-4472-9B74-EA98ADF847D7}"/>
                </a:ext>
              </a:extLst>
            </p:cNvPr>
            <p:cNvSpPr/>
            <p:nvPr/>
          </p:nvSpPr>
          <p:spPr bwMode="auto">
            <a:xfrm>
              <a:off x="8632903" y="2896135"/>
              <a:ext cx="3277388" cy="780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71450">
                <a:lnSpc>
                  <a:spcPct val="120000"/>
                </a:lnSpc>
                <a:defRPr/>
              </a:pPr>
              <a:r>
                <a:rPr lang="zh-CN" altLang="en-US" sz="700" b="1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智能</a:t>
              </a:r>
              <a:r>
                <a:rPr lang="zh-CN" altLang="en-US" sz="700" b="1" smtClean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审批合</a:t>
              </a:r>
              <a:r>
                <a:rPr lang="zh-CN" altLang="en-US" sz="700" b="1" dirty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规管理</a:t>
              </a:r>
              <a:endParaRPr lang="en-US" altLang="zh-CN" sz="700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  <a:p>
              <a:pPr algn="ctr" defTabSz="171450">
                <a:lnSpc>
                  <a:spcPct val="120000"/>
                </a:lnSpc>
                <a:defRPr/>
              </a:pPr>
              <a:r>
                <a:rPr lang="zh-CN" altLang="en-US" sz="700" b="1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大</a:t>
              </a:r>
              <a:r>
                <a:rPr lang="zh-CN" altLang="en-US" sz="700" b="1" smtClean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数据分析智能</a:t>
              </a:r>
              <a:r>
                <a:rPr lang="zh-CN" altLang="en-US" sz="700" b="1" dirty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预警及催收</a:t>
              </a:r>
              <a:endParaRPr lang="en-US" altLang="zh-CN" sz="700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  <p:sp>
          <p:nvSpPr>
            <p:cNvPr id="166" name="îśḷîďé">
              <a:extLst>
                <a:ext uri="{FF2B5EF4-FFF2-40B4-BE49-F238E27FC236}">
                  <a16:creationId xmlns:a16="http://schemas.microsoft.com/office/drawing/2014/main" id="{045B42A6-23E5-4012-A845-4633AB9BBC61}"/>
                </a:ext>
              </a:extLst>
            </p:cNvPr>
            <p:cNvSpPr txBox="1"/>
            <p:nvPr/>
          </p:nvSpPr>
          <p:spPr bwMode="auto">
            <a:xfrm>
              <a:off x="9118601" y="2548310"/>
              <a:ext cx="2409604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71450">
                <a:spcBef>
                  <a:spcPct val="0"/>
                </a:spcBef>
                <a:defRPr/>
              </a:pPr>
              <a:r>
                <a:rPr lang="zh-CN" altLang="en-US" sz="900" b="1" dirty="0">
                  <a:solidFill>
                    <a:prstClr val="black"/>
                  </a:solidFill>
                  <a:latin typeface=""/>
                  <a:ea typeface="微软雅黑" panose="020B0503020204020204" pitchFamily="34" charset="-122"/>
                  <a:sym typeface=""/>
                </a:rPr>
                <a:t>风险管理</a:t>
              </a:r>
              <a:endParaRPr lang="en-US" altLang="zh-CN" sz="900" b="1" dirty="0">
                <a:solidFill>
                  <a:prstClr val="black"/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93AA01FC-F2E3-40CA-9AD3-C102054AFF2D}"/>
              </a:ext>
            </a:extLst>
          </p:cNvPr>
          <p:cNvGrpSpPr/>
          <p:nvPr/>
        </p:nvGrpSpPr>
        <p:grpSpPr>
          <a:xfrm>
            <a:off x="3951000" y="1805775"/>
            <a:ext cx="1221179" cy="345016"/>
            <a:chOff x="3940404" y="1474598"/>
            <a:chExt cx="1455156" cy="411121"/>
          </a:xfrm>
        </p:grpSpPr>
        <p:sp>
          <p:nvSpPr>
            <p:cNvPr id="114" name="iṩļîḋe">
              <a:extLst>
                <a:ext uri="{FF2B5EF4-FFF2-40B4-BE49-F238E27FC236}">
                  <a16:creationId xmlns:a16="http://schemas.microsoft.com/office/drawing/2014/main" id="{FC18917E-15B2-4A5F-9CE3-39837BF153CD}"/>
                </a:ext>
              </a:extLst>
            </p:cNvPr>
            <p:cNvSpPr/>
            <p:nvPr/>
          </p:nvSpPr>
          <p:spPr bwMode="auto">
            <a:xfrm>
              <a:off x="3940404" y="1548176"/>
              <a:ext cx="1455156" cy="337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fontScale="77500" lnSpcReduction="2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342891">
                <a:lnSpc>
                  <a:spcPct val="140000"/>
                </a:lnSpc>
                <a:defRPr/>
              </a:pPr>
              <a:r>
                <a:rPr lang="zh-CN" altLang="en-US" sz="700" b="1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用户</a:t>
              </a:r>
              <a:r>
                <a:rPr lang="zh-CN" altLang="en-US" sz="700" b="1" smtClean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数据用户</a:t>
              </a:r>
              <a:r>
                <a:rPr lang="zh-CN" altLang="en-US" sz="700" b="1" dirty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认证</a:t>
              </a:r>
              <a:endParaRPr lang="en-US" altLang="zh-CN" sz="700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  <a:p>
              <a:pPr algn="ctr" defTabSz="342891">
                <a:lnSpc>
                  <a:spcPct val="140000"/>
                </a:lnSpc>
                <a:defRPr/>
              </a:pPr>
              <a:r>
                <a:rPr lang="zh-CN" altLang="en-US" sz="700" b="1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交易</a:t>
              </a:r>
              <a:r>
                <a:rPr lang="zh-CN" altLang="en-US" sz="700" b="1" smtClean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数据信息</a:t>
              </a:r>
              <a:r>
                <a:rPr lang="zh-CN" altLang="en-US" sz="700" b="1" dirty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安全</a:t>
              </a:r>
              <a:endParaRPr lang="en-US" altLang="zh-CN" sz="700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  <p:sp>
          <p:nvSpPr>
            <p:cNvPr id="115" name="ïṥḻiďê">
              <a:extLst>
                <a:ext uri="{FF2B5EF4-FFF2-40B4-BE49-F238E27FC236}">
                  <a16:creationId xmlns:a16="http://schemas.microsoft.com/office/drawing/2014/main" id="{E1DF007A-0E33-4289-9CA8-A3E974A3A180}"/>
                </a:ext>
              </a:extLst>
            </p:cNvPr>
            <p:cNvSpPr txBox="1"/>
            <p:nvPr/>
          </p:nvSpPr>
          <p:spPr bwMode="auto">
            <a:xfrm>
              <a:off x="4199415" y="1474598"/>
              <a:ext cx="996772" cy="167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342891">
                <a:spcBef>
                  <a:spcPct val="0"/>
                </a:spcBef>
                <a:defRPr/>
              </a:pPr>
              <a:r>
                <a:rPr lang="zh-CN" altLang="en-US" sz="900" b="1" dirty="0">
                  <a:solidFill>
                    <a:prstClr val="black"/>
                  </a:solidFill>
                  <a:latin typeface=""/>
                  <a:ea typeface="微软雅黑" panose="020B0503020204020204" pitchFamily="34" charset="-122"/>
                  <a:sym typeface=""/>
                </a:rPr>
                <a:t>用户管理</a:t>
              </a:r>
              <a:endParaRPr lang="en-US" altLang="zh-CN" sz="900" b="1" dirty="0">
                <a:solidFill>
                  <a:prstClr val="black"/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58C2E04C-9DA6-45BC-BE86-A2238340B0AF}"/>
              </a:ext>
            </a:extLst>
          </p:cNvPr>
          <p:cNvGrpSpPr/>
          <p:nvPr/>
        </p:nvGrpSpPr>
        <p:grpSpPr>
          <a:xfrm>
            <a:off x="2939357" y="2623770"/>
            <a:ext cx="1137752" cy="367287"/>
            <a:chOff x="3998498" y="1344263"/>
            <a:chExt cx="1355744" cy="437661"/>
          </a:xfrm>
        </p:grpSpPr>
        <p:sp>
          <p:nvSpPr>
            <p:cNvPr id="234" name="iṩļîḋe">
              <a:extLst>
                <a:ext uri="{FF2B5EF4-FFF2-40B4-BE49-F238E27FC236}">
                  <a16:creationId xmlns:a16="http://schemas.microsoft.com/office/drawing/2014/main" id="{0385D40F-5563-4FCB-A8B9-21E7CF083F66}"/>
                </a:ext>
              </a:extLst>
            </p:cNvPr>
            <p:cNvSpPr/>
            <p:nvPr/>
          </p:nvSpPr>
          <p:spPr bwMode="auto">
            <a:xfrm>
              <a:off x="3998498" y="1444386"/>
              <a:ext cx="1355744" cy="33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342891">
                <a:lnSpc>
                  <a:spcPct val="120000"/>
                </a:lnSpc>
                <a:defRPr/>
              </a:pPr>
              <a:r>
                <a:rPr lang="zh-CN" altLang="en-US" sz="700" b="1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运营</a:t>
              </a:r>
              <a:r>
                <a:rPr lang="zh-CN" altLang="en-US" sz="700" b="1" smtClean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宣传产品</a:t>
              </a:r>
              <a:r>
                <a:rPr lang="zh-CN" altLang="en-US" sz="700" b="1" dirty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推广</a:t>
              </a:r>
              <a:endParaRPr lang="en-US" altLang="zh-CN" sz="700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  <a:p>
              <a:pPr algn="ctr" defTabSz="342891">
                <a:lnSpc>
                  <a:spcPct val="120000"/>
                </a:lnSpc>
                <a:defRPr/>
              </a:pPr>
              <a:r>
                <a:rPr lang="zh-CN" altLang="en-US" sz="700" b="1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用户</a:t>
              </a:r>
              <a:r>
                <a:rPr lang="zh-CN" altLang="en-US" sz="700" b="1" smtClean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服务用户</a:t>
              </a:r>
              <a:r>
                <a:rPr lang="zh-CN" altLang="en-US" sz="700" b="1" dirty="0">
                  <a:solidFill>
                    <a:schemeClr val="bg1">
                      <a:lumMod val="50000"/>
                    </a:schemeClr>
                  </a:solidFill>
                  <a:latin typeface=""/>
                  <a:ea typeface="微软雅黑" panose="020B0503020204020204" pitchFamily="34" charset="-122"/>
                  <a:sym typeface=""/>
                </a:rPr>
                <a:t>体验</a:t>
              </a:r>
              <a:endParaRPr lang="en-US" altLang="zh-CN" sz="700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  <p:sp>
          <p:nvSpPr>
            <p:cNvPr id="235" name="ïṥḻiďê">
              <a:extLst>
                <a:ext uri="{FF2B5EF4-FFF2-40B4-BE49-F238E27FC236}">
                  <a16:creationId xmlns:a16="http://schemas.microsoft.com/office/drawing/2014/main" id="{3563BD12-6AEF-4F0C-8B11-6213A33A3138}"/>
                </a:ext>
              </a:extLst>
            </p:cNvPr>
            <p:cNvSpPr txBox="1"/>
            <p:nvPr/>
          </p:nvSpPr>
          <p:spPr bwMode="auto">
            <a:xfrm>
              <a:off x="4199415" y="1344263"/>
              <a:ext cx="996771" cy="167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342891">
                <a:spcBef>
                  <a:spcPct val="0"/>
                </a:spcBef>
                <a:defRPr/>
              </a:pPr>
              <a:r>
                <a:rPr lang="zh-CN" altLang="en-US" sz="900" b="1" dirty="0">
                  <a:solidFill>
                    <a:prstClr val="black"/>
                  </a:solidFill>
                  <a:latin typeface=""/>
                  <a:ea typeface="微软雅黑" panose="020B0503020204020204" pitchFamily="34" charset="-122"/>
                  <a:sym typeface=""/>
                </a:rPr>
                <a:t>运营管理</a:t>
              </a:r>
              <a:endParaRPr lang="en-US" altLang="zh-CN" sz="900" b="1" dirty="0">
                <a:solidFill>
                  <a:prstClr val="black"/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246848D-0B78-2946-9BC4-087E11409A0A}"/>
              </a:ext>
            </a:extLst>
          </p:cNvPr>
          <p:cNvGrpSpPr>
            <a:grpSpLocks noChangeAspect="1"/>
          </p:cNvGrpSpPr>
          <p:nvPr/>
        </p:nvGrpSpPr>
        <p:grpSpPr>
          <a:xfrm>
            <a:off x="3273269" y="1437751"/>
            <a:ext cx="2597462" cy="2592000"/>
            <a:chOff x="3203294" y="1292664"/>
            <a:chExt cx="2732365" cy="2726620"/>
          </a:xfrm>
        </p:grpSpPr>
        <p:sp>
          <p:nvSpPr>
            <p:cNvPr id="84" name="弧形 83">
              <a:extLst>
                <a:ext uri="{FF2B5EF4-FFF2-40B4-BE49-F238E27FC236}">
                  <a16:creationId xmlns:a16="http://schemas.microsoft.com/office/drawing/2014/main" id="{A3FA4FD1-52C4-4D63-8F5D-8346B2A475F3}"/>
                </a:ext>
              </a:extLst>
            </p:cNvPr>
            <p:cNvSpPr/>
            <p:nvPr/>
          </p:nvSpPr>
          <p:spPr>
            <a:xfrm rot="18985939">
              <a:off x="3259611" y="1335725"/>
              <a:ext cx="2648455" cy="2648453"/>
            </a:xfrm>
            <a:prstGeom prst="arc">
              <a:avLst>
                <a:gd name="adj1" fmla="val 3368526"/>
                <a:gd name="adj2" fmla="val 6171874"/>
              </a:avLst>
            </a:prstGeom>
            <a:ln w="9525">
              <a:solidFill>
                <a:srgbClr val="1178FE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307896">
                <a:defRPr/>
              </a:pPr>
              <a:endParaRPr lang="zh-CN" altLang="en-US" sz="3600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  <a:sym typeface="Helvetica Light"/>
              </a:endParaRPr>
            </a:p>
          </p:txBody>
        </p:sp>
        <p:sp>
          <p:nvSpPr>
            <p:cNvPr id="85" name="弧形 84">
              <a:extLst>
                <a:ext uri="{FF2B5EF4-FFF2-40B4-BE49-F238E27FC236}">
                  <a16:creationId xmlns:a16="http://schemas.microsoft.com/office/drawing/2014/main" id="{5EB3F9D4-A9E3-496D-B64B-38C16D9239C9}"/>
                </a:ext>
              </a:extLst>
            </p:cNvPr>
            <p:cNvSpPr/>
            <p:nvPr/>
          </p:nvSpPr>
          <p:spPr>
            <a:xfrm rot="14692895">
              <a:off x="3270817" y="1307191"/>
              <a:ext cx="2648453" cy="2648455"/>
            </a:xfrm>
            <a:prstGeom prst="arc">
              <a:avLst>
                <a:gd name="adj1" fmla="val 3368526"/>
                <a:gd name="adj2" fmla="val 6171874"/>
              </a:avLst>
            </a:prstGeom>
            <a:ln w="9525">
              <a:solidFill>
                <a:srgbClr val="1178FE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307896">
                <a:defRPr/>
              </a:pPr>
              <a:endParaRPr lang="zh-CN" altLang="en-US" sz="3600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  <a:sym typeface="Helvetica Light"/>
              </a:endParaRPr>
            </a:p>
          </p:txBody>
        </p:sp>
        <p:sp>
          <p:nvSpPr>
            <p:cNvPr id="88" name="弧形 87">
              <a:extLst>
                <a:ext uri="{FF2B5EF4-FFF2-40B4-BE49-F238E27FC236}">
                  <a16:creationId xmlns:a16="http://schemas.microsoft.com/office/drawing/2014/main" id="{56897FDF-7B15-4633-A095-51CACDDA6C48}"/>
                </a:ext>
              </a:extLst>
            </p:cNvPr>
            <p:cNvSpPr/>
            <p:nvPr/>
          </p:nvSpPr>
          <p:spPr>
            <a:xfrm rot="8566158">
              <a:off x="3203294" y="1370831"/>
              <a:ext cx="2648455" cy="2648453"/>
            </a:xfrm>
            <a:prstGeom prst="arc">
              <a:avLst>
                <a:gd name="adj1" fmla="val 3368526"/>
                <a:gd name="adj2" fmla="val 6171874"/>
              </a:avLst>
            </a:prstGeom>
            <a:ln w="9525">
              <a:solidFill>
                <a:srgbClr val="1178FE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307896">
                <a:defRPr/>
              </a:pPr>
              <a:endParaRPr lang="zh-CN" altLang="en-US" sz="3600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  <a:sym typeface="Helvetica Light"/>
              </a:endParaRPr>
            </a:p>
          </p:txBody>
        </p:sp>
        <p:sp>
          <p:nvSpPr>
            <p:cNvPr id="89" name="弧形 88">
              <a:extLst>
                <a:ext uri="{FF2B5EF4-FFF2-40B4-BE49-F238E27FC236}">
                  <a16:creationId xmlns:a16="http://schemas.microsoft.com/office/drawing/2014/main" id="{EB36F449-D5C4-4785-8371-10E2418160EE}"/>
                </a:ext>
              </a:extLst>
            </p:cNvPr>
            <p:cNvSpPr/>
            <p:nvPr/>
          </p:nvSpPr>
          <p:spPr>
            <a:xfrm rot="3575166">
              <a:off x="3208785" y="1292663"/>
              <a:ext cx="2648453" cy="2648455"/>
            </a:xfrm>
            <a:prstGeom prst="arc">
              <a:avLst>
                <a:gd name="adj1" fmla="val 3368526"/>
                <a:gd name="adj2" fmla="val 6171874"/>
              </a:avLst>
            </a:prstGeom>
            <a:ln w="9525">
              <a:solidFill>
                <a:srgbClr val="1178FE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307896">
                <a:defRPr/>
              </a:pPr>
              <a:endParaRPr lang="zh-CN" altLang="en-US" sz="3600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  <a:sym typeface="Helvetica Light"/>
              </a:endParaRPr>
            </a:p>
          </p:txBody>
        </p:sp>
        <p:sp>
          <p:nvSpPr>
            <p:cNvPr id="90" name="iconfont-11910-5686900">
              <a:extLst>
                <a:ext uri="{FF2B5EF4-FFF2-40B4-BE49-F238E27FC236}">
                  <a16:creationId xmlns:a16="http://schemas.microsoft.com/office/drawing/2014/main" id="{C06CE8D5-6124-4BC9-9C63-5B5A33F501E8}"/>
                </a:ext>
              </a:extLst>
            </p:cNvPr>
            <p:cNvSpPr/>
            <p:nvPr/>
          </p:nvSpPr>
          <p:spPr>
            <a:xfrm rot="7881031">
              <a:off x="3886517" y="3773788"/>
              <a:ext cx="128474" cy="71535"/>
            </a:xfrm>
            <a:custGeom>
              <a:avLst/>
              <a:gdLst>
                <a:gd name="T0" fmla="*/ 5836 w 11661"/>
                <a:gd name="T1" fmla="*/ 1298 h 6493"/>
                <a:gd name="T2" fmla="*/ 11015 w 11661"/>
                <a:gd name="T3" fmla="*/ 6475 h 6493"/>
                <a:gd name="T4" fmla="*/ 11661 w 11661"/>
                <a:gd name="T5" fmla="*/ 5827 h 6493"/>
                <a:gd name="T6" fmla="*/ 5836 w 11661"/>
                <a:gd name="T7" fmla="*/ 0 h 6493"/>
                <a:gd name="T8" fmla="*/ 0 w 11661"/>
                <a:gd name="T9" fmla="*/ 5838 h 6493"/>
                <a:gd name="T10" fmla="*/ 656 w 11661"/>
                <a:gd name="T11" fmla="*/ 6493 h 6493"/>
                <a:gd name="T12" fmla="*/ 658 w 11661"/>
                <a:gd name="T13" fmla="*/ 6493 h 6493"/>
                <a:gd name="T14" fmla="*/ 650 w 11661"/>
                <a:gd name="T15" fmla="*/ 6484 h 6493"/>
                <a:gd name="T16" fmla="*/ 5836 w 11661"/>
                <a:gd name="T17" fmla="*/ 1298 h 6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61" h="6493">
                  <a:moveTo>
                    <a:pt x="5836" y="1298"/>
                  </a:moveTo>
                  <a:lnTo>
                    <a:pt x="11015" y="6475"/>
                  </a:lnTo>
                  <a:lnTo>
                    <a:pt x="11661" y="5827"/>
                  </a:lnTo>
                  <a:lnTo>
                    <a:pt x="5836" y="0"/>
                  </a:lnTo>
                  <a:lnTo>
                    <a:pt x="0" y="5838"/>
                  </a:lnTo>
                  <a:lnTo>
                    <a:pt x="656" y="6493"/>
                  </a:lnTo>
                  <a:lnTo>
                    <a:pt x="658" y="6493"/>
                  </a:lnTo>
                  <a:lnTo>
                    <a:pt x="650" y="6484"/>
                  </a:lnTo>
                  <a:lnTo>
                    <a:pt x="5836" y="1298"/>
                  </a:lnTo>
                  <a:close/>
                </a:path>
              </a:pathLst>
            </a:custGeom>
            <a:solidFill>
              <a:srgbClr val="00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7896">
                <a:defRPr/>
              </a:pPr>
              <a:endParaRPr lang="en-US" sz="3600" dirty="0">
                <a:solidFill>
                  <a:prstClr val="white"/>
                </a:solidFill>
                <a:latin typeface="Calibri"/>
                <a:sym typeface="Helvetica Light"/>
              </a:endParaRPr>
            </a:p>
          </p:txBody>
        </p:sp>
        <p:sp>
          <p:nvSpPr>
            <p:cNvPr id="110" name="iconfont-11910-5686900">
              <a:extLst>
                <a:ext uri="{FF2B5EF4-FFF2-40B4-BE49-F238E27FC236}">
                  <a16:creationId xmlns:a16="http://schemas.microsoft.com/office/drawing/2014/main" id="{DF8FA6BA-FB1A-4AC9-871E-306AE82A1F1F}"/>
                </a:ext>
              </a:extLst>
            </p:cNvPr>
            <p:cNvSpPr/>
            <p:nvPr/>
          </p:nvSpPr>
          <p:spPr>
            <a:xfrm rot="956876">
              <a:off x="5807185" y="2926816"/>
              <a:ext cx="128474" cy="71535"/>
            </a:xfrm>
            <a:custGeom>
              <a:avLst/>
              <a:gdLst>
                <a:gd name="T0" fmla="*/ 5836 w 11661"/>
                <a:gd name="T1" fmla="*/ 1298 h 6493"/>
                <a:gd name="T2" fmla="*/ 11015 w 11661"/>
                <a:gd name="T3" fmla="*/ 6475 h 6493"/>
                <a:gd name="T4" fmla="*/ 11661 w 11661"/>
                <a:gd name="T5" fmla="*/ 5827 h 6493"/>
                <a:gd name="T6" fmla="*/ 5836 w 11661"/>
                <a:gd name="T7" fmla="*/ 0 h 6493"/>
                <a:gd name="T8" fmla="*/ 0 w 11661"/>
                <a:gd name="T9" fmla="*/ 5838 h 6493"/>
                <a:gd name="T10" fmla="*/ 656 w 11661"/>
                <a:gd name="T11" fmla="*/ 6493 h 6493"/>
                <a:gd name="T12" fmla="*/ 658 w 11661"/>
                <a:gd name="T13" fmla="*/ 6493 h 6493"/>
                <a:gd name="T14" fmla="*/ 650 w 11661"/>
                <a:gd name="T15" fmla="*/ 6484 h 6493"/>
                <a:gd name="T16" fmla="*/ 5836 w 11661"/>
                <a:gd name="T17" fmla="*/ 1298 h 6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61" h="6493">
                  <a:moveTo>
                    <a:pt x="5836" y="1298"/>
                  </a:moveTo>
                  <a:lnTo>
                    <a:pt x="11015" y="6475"/>
                  </a:lnTo>
                  <a:lnTo>
                    <a:pt x="11661" y="5827"/>
                  </a:lnTo>
                  <a:lnTo>
                    <a:pt x="5836" y="0"/>
                  </a:lnTo>
                  <a:lnTo>
                    <a:pt x="0" y="5838"/>
                  </a:lnTo>
                  <a:lnTo>
                    <a:pt x="656" y="6493"/>
                  </a:lnTo>
                  <a:lnTo>
                    <a:pt x="658" y="6493"/>
                  </a:lnTo>
                  <a:lnTo>
                    <a:pt x="650" y="6484"/>
                  </a:lnTo>
                  <a:lnTo>
                    <a:pt x="5836" y="1298"/>
                  </a:lnTo>
                  <a:close/>
                </a:path>
              </a:pathLst>
            </a:custGeom>
            <a:solidFill>
              <a:srgbClr val="00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7896">
                <a:defRPr/>
              </a:pPr>
              <a:endParaRPr lang="en-US" sz="3600" dirty="0">
                <a:solidFill>
                  <a:prstClr val="white"/>
                </a:solidFill>
                <a:latin typeface="Calibri"/>
                <a:sym typeface="Helvetica Light"/>
              </a:endParaRPr>
            </a:p>
          </p:txBody>
        </p:sp>
        <p:sp>
          <p:nvSpPr>
            <p:cNvPr id="111" name="iconfont-11910-5686900">
              <a:extLst>
                <a:ext uri="{FF2B5EF4-FFF2-40B4-BE49-F238E27FC236}">
                  <a16:creationId xmlns:a16="http://schemas.microsoft.com/office/drawing/2014/main" id="{C3FF770D-48A5-4E89-8AF9-7FA977D34261}"/>
                </a:ext>
              </a:extLst>
            </p:cNvPr>
            <p:cNvSpPr/>
            <p:nvPr/>
          </p:nvSpPr>
          <p:spPr>
            <a:xfrm rot="18719006">
              <a:off x="5221129" y="1469582"/>
              <a:ext cx="128474" cy="71535"/>
            </a:xfrm>
            <a:custGeom>
              <a:avLst/>
              <a:gdLst>
                <a:gd name="T0" fmla="*/ 5836 w 11661"/>
                <a:gd name="T1" fmla="*/ 1298 h 6493"/>
                <a:gd name="T2" fmla="*/ 11015 w 11661"/>
                <a:gd name="T3" fmla="*/ 6475 h 6493"/>
                <a:gd name="T4" fmla="*/ 11661 w 11661"/>
                <a:gd name="T5" fmla="*/ 5827 h 6493"/>
                <a:gd name="T6" fmla="*/ 5836 w 11661"/>
                <a:gd name="T7" fmla="*/ 0 h 6493"/>
                <a:gd name="T8" fmla="*/ 0 w 11661"/>
                <a:gd name="T9" fmla="*/ 5838 h 6493"/>
                <a:gd name="T10" fmla="*/ 656 w 11661"/>
                <a:gd name="T11" fmla="*/ 6493 h 6493"/>
                <a:gd name="T12" fmla="*/ 658 w 11661"/>
                <a:gd name="T13" fmla="*/ 6493 h 6493"/>
                <a:gd name="T14" fmla="*/ 650 w 11661"/>
                <a:gd name="T15" fmla="*/ 6484 h 6493"/>
                <a:gd name="T16" fmla="*/ 5836 w 11661"/>
                <a:gd name="T17" fmla="*/ 1298 h 6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61" h="6493">
                  <a:moveTo>
                    <a:pt x="5836" y="1298"/>
                  </a:moveTo>
                  <a:lnTo>
                    <a:pt x="11015" y="6475"/>
                  </a:lnTo>
                  <a:lnTo>
                    <a:pt x="11661" y="5827"/>
                  </a:lnTo>
                  <a:lnTo>
                    <a:pt x="5836" y="0"/>
                  </a:lnTo>
                  <a:lnTo>
                    <a:pt x="0" y="5838"/>
                  </a:lnTo>
                  <a:lnTo>
                    <a:pt x="656" y="6493"/>
                  </a:lnTo>
                  <a:lnTo>
                    <a:pt x="658" y="6493"/>
                  </a:lnTo>
                  <a:lnTo>
                    <a:pt x="650" y="6484"/>
                  </a:lnTo>
                  <a:lnTo>
                    <a:pt x="5836" y="1298"/>
                  </a:lnTo>
                  <a:close/>
                </a:path>
              </a:pathLst>
            </a:custGeom>
            <a:solidFill>
              <a:srgbClr val="00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7896">
                <a:defRPr/>
              </a:pPr>
              <a:endParaRPr lang="en-US" sz="3600" dirty="0">
                <a:solidFill>
                  <a:prstClr val="white"/>
                </a:solidFill>
                <a:latin typeface="Calibri"/>
                <a:sym typeface="Helvetica Light"/>
              </a:endParaRPr>
            </a:p>
          </p:txBody>
        </p:sp>
        <p:sp>
          <p:nvSpPr>
            <p:cNvPr id="112" name="iconfont-11910-5686900">
              <a:extLst>
                <a:ext uri="{FF2B5EF4-FFF2-40B4-BE49-F238E27FC236}">
                  <a16:creationId xmlns:a16="http://schemas.microsoft.com/office/drawing/2014/main" id="{357DD1B2-B6EE-44CE-9B98-B5DBF12ACD54}"/>
                </a:ext>
              </a:extLst>
            </p:cNvPr>
            <p:cNvSpPr/>
            <p:nvPr/>
          </p:nvSpPr>
          <p:spPr>
            <a:xfrm rot="12541387">
              <a:off x="3219329" y="2214523"/>
              <a:ext cx="128474" cy="71535"/>
            </a:xfrm>
            <a:custGeom>
              <a:avLst/>
              <a:gdLst>
                <a:gd name="T0" fmla="*/ 5836 w 11661"/>
                <a:gd name="T1" fmla="*/ 1298 h 6493"/>
                <a:gd name="T2" fmla="*/ 11015 w 11661"/>
                <a:gd name="T3" fmla="*/ 6475 h 6493"/>
                <a:gd name="T4" fmla="*/ 11661 w 11661"/>
                <a:gd name="T5" fmla="*/ 5827 h 6493"/>
                <a:gd name="T6" fmla="*/ 5836 w 11661"/>
                <a:gd name="T7" fmla="*/ 0 h 6493"/>
                <a:gd name="T8" fmla="*/ 0 w 11661"/>
                <a:gd name="T9" fmla="*/ 5838 h 6493"/>
                <a:gd name="T10" fmla="*/ 656 w 11661"/>
                <a:gd name="T11" fmla="*/ 6493 h 6493"/>
                <a:gd name="T12" fmla="*/ 658 w 11661"/>
                <a:gd name="T13" fmla="*/ 6493 h 6493"/>
                <a:gd name="T14" fmla="*/ 650 w 11661"/>
                <a:gd name="T15" fmla="*/ 6484 h 6493"/>
                <a:gd name="T16" fmla="*/ 5836 w 11661"/>
                <a:gd name="T17" fmla="*/ 1298 h 6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61" h="6493">
                  <a:moveTo>
                    <a:pt x="5836" y="1298"/>
                  </a:moveTo>
                  <a:lnTo>
                    <a:pt x="11015" y="6475"/>
                  </a:lnTo>
                  <a:lnTo>
                    <a:pt x="11661" y="5827"/>
                  </a:lnTo>
                  <a:lnTo>
                    <a:pt x="5836" y="0"/>
                  </a:lnTo>
                  <a:lnTo>
                    <a:pt x="0" y="5838"/>
                  </a:lnTo>
                  <a:lnTo>
                    <a:pt x="656" y="6493"/>
                  </a:lnTo>
                  <a:lnTo>
                    <a:pt x="658" y="6493"/>
                  </a:lnTo>
                  <a:lnTo>
                    <a:pt x="650" y="6484"/>
                  </a:lnTo>
                  <a:lnTo>
                    <a:pt x="5836" y="1298"/>
                  </a:lnTo>
                  <a:close/>
                </a:path>
              </a:pathLst>
            </a:custGeom>
            <a:solidFill>
              <a:srgbClr val="00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07896">
                <a:defRPr/>
              </a:pPr>
              <a:endParaRPr lang="en-US" sz="3600" dirty="0">
                <a:solidFill>
                  <a:prstClr val="white"/>
                </a:solidFill>
                <a:latin typeface="Calibri"/>
                <a:sym typeface="Helvetica Light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1FCE99A-D58B-4BA3-BA45-9EA83EEAF4FB}"/>
              </a:ext>
            </a:extLst>
          </p:cNvPr>
          <p:cNvSpPr txBox="1"/>
          <p:nvPr/>
        </p:nvSpPr>
        <p:spPr>
          <a:xfrm>
            <a:off x="3870000" y="2439324"/>
            <a:ext cx="1441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7896">
              <a:defRPr/>
            </a:pPr>
            <a:r>
              <a:rPr lang="zh-CN" altLang="en-US" sz="2000" b="1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供应链</a:t>
            </a:r>
            <a:endParaRPr lang="en-US" altLang="zh-CN" sz="2000" b="1" dirty="0">
              <a:solidFill>
                <a:srgbClr val="1578F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  <a:p>
            <a:pPr algn="ctr" defTabSz="307896">
              <a:defRPr/>
            </a:pPr>
            <a:r>
              <a:rPr lang="zh-CN" altLang="en-US" sz="2000" b="1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金融平台</a:t>
            </a:r>
          </a:p>
        </p:txBody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44B03BBF-92A0-4617-A051-E7BF30A3CFA4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526470" y="1221750"/>
            <a:ext cx="1512000" cy="3024000"/>
          </a:xfrm>
          <a:custGeom>
            <a:avLst/>
            <a:gdLst>
              <a:gd name="connsiteX0" fmla="*/ 1749919 w 1749919"/>
              <a:gd name="connsiteY0" fmla="*/ 0 h 3692162"/>
              <a:gd name="connsiteX1" fmla="*/ 1749919 w 1749919"/>
              <a:gd name="connsiteY1" fmla="*/ 3692162 h 3692162"/>
              <a:gd name="connsiteX2" fmla="*/ 1661921 w 1749919"/>
              <a:gd name="connsiteY2" fmla="*/ 3687718 h 3692162"/>
              <a:gd name="connsiteX3" fmla="*/ 0 w 1749919"/>
              <a:gd name="connsiteY3" fmla="*/ 1846081 h 3692162"/>
              <a:gd name="connsiteX4" fmla="*/ 1661921 w 1749919"/>
              <a:gd name="connsiteY4" fmla="*/ 4444 h 3692162"/>
              <a:gd name="connsiteX5" fmla="*/ 1749919 w 1749919"/>
              <a:gd name="connsiteY5" fmla="*/ 0 h 369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9919" h="3692162">
                <a:moveTo>
                  <a:pt x="1749919" y="0"/>
                </a:moveTo>
                <a:lnTo>
                  <a:pt x="1749919" y="3692162"/>
                </a:lnTo>
                <a:lnTo>
                  <a:pt x="1661921" y="3687718"/>
                </a:lnTo>
                <a:cubicBezTo>
                  <a:pt x="728445" y="3592919"/>
                  <a:pt x="0" y="2804569"/>
                  <a:pt x="0" y="1846081"/>
                </a:cubicBezTo>
                <a:cubicBezTo>
                  <a:pt x="0" y="887593"/>
                  <a:pt x="728445" y="99243"/>
                  <a:pt x="1661921" y="4444"/>
                </a:cubicBezTo>
                <a:lnTo>
                  <a:pt x="1749919" y="0"/>
                </a:lnTo>
                <a:close/>
              </a:path>
            </a:pathLst>
          </a:custGeom>
          <a:gradFill>
            <a:gsLst>
              <a:gs pos="0">
                <a:srgbClr val="1578FE">
                  <a:alpha val="0"/>
                </a:srgbClr>
              </a:gs>
              <a:gs pos="50000">
                <a:srgbClr val="1578FE">
                  <a:alpha val="6000"/>
                </a:srgbClr>
              </a:gs>
            </a:gsLst>
            <a:lin ang="10800000" scaled="1"/>
          </a:gradFill>
          <a:ln>
            <a:gradFill flip="none" rotWithShape="1">
              <a:gsLst>
                <a:gs pos="0">
                  <a:srgbClr val="1578FE">
                    <a:alpha val="0"/>
                  </a:srgbClr>
                </a:gs>
                <a:gs pos="100000">
                  <a:srgbClr val="1578FE">
                    <a:alpha val="69621"/>
                  </a:srgbClr>
                </a:gs>
              </a:gsLst>
              <a:lin ang="10800000" scaled="1"/>
              <a:tileRect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7896">
              <a:defRPr/>
            </a:pPr>
            <a:endParaRPr lang="zh-CN" altLang="en-US" sz="3600" dirty="0">
              <a:solidFill>
                <a:prstClr val="white"/>
              </a:solidFill>
              <a:latin typeface="Calibri"/>
              <a:ea typeface="等线" panose="02010600030101010101" pitchFamily="2" charset="-122"/>
              <a:sym typeface="Helvetica Light"/>
            </a:endParaRPr>
          </a:p>
        </p:txBody>
      </p:sp>
      <p:grpSp>
        <p:nvGrpSpPr>
          <p:cNvPr id="82" name="Group 9">
            <a:extLst>
              <a:ext uri="{FF2B5EF4-FFF2-40B4-BE49-F238E27FC236}">
                <a16:creationId xmlns:a16="http://schemas.microsoft.com/office/drawing/2014/main" id="{66F02998-1569-4D0A-BD36-2F999BE941FD}"/>
              </a:ext>
            </a:extLst>
          </p:cNvPr>
          <p:cNvGrpSpPr/>
          <p:nvPr/>
        </p:nvGrpSpPr>
        <p:grpSpPr>
          <a:xfrm>
            <a:off x="710123" y="3365289"/>
            <a:ext cx="1001327" cy="276999"/>
            <a:chOff x="163405" y="3815638"/>
            <a:chExt cx="1116520" cy="308794"/>
          </a:xfrm>
        </p:grpSpPr>
        <p:sp>
          <p:nvSpPr>
            <p:cNvPr id="83" name="文本框 6">
              <a:extLst>
                <a:ext uri="{FF2B5EF4-FFF2-40B4-BE49-F238E27FC236}">
                  <a16:creationId xmlns:a16="http://schemas.microsoft.com/office/drawing/2014/main" id="{2E6C0446-30CA-4CBC-B306-42221ADA58B7}"/>
                </a:ext>
              </a:extLst>
            </p:cNvPr>
            <p:cNvSpPr txBox="1"/>
            <p:nvPr/>
          </p:nvSpPr>
          <p:spPr>
            <a:xfrm>
              <a:off x="163405" y="3815638"/>
              <a:ext cx="962234" cy="308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71450">
                <a:defRPr/>
              </a:pPr>
              <a:r>
                <a:rPr lang="zh-CN" altLang="en-US" sz="1200" b="1" dirty="0">
                  <a:solidFill>
                    <a:srgbClr val="E7E6E6">
                      <a:lumMod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elvetica Light"/>
                </a:rPr>
                <a:t>核心企业</a:t>
              </a: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467CFB16-169F-493D-915A-6D0F096E6DCB}"/>
                </a:ext>
              </a:extLst>
            </p:cNvPr>
            <p:cNvGrpSpPr/>
            <p:nvPr/>
          </p:nvGrpSpPr>
          <p:grpSpPr>
            <a:xfrm>
              <a:off x="1064700" y="3881981"/>
              <a:ext cx="215225" cy="215225"/>
              <a:chOff x="608866" y="1803217"/>
              <a:chExt cx="580419" cy="580419"/>
            </a:xfrm>
          </p:grpSpPr>
          <p:sp>
            <p:nvSpPr>
              <p:cNvPr id="94" name="ísḷídê">
                <a:extLst>
                  <a:ext uri="{FF2B5EF4-FFF2-40B4-BE49-F238E27FC236}">
                    <a16:creationId xmlns:a16="http://schemas.microsoft.com/office/drawing/2014/main" id="{68E3D844-38A0-44A1-951B-83C12C67B772}"/>
                  </a:ext>
                </a:extLst>
              </p:cNvPr>
              <p:cNvSpPr/>
              <p:nvPr/>
            </p:nvSpPr>
            <p:spPr>
              <a:xfrm>
                <a:off x="608866" y="1803217"/>
                <a:ext cx="580419" cy="580419"/>
              </a:xfrm>
              <a:prstGeom prst="ellipse">
                <a:avLst/>
              </a:prstGeom>
              <a:solidFill>
                <a:srgbClr val="1178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87">
                  <a:defRPr/>
                </a:pPr>
                <a:endParaRPr lang="zh-CN" altLang="en-US" sz="2000" b="1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  <p:sp>
            <p:nvSpPr>
              <p:cNvPr id="103" name="îşḻíḓè">
                <a:extLst>
                  <a:ext uri="{FF2B5EF4-FFF2-40B4-BE49-F238E27FC236}">
                    <a16:creationId xmlns:a16="http://schemas.microsoft.com/office/drawing/2014/main" id="{9126A704-8371-4D84-B415-F532C0B6CD91}"/>
                  </a:ext>
                </a:extLst>
              </p:cNvPr>
              <p:cNvSpPr/>
              <p:nvPr/>
            </p:nvSpPr>
            <p:spPr bwMode="auto">
              <a:xfrm>
                <a:off x="712442" y="1908505"/>
                <a:ext cx="373266" cy="369841"/>
              </a:xfrm>
              <a:custGeom>
                <a:avLst/>
                <a:gdLst>
                  <a:gd name="connsiteX0" fmla="*/ 345243 w 609332"/>
                  <a:gd name="connsiteY0" fmla="*/ 467056 h 603742"/>
                  <a:gd name="connsiteX1" fmla="*/ 313466 w 609332"/>
                  <a:gd name="connsiteY1" fmla="*/ 498884 h 603742"/>
                  <a:gd name="connsiteX2" fmla="*/ 313466 w 609332"/>
                  <a:gd name="connsiteY2" fmla="*/ 534130 h 603742"/>
                  <a:gd name="connsiteX3" fmla="*/ 345243 w 609332"/>
                  <a:gd name="connsiteY3" fmla="*/ 565860 h 603742"/>
                  <a:gd name="connsiteX4" fmla="*/ 380637 w 609332"/>
                  <a:gd name="connsiteY4" fmla="*/ 565860 h 603742"/>
                  <a:gd name="connsiteX5" fmla="*/ 412414 w 609332"/>
                  <a:gd name="connsiteY5" fmla="*/ 534130 h 603742"/>
                  <a:gd name="connsiteX6" fmla="*/ 412414 w 609332"/>
                  <a:gd name="connsiteY6" fmla="*/ 498884 h 603742"/>
                  <a:gd name="connsiteX7" fmla="*/ 380637 w 609332"/>
                  <a:gd name="connsiteY7" fmla="*/ 467056 h 603742"/>
                  <a:gd name="connsiteX8" fmla="*/ 207478 w 609332"/>
                  <a:gd name="connsiteY8" fmla="*/ 467056 h 603742"/>
                  <a:gd name="connsiteX9" fmla="*/ 175701 w 609332"/>
                  <a:gd name="connsiteY9" fmla="*/ 498884 h 603742"/>
                  <a:gd name="connsiteX10" fmla="*/ 175701 w 609332"/>
                  <a:gd name="connsiteY10" fmla="*/ 534130 h 603742"/>
                  <a:gd name="connsiteX11" fmla="*/ 207478 w 609332"/>
                  <a:gd name="connsiteY11" fmla="*/ 565860 h 603742"/>
                  <a:gd name="connsiteX12" fmla="*/ 242872 w 609332"/>
                  <a:gd name="connsiteY12" fmla="*/ 565860 h 603742"/>
                  <a:gd name="connsiteX13" fmla="*/ 274649 w 609332"/>
                  <a:gd name="connsiteY13" fmla="*/ 534130 h 603742"/>
                  <a:gd name="connsiteX14" fmla="*/ 274649 w 609332"/>
                  <a:gd name="connsiteY14" fmla="*/ 498884 h 603742"/>
                  <a:gd name="connsiteX15" fmla="*/ 242872 w 609332"/>
                  <a:gd name="connsiteY15" fmla="*/ 467056 h 603742"/>
                  <a:gd name="connsiteX16" fmla="*/ 69713 w 609332"/>
                  <a:gd name="connsiteY16" fmla="*/ 467056 h 603742"/>
                  <a:gd name="connsiteX17" fmla="*/ 37937 w 609332"/>
                  <a:gd name="connsiteY17" fmla="*/ 498884 h 603742"/>
                  <a:gd name="connsiteX18" fmla="*/ 37937 w 609332"/>
                  <a:gd name="connsiteY18" fmla="*/ 534130 h 603742"/>
                  <a:gd name="connsiteX19" fmla="*/ 69713 w 609332"/>
                  <a:gd name="connsiteY19" fmla="*/ 565860 h 603742"/>
                  <a:gd name="connsiteX20" fmla="*/ 105108 w 609332"/>
                  <a:gd name="connsiteY20" fmla="*/ 565860 h 603742"/>
                  <a:gd name="connsiteX21" fmla="*/ 136885 w 609332"/>
                  <a:gd name="connsiteY21" fmla="*/ 534130 h 603742"/>
                  <a:gd name="connsiteX22" fmla="*/ 136885 w 609332"/>
                  <a:gd name="connsiteY22" fmla="*/ 498884 h 603742"/>
                  <a:gd name="connsiteX23" fmla="*/ 105108 w 609332"/>
                  <a:gd name="connsiteY23" fmla="*/ 467056 h 603742"/>
                  <a:gd name="connsiteX24" fmla="*/ 478607 w 609332"/>
                  <a:gd name="connsiteY24" fmla="*/ 132859 h 603742"/>
                  <a:gd name="connsiteX25" fmla="*/ 577555 w 609332"/>
                  <a:gd name="connsiteY25" fmla="*/ 132859 h 603742"/>
                  <a:gd name="connsiteX26" fmla="*/ 609332 w 609332"/>
                  <a:gd name="connsiteY26" fmla="*/ 469009 h 603742"/>
                  <a:gd name="connsiteX27" fmla="*/ 609332 w 609332"/>
                  <a:gd name="connsiteY27" fmla="*/ 603742 h 603742"/>
                  <a:gd name="connsiteX28" fmla="*/ 446830 w 609332"/>
                  <a:gd name="connsiteY28" fmla="*/ 603742 h 603742"/>
                  <a:gd name="connsiteX29" fmla="*/ 386797 w 609332"/>
                  <a:gd name="connsiteY29" fmla="*/ 603742 h 603742"/>
                  <a:gd name="connsiteX30" fmla="*/ 0 w 609332"/>
                  <a:gd name="connsiteY30" fmla="*/ 603742 h 603742"/>
                  <a:gd name="connsiteX31" fmla="*/ 0 w 609332"/>
                  <a:gd name="connsiteY31" fmla="*/ 349799 h 603742"/>
                  <a:gd name="connsiteX32" fmla="*/ 150084 w 609332"/>
                  <a:gd name="connsiteY32" fmla="*/ 273938 h 603742"/>
                  <a:gd name="connsiteX33" fmla="*/ 150084 w 609332"/>
                  <a:gd name="connsiteY33" fmla="*/ 348920 h 603742"/>
                  <a:gd name="connsiteX34" fmla="*/ 298506 w 609332"/>
                  <a:gd name="connsiteY34" fmla="*/ 273938 h 603742"/>
                  <a:gd name="connsiteX35" fmla="*/ 298506 w 609332"/>
                  <a:gd name="connsiteY35" fmla="*/ 348920 h 603742"/>
                  <a:gd name="connsiteX36" fmla="*/ 446830 w 609332"/>
                  <a:gd name="connsiteY36" fmla="*/ 273938 h 603742"/>
                  <a:gd name="connsiteX37" fmla="*/ 446830 w 609332"/>
                  <a:gd name="connsiteY37" fmla="*/ 349799 h 603742"/>
                  <a:gd name="connsiteX38" fmla="*/ 446830 w 609332"/>
                  <a:gd name="connsiteY38" fmla="*/ 469009 h 603742"/>
                  <a:gd name="connsiteX39" fmla="*/ 238001 w 609332"/>
                  <a:gd name="connsiteY39" fmla="*/ 0 h 603742"/>
                  <a:gd name="connsiteX40" fmla="*/ 386789 w 609332"/>
                  <a:gd name="connsiteY40" fmla="*/ 18744 h 603742"/>
                  <a:gd name="connsiteX41" fmla="*/ 569109 w 609332"/>
                  <a:gd name="connsiteY41" fmla="*/ 109925 h 603742"/>
                  <a:gd name="connsiteX42" fmla="*/ 479073 w 609332"/>
                  <a:gd name="connsiteY42" fmla="*/ 109925 h 603742"/>
                  <a:gd name="connsiteX43" fmla="*/ 296754 w 609332"/>
                  <a:gd name="connsiteY43" fmla="*/ 70290 h 603742"/>
                  <a:gd name="connsiteX44" fmla="*/ 238001 w 609332"/>
                  <a:gd name="connsiteY44" fmla="*/ 0 h 60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609332" h="603742">
                    <a:moveTo>
                      <a:pt x="345243" y="467056"/>
                    </a:moveTo>
                    <a:cubicBezTo>
                      <a:pt x="327741" y="467056"/>
                      <a:pt x="313466" y="481310"/>
                      <a:pt x="313466" y="498884"/>
                    </a:cubicBezTo>
                    <a:lnTo>
                      <a:pt x="313466" y="534130"/>
                    </a:lnTo>
                    <a:cubicBezTo>
                      <a:pt x="313466" y="551606"/>
                      <a:pt x="327741" y="565860"/>
                      <a:pt x="345243" y="565860"/>
                    </a:cubicBezTo>
                    <a:lnTo>
                      <a:pt x="380637" y="565860"/>
                    </a:lnTo>
                    <a:cubicBezTo>
                      <a:pt x="398139" y="565860"/>
                      <a:pt x="412414" y="551606"/>
                      <a:pt x="412414" y="534130"/>
                    </a:cubicBezTo>
                    <a:lnTo>
                      <a:pt x="412414" y="498884"/>
                    </a:lnTo>
                    <a:cubicBezTo>
                      <a:pt x="412414" y="481310"/>
                      <a:pt x="398139" y="467056"/>
                      <a:pt x="380637" y="467056"/>
                    </a:cubicBezTo>
                    <a:close/>
                    <a:moveTo>
                      <a:pt x="207478" y="467056"/>
                    </a:moveTo>
                    <a:cubicBezTo>
                      <a:pt x="189976" y="467056"/>
                      <a:pt x="175701" y="481310"/>
                      <a:pt x="175701" y="498884"/>
                    </a:cubicBezTo>
                    <a:lnTo>
                      <a:pt x="175701" y="534130"/>
                    </a:lnTo>
                    <a:cubicBezTo>
                      <a:pt x="175701" y="551606"/>
                      <a:pt x="189976" y="565860"/>
                      <a:pt x="207478" y="565860"/>
                    </a:cubicBezTo>
                    <a:lnTo>
                      <a:pt x="242872" y="565860"/>
                    </a:lnTo>
                    <a:cubicBezTo>
                      <a:pt x="260374" y="565860"/>
                      <a:pt x="274649" y="551606"/>
                      <a:pt x="274649" y="534130"/>
                    </a:cubicBezTo>
                    <a:lnTo>
                      <a:pt x="274649" y="498884"/>
                    </a:lnTo>
                    <a:cubicBezTo>
                      <a:pt x="274649" y="481310"/>
                      <a:pt x="260374" y="467056"/>
                      <a:pt x="242872" y="467056"/>
                    </a:cubicBezTo>
                    <a:close/>
                    <a:moveTo>
                      <a:pt x="69713" y="467056"/>
                    </a:moveTo>
                    <a:cubicBezTo>
                      <a:pt x="52212" y="467056"/>
                      <a:pt x="37937" y="481310"/>
                      <a:pt x="37937" y="498884"/>
                    </a:cubicBezTo>
                    <a:lnTo>
                      <a:pt x="37937" y="534130"/>
                    </a:lnTo>
                    <a:cubicBezTo>
                      <a:pt x="37937" y="551606"/>
                      <a:pt x="52212" y="565860"/>
                      <a:pt x="69713" y="565860"/>
                    </a:cubicBezTo>
                    <a:lnTo>
                      <a:pt x="105108" y="565860"/>
                    </a:lnTo>
                    <a:cubicBezTo>
                      <a:pt x="122609" y="565860"/>
                      <a:pt x="136885" y="551606"/>
                      <a:pt x="136885" y="534130"/>
                    </a:cubicBezTo>
                    <a:lnTo>
                      <a:pt x="136885" y="498884"/>
                    </a:lnTo>
                    <a:cubicBezTo>
                      <a:pt x="136885" y="481310"/>
                      <a:pt x="122609" y="467056"/>
                      <a:pt x="105108" y="467056"/>
                    </a:cubicBezTo>
                    <a:close/>
                    <a:moveTo>
                      <a:pt x="478607" y="132859"/>
                    </a:moveTo>
                    <a:lnTo>
                      <a:pt x="577555" y="132859"/>
                    </a:lnTo>
                    <a:lnTo>
                      <a:pt x="609332" y="469009"/>
                    </a:lnTo>
                    <a:lnTo>
                      <a:pt x="609332" y="603742"/>
                    </a:lnTo>
                    <a:lnTo>
                      <a:pt x="446830" y="603742"/>
                    </a:lnTo>
                    <a:lnTo>
                      <a:pt x="386797" y="603742"/>
                    </a:lnTo>
                    <a:lnTo>
                      <a:pt x="0" y="603742"/>
                    </a:lnTo>
                    <a:lnTo>
                      <a:pt x="0" y="349799"/>
                    </a:lnTo>
                    <a:lnTo>
                      <a:pt x="150084" y="273938"/>
                    </a:lnTo>
                    <a:lnTo>
                      <a:pt x="150084" y="348920"/>
                    </a:lnTo>
                    <a:lnTo>
                      <a:pt x="298506" y="273938"/>
                    </a:lnTo>
                    <a:lnTo>
                      <a:pt x="298506" y="348920"/>
                    </a:lnTo>
                    <a:lnTo>
                      <a:pt x="446830" y="273938"/>
                    </a:lnTo>
                    <a:lnTo>
                      <a:pt x="446830" y="349799"/>
                    </a:lnTo>
                    <a:lnTo>
                      <a:pt x="446830" y="469009"/>
                    </a:lnTo>
                    <a:close/>
                    <a:moveTo>
                      <a:pt x="238001" y="0"/>
                    </a:moveTo>
                    <a:cubicBezTo>
                      <a:pt x="238001" y="0"/>
                      <a:pt x="219427" y="70290"/>
                      <a:pt x="386789" y="18744"/>
                    </a:cubicBezTo>
                    <a:cubicBezTo>
                      <a:pt x="554054" y="-32899"/>
                      <a:pt x="569109" y="109925"/>
                      <a:pt x="569109" y="109925"/>
                    </a:cubicBezTo>
                    <a:lnTo>
                      <a:pt x="479073" y="109925"/>
                    </a:lnTo>
                    <a:cubicBezTo>
                      <a:pt x="475065" y="55744"/>
                      <a:pt x="386300" y="80833"/>
                      <a:pt x="296754" y="70290"/>
                    </a:cubicBezTo>
                    <a:cubicBezTo>
                      <a:pt x="207109" y="59746"/>
                      <a:pt x="238001" y="0"/>
                      <a:pt x="2380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87"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5A2F0BB-8D13-1A49-A172-8E152185EC55}"/>
              </a:ext>
            </a:extLst>
          </p:cNvPr>
          <p:cNvGrpSpPr/>
          <p:nvPr/>
        </p:nvGrpSpPr>
        <p:grpSpPr>
          <a:xfrm>
            <a:off x="813485" y="2595496"/>
            <a:ext cx="1135950" cy="276999"/>
            <a:chOff x="813483" y="2487729"/>
            <a:chExt cx="1135949" cy="276999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FFAF50F-7CB3-4CFC-A9EE-6D5676C57745}"/>
                </a:ext>
              </a:extLst>
            </p:cNvPr>
            <p:cNvSpPr txBox="1"/>
            <p:nvPr/>
          </p:nvSpPr>
          <p:spPr>
            <a:xfrm>
              <a:off x="813483" y="2487729"/>
              <a:ext cx="10318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7896">
                <a:defRPr/>
              </a:pPr>
              <a:r>
                <a:rPr lang="zh-CN" altLang="en-US" sz="1200" b="1" dirty="0">
                  <a:solidFill>
                    <a:srgbClr val="E7E6E6">
                      <a:lumMod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elvetica Light"/>
                </a:rPr>
                <a:t>上游供应商</a:t>
              </a:r>
            </a:p>
          </p:txBody>
        </p:sp>
        <p:grpSp>
          <p:nvGrpSpPr>
            <p:cNvPr id="63" name="Group 59">
              <a:extLst>
                <a:ext uri="{FF2B5EF4-FFF2-40B4-BE49-F238E27FC236}">
                  <a16:creationId xmlns:a16="http://schemas.microsoft.com/office/drawing/2014/main" id="{CC5A4EEE-5B55-4B5A-9DDE-0599EE97149D}"/>
                </a:ext>
              </a:extLst>
            </p:cNvPr>
            <p:cNvGrpSpPr/>
            <p:nvPr/>
          </p:nvGrpSpPr>
          <p:grpSpPr>
            <a:xfrm>
              <a:off x="1756412" y="2539289"/>
              <a:ext cx="193020" cy="193064"/>
              <a:chOff x="608866" y="1803217"/>
              <a:chExt cx="580419" cy="580419"/>
            </a:xfrm>
          </p:grpSpPr>
          <p:sp>
            <p:nvSpPr>
              <p:cNvPr id="64" name="ísḷídê">
                <a:extLst>
                  <a:ext uri="{FF2B5EF4-FFF2-40B4-BE49-F238E27FC236}">
                    <a16:creationId xmlns:a16="http://schemas.microsoft.com/office/drawing/2014/main" id="{24CB7707-9804-4957-90AA-1A1F72FAB5F1}"/>
                  </a:ext>
                </a:extLst>
              </p:cNvPr>
              <p:cNvSpPr/>
              <p:nvPr/>
            </p:nvSpPr>
            <p:spPr>
              <a:xfrm>
                <a:off x="608866" y="1803217"/>
                <a:ext cx="580419" cy="580419"/>
              </a:xfrm>
              <a:prstGeom prst="ellipse">
                <a:avLst/>
              </a:prstGeom>
              <a:solidFill>
                <a:srgbClr val="1178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87">
                  <a:defRPr/>
                </a:pPr>
                <a:endParaRPr lang="zh-CN" altLang="en-US" sz="2000" b="1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  <p:sp>
            <p:nvSpPr>
              <p:cNvPr id="65" name="îşḻíḓè">
                <a:extLst>
                  <a:ext uri="{FF2B5EF4-FFF2-40B4-BE49-F238E27FC236}">
                    <a16:creationId xmlns:a16="http://schemas.microsoft.com/office/drawing/2014/main" id="{E857610C-F1FA-4049-B02F-4FEA276B40AC}"/>
                  </a:ext>
                </a:extLst>
              </p:cNvPr>
              <p:cNvSpPr/>
              <p:nvPr/>
            </p:nvSpPr>
            <p:spPr bwMode="auto">
              <a:xfrm>
                <a:off x="713434" y="1906793"/>
                <a:ext cx="371281" cy="373266"/>
              </a:xfrm>
              <a:custGeom>
                <a:avLst/>
                <a:gdLst>
                  <a:gd name="T0" fmla="*/ 455839 w 606244"/>
                  <a:gd name="T1" fmla="*/ 455839 w 606244"/>
                  <a:gd name="T2" fmla="*/ 600116 w 606244"/>
                  <a:gd name="T3" fmla="*/ 600116 w 606244"/>
                  <a:gd name="T4" fmla="*/ 600116 w 606244"/>
                  <a:gd name="T5" fmla="*/ 600116 w 606244"/>
                  <a:gd name="T6" fmla="*/ 600116 w 606244"/>
                  <a:gd name="T7" fmla="*/ 600116 w 606244"/>
                  <a:gd name="T8" fmla="*/ 600116 w 606244"/>
                  <a:gd name="T9" fmla="*/ 600116 w 606244"/>
                  <a:gd name="T10" fmla="*/ 600116 w 606244"/>
                  <a:gd name="T11" fmla="*/ 600116 w 606244"/>
                  <a:gd name="T12" fmla="*/ 600116 w 606244"/>
                  <a:gd name="T13" fmla="*/ 600116 w 606244"/>
                  <a:gd name="T14" fmla="*/ 600116 w 606244"/>
                  <a:gd name="T15" fmla="*/ 600116 w 606244"/>
                  <a:gd name="T16" fmla="*/ 600116 w 606244"/>
                  <a:gd name="T17" fmla="*/ 600116 w 606244"/>
                  <a:gd name="T18" fmla="*/ 600116 w 606244"/>
                  <a:gd name="T19" fmla="*/ 600116 w 606244"/>
                  <a:gd name="T20" fmla="*/ 600116 w 606244"/>
                  <a:gd name="T21" fmla="*/ 600116 w 606244"/>
                  <a:gd name="T22" fmla="*/ 600116 w 606244"/>
                  <a:gd name="T23" fmla="*/ 600116 w 606244"/>
                  <a:gd name="T24" fmla="*/ 600116 w 606244"/>
                  <a:gd name="T25" fmla="*/ 600116 w 606244"/>
                  <a:gd name="T26" fmla="*/ 600116 w 606244"/>
                  <a:gd name="T27" fmla="*/ 600116 w 606244"/>
                  <a:gd name="T28" fmla="*/ 600116 w 606244"/>
                  <a:gd name="T29" fmla="*/ 600116 w 606244"/>
                  <a:gd name="T30" fmla="*/ 600116 w 606244"/>
                  <a:gd name="T31" fmla="*/ 600116 w 606244"/>
                  <a:gd name="T32" fmla="*/ 600116 w 606244"/>
                  <a:gd name="T33" fmla="*/ 600116 w 606244"/>
                  <a:gd name="T34" fmla="*/ 600116 w 606244"/>
                  <a:gd name="T35" fmla="*/ 600116 w 606244"/>
                  <a:gd name="T36" fmla="*/ 600116 w 606244"/>
                  <a:gd name="T37" fmla="*/ 600116 w 606244"/>
                  <a:gd name="T38" fmla="*/ 600116 w 606244"/>
                  <a:gd name="T39" fmla="*/ 600116 w 606244"/>
                  <a:gd name="T40" fmla="*/ 600116 w 606244"/>
                  <a:gd name="T41" fmla="*/ 600116 w 606244"/>
                  <a:gd name="T42" fmla="*/ 600116 w 606244"/>
                  <a:gd name="T43" fmla="*/ 600116 w 606244"/>
                  <a:gd name="T44" fmla="*/ 600116 w 606244"/>
                  <a:gd name="T45" fmla="*/ 600116 w 606244"/>
                  <a:gd name="T46" fmla="*/ 600116 w 606244"/>
                  <a:gd name="T47" fmla="*/ 600116 w 606244"/>
                  <a:gd name="T48" fmla="*/ 600116 w 606244"/>
                  <a:gd name="T49" fmla="*/ 600116 w 606244"/>
                  <a:gd name="T50" fmla="*/ 455839 w 606244"/>
                  <a:gd name="T51" fmla="*/ 455839 w 606244"/>
                  <a:gd name="T52" fmla="*/ 600116 w 606244"/>
                  <a:gd name="T53" fmla="*/ 600116 w 606244"/>
                  <a:gd name="T54" fmla="*/ 600116 w 606244"/>
                  <a:gd name="T55" fmla="*/ 600116 w 606244"/>
                  <a:gd name="T56" fmla="*/ 600116 w 606244"/>
                  <a:gd name="T57" fmla="*/ 600116 w 606244"/>
                  <a:gd name="T58" fmla="*/ 600116 w 606244"/>
                  <a:gd name="T59" fmla="*/ 600116 w 606244"/>
                  <a:gd name="T60" fmla="*/ 600116 w 606244"/>
                  <a:gd name="T61" fmla="*/ 600116 w 606244"/>
                  <a:gd name="T62" fmla="*/ 600116 w 606244"/>
                  <a:gd name="T63" fmla="*/ 600116 w 606244"/>
                  <a:gd name="T64" fmla="*/ 600116 w 606244"/>
                  <a:gd name="T65" fmla="*/ 600116 w 606244"/>
                  <a:gd name="T66" fmla="*/ 600116 w 606244"/>
                  <a:gd name="T67" fmla="*/ 600116 w 606244"/>
                  <a:gd name="T68" fmla="*/ 600116 w 606244"/>
                  <a:gd name="T69" fmla="*/ 600116 w 606244"/>
                  <a:gd name="T70" fmla="*/ 600116 w 606244"/>
                  <a:gd name="T71" fmla="*/ 600116 w 606244"/>
                  <a:gd name="T72" fmla="*/ 600116 w 606244"/>
                  <a:gd name="T73" fmla="*/ 600116 w 606244"/>
                  <a:gd name="T74" fmla="*/ 600116 w 606244"/>
                  <a:gd name="T75" fmla="*/ 600116 w 606244"/>
                  <a:gd name="T76" fmla="*/ 600116 w 606244"/>
                  <a:gd name="T77" fmla="*/ 600116 w 606244"/>
                  <a:gd name="T78" fmla="*/ 600116 w 606244"/>
                  <a:gd name="T79" fmla="*/ 600116 w 606244"/>
                  <a:gd name="T80" fmla="*/ 600116 w 606244"/>
                  <a:gd name="T81" fmla="*/ 600116 w 606244"/>
                  <a:gd name="T82" fmla="*/ 600116 w 606244"/>
                  <a:gd name="T83" fmla="*/ 600116 w 606244"/>
                  <a:gd name="T84" fmla="*/ 600116 w 606244"/>
                  <a:gd name="T85" fmla="*/ 600116 w 606244"/>
                  <a:gd name="T86" fmla="*/ 600116 w 606244"/>
                  <a:gd name="T87" fmla="*/ 600116 w 606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00" h="604">
                    <a:moveTo>
                      <a:pt x="522" y="168"/>
                    </a:moveTo>
                    <a:lnTo>
                      <a:pt x="488" y="168"/>
                    </a:lnTo>
                    <a:lnTo>
                      <a:pt x="488" y="57"/>
                    </a:lnTo>
                    <a:cubicBezTo>
                      <a:pt x="503" y="57"/>
                      <a:pt x="516" y="44"/>
                      <a:pt x="516" y="29"/>
                    </a:cubicBezTo>
                    <a:cubicBezTo>
                      <a:pt x="516" y="13"/>
                      <a:pt x="504" y="0"/>
                      <a:pt x="488" y="0"/>
                    </a:cubicBezTo>
                    <a:lnTo>
                      <a:pt x="362" y="0"/>
                    </a:lnTo>
                    <a:cubicBezTo>
                      <a:pt x="346" y="0"/>
                      <a:pt x="334" y="13"/>
                      <a:pt x="334" y="29"/>
                    </a:cubicBezTo>
                    <a:cubicBezTo>
                      <a:pt x="334" y="44"/>
                      <a:pt x="346" y="57"/>
                      <a:pt x="362" y="57"/>
                    </a:cubicBezTo>
                    <a:lnTo>
                      <a:pt x="362" y="168"/>
                    </a:lnTo>
                    <a:lnTo>
                      <a:pt x="238" y="168"/>
                    </a:lnTo>
                    <a:lnTo>
                      <a:pt x="238" y="57"/>
                    </a:lnTo>
                    <a:cubicBezTo>
                      <a:pt x="254" y="57"/>
                      <a:pt x="267" y="44"/>
                      <a:pt x="267" y="29"/>
                    </a:cubicBezTo>
                    <a:cubicBezTo>
                      <a:pt x="267" y="13"/>
                      <a:pt x="254" y="0"/>
                      <a:pt x="238" y="0"/>
                    </a:cubicBezTo>
                    <a:lnTo>
                      <a:pt x="113" y="0"/>
                    </a:lnTo>
                    <a:cubicBezTo>
                      <a:pt x="97" y="0"/>
                      <a:pt x="84" y="13"/>
                      <a:pt x="84" y="29"/>
                    </a:cubicBezTo>
                    <a:cubicBezTo>
                      <a:pt x="84" y="44"/>
                      <a:pt x="97" y="57"/>
                      <a:pt x="112" y="57"/>
                    </a:cubicBezTo>
                    <a:lnTo>
                      <a:pt x="112" y="168"/>
                    </a:lnTo>
                    <a:lnTo>
                      <a:pt x="78" y="168"/>
                    </a:lnTo>
                    <a:cubicBezTo>
                      <a:pt x="35" y="168"/>
                      <a:pt x="0" y="203"/>
                      <a:pt x="0" y="246"/>
                    </a:cubicBezTo>
                    <a:lnTo>
                      <a:pt x="0" y="526"/>
                    </a:lnTo>
                    <a:cubicBezTo>
                      <a:pt x="0" y="569"/>
                      <a:pt x="35" y="604"/>
                      <a:pt x="78" y="604"/>
                    </a:cubicBezTo>
                    <a:lnTo>
                      <a:pt x="522" y="604"/>
                    </a:lnTo>
                    <a:cubicBezTo>
                      <a:pt x="565" y="604"/>
                      <a:pt x="600" y="569"/>
                      <a:pt x="600" y="526"/>
                    </a:cubicBezTo>
                    <a:lnTo>
                      <a:pt x="600" y="246"/>
                    </a:lnTo>
                    <a:cubicBezTo>
                      <a:pt x="600" y="203"/>
                      <a:pt x="565" y="168"/>
                      <a:pt x="522" y="168"/>
                    </a:cubicBezTo>
                    <a:close/>
                    <a:moveTo>
                      <a:pt x="548" y="526"/>
                    </a:moveTo>
                    <a:cubicBezTo>
                      <a:pt x="548" y="540"/>
                      <a:pt x="536" y="552"/>
                      <a:pt x="522" y="552"/>
                    </a:cubicBezTo>
                    <a:lnTo>
                      <a:pt x="78" y="552"/>
                    </a:lnTo>
                    <a:cubicBezTo>
                      <a:pt x="64" y="552"/>
                      <a:pt x="52" y="540"/>
                      <a:pt x="52" y="526"/>
                    </a:cubicBezTo>
                    <a:lnTo>
                      <a:pt x="52" y="246"/>
                    </a:lnTo>
                    <a:cubicBezTo>
                      <a:pt x="52" y="232"/>
                      <a:pt x="64" y="221"/>
                      <a:pt x="78" y="221"/>
                    </a:cubicBezTo>
                    <a:lnTo>
                      <a:pt x="112" y="221"/>
                    </a:lnTo>
                    <a:lnTo>
                      <a:pt x="112" y="430"/>
                    </a:lnTo>
                    <a:cubicBezTo>
                      <a:pt x="112" y="465"/>
                      <a:pt x="141" y="493"/>
                      <a:pt x="175" y="493"/>
                    </a:cubicBezTo>
                    <a:cubicBezTo>
                      <a:pt x="210" y="493"/>
                      <a:pt x="238" y="465"/>
                      <a:pt x="238" y="430"/>
                    </a:cubicBezTo>
                    <a:lnTo>
                      <a:pt x="238" y="221"/>
                    </a:lnTo>
                    <a:lnTo>
                      <a:pt x="362" y="221"/>
                    </a:lnTo>
                    <a:lnTo>
                      <a:pt x="362" y="430"/>
                    </a:lnTo>
                    <a:cubicBezTo>
                      <a:pt x="362" y="465"/>
                      <a:pt x="390" y="493"/>
                      <a:pt x="425" y="493"/>
                    </a:cubicBezTo>
                    <a:cubicBezTo>
                      <a:pt x="460" y="493"/>
                      <a:pt x="488" y="465"/>
                      <a:pt x="488" y="430"/>
                    </a:cubicBezTo>
                    <a:lnTo>
                      <a:pt x="488" y="221"/>
                    </a:lnTo>
                    <a:lnTo>
                      <a:pt x="522" y="221"/>
                    </a:lnTo>
                    <a:cubicBezTo>
                      <a:pt x="536" y="221"/>
                      <a:pt x="548" y="232"/>
                      <a:pt x="548" y="246"/>
                    </a:cubicBezTo>
                    <a:lnTo>
                      <a:pt x="548" y="52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87">
                  <a:defRPr/>
                </a:pPr>
                <a:endParaRPr lang="zh-CN" altLang="en-US" sz="2000" b="1">
                  <a:solidFill>
                    <a:srgbClr val="000000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</p:grpSp>
      </p:grpSp>
      <p:grpSp>
        <p:nvGrpSpPr>
          <p:cNvPr id="105" name="Group 219">
            <a:extLst>
              <a:ext uri="{FF2B5EF4-FFF2-40B4-BE49-F238E27FC236}">
                <a16:creationId xmlns:a16="http://schemas.microsoft.com/office/drawing/2014/main" id="{1B42642A-4CA6-4E3C-B859-B7E5B078B8C8}"/>
              </a:ext>
            </a:extLst>
          </p:cNvPr>
          <p:cNvGrpSpPr/>
          <p:nvPr/>
        </p:nvGrpSpPr>
        <p:grpSpPr>
          <a:xfrm>
            <a:off x="871695" y="1760576"/>
            <a:ext cx="862970" cy="276999"/>
            <a:chOff x="436958" y="1545907"/>
            <a:chExt cx="962239" cy="308794"/>
          </a:xfrm>
        </p:grpSpPr>
        <p:sp>
          <p:nvSpPr>
            <p:cNvPr id="116" name="文本框 50">
              <a:extLst>
                <a:ext uri="{FF2B5EF4-FFF2-40B4-BE49-F238E27FC236}">
                  <a16:creationId xmlns:a16="http://schemas.microsoft.com/office/drawing/2014/main" id="{825DA4E7-2A7F-4534-BA59-034D0A7F5358}"/>
                </a:ext>
              </a:extLst>
            </p:cNvPr>
            <p:cNvSpPr txBox="1"/>
            <p:nvPr/>
          </p:nvSpPr>
          <p:spPr>
            <a:xfrm>
              <a:off x="436958" y="1545907"/>
              <a:ext cx="962239" cy="308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71450">
                <a:defRPr/>
              </a:pPr>
              <a:r>
                <a:rPr lang="zh-CN" altLang="en-US" sz="1200" b="1" dirty="0">
                  <a:solidFill>
                    <a:srgbClr val="E7E6E6">
                      <a:lumMod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elvetica Light"/>
                </a:rPr>
                <a:t>美的</a:t>
              </a:r>
            </a:p>
          </p:txBody>
        </p:sp>
        <p:grpSp>
          <p:nvGrpSpPr>
            <p:cNvPr id="118" name="Group 59">
              <a:extLst>
                <a:ext uri="{FF2B5EF4-FFF2-40B4-BE49-F238E27FC236}">
                  <a16:creationId xmlns:a16="http://schemas.microsoft.com/office/drawing/2014/main" id="{906E154E-66A4-48A8-92DA-733DED96AAB9}"/>
                </a:ext>
              </a:extLst>
            </p:cNvPr>
            <p:cNvGrpSpPr/>
            <p:nvPr/>
          </p:nvGrpSpPr>
          <p:grpSpPr>
            <a:xfrm>
              <a:off x="1130239" y="1603386"/>
              <a:ext cx="215225" cy="215225"/>
              <a:chOff x="608866" y="1803217"/>
              <a:chExt cx="580419" cy="580419"/>
            </a:xfrm>
          </p:grpSpPr>
          <p:sp>
            <p:nvSpPr>
              <p:cNvPr id="119" name="ísḷídê">
                <a:extLst>
                  <a:ext uri="{FF2B5EF4-FFF2-40B4-BE49-F238E27FC236}">
                    <a16:creationId xmlns:a16="http://schemas.microsoft.com/office/drawing/2014/main" id="{4E2A4393-BBE6-4D8D-A406-69BAD90A0A76}"/>
                  </a:ext>
                </a:extLst>
              </p:cNvPr>
              <p:cNvSpPr/>
              <p:nvPr/>
            </p:nvSpPr>
            <p:spPr>
              <a:xfrm>
                <a:off x="608866" y="1803217"/>
                <a:ext cx="580419" cy="580419"/>
              </a:xfrm>
              <a:prstGeom prst="ellipse">
                <a:avLst/>
              </a:prstGeom>
              <a:solidFill>
                <a:srgbClr val="1178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87">
                  <a:defRPr/>
                </a:pPr>
                <a:endParaRPr lang="zh-CN" altLang="en-US" sz="200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  <p:sp>
            <p:nvSpPr>
              <p:cNvPr id="120" name="îşḻíḓè">
                <a:extLst>
                  <a:ext uri="{FF2B5EF4-FFF2-40B4-BE49-F238E27FC236}">
                    <a16:creationId xmlns:a16="http://schemas.microsoft.com/office/drawing/2014/main" id="{01250152-A1B3-4657-8550-F1DB4F732F6F}"/>
                  </a:ext>
                </a:extLst>
              </p:cNvPr>
              <p:cNvSpPr/>
              <p:nvPr/>
            </p:nvSpPr>
            <p:spPr bwMode="auto">
              <a:xfrm>
                <a:off x="737955" y="1906792"/>
                <a:ext cx="322237" cy="373266"/>
              </a:xfrm>
              <a:custGeom>
                <a:avLst/>
                <a:gdLst>
                  <a:gd name="connsiteX0" fmla="*/ 339209 w 503968"/>
                  <a:gd name="connsiteY0" fmla="*/ 314464 h 583774"/>
                  <a:gd name="connsiteX1" fmla="*/ 285905 w 503968"/>
                  <a:gd name="connsiteY1" fmla="*/ 348329 h 583774"/>
                  <a:gd name="connsiteX2" fmla="*/ 306904 w 503968"/>
                  <a:gd name="connsiteY2" fmla="*/ 378969 h 583774"/>
                  <a:gd name="connsiteX3" fmla="*/ 308519 w 503968"/>
                  <a:gd name="connsiteY3" fmla="*/ 383807 h 583774"/>
                  <a:gd name="connsiteX4" fmla="*/ 321441 w 503968"/>
                  <a:gd name="connsiteY4" fmla="*/ 391870 h 583774"/>
                  <a:gd name="connsiteX5" fmla="*/ 326287 w 503968"/>
                  <a:gd name="connsiteY5" fmla="*/ 391870 h 583774"/>
                  <a:gd name="connsiteX6" fmla="*/ 347286 w 503968"/>
                  <a:gd name="connsiteY6" fmla="*/ 385420 h 583774"/>
                  <a:gd name="connsiteX7" fmla="*/ 363438 w 503968"/>
                  <a:gd name="connsiteY7" fmla="*/ 353167 h 583774"/>
                  <a:gd name="connsiteX8" fmla="*/ 361823 w 503968"/>
                  <a:gd name="connsiteY8" fmla="*/ 348329 h 583774"/>
                  <a:gd name="connsiteX9" fmla="*/ 360208 w 503968"/>
                  <a:gd name="connsiteY9" fmla="*/ 345104 h 583774"/>
                  <a:gd name="connsiteX10" fmla="*/ 251958 w 503968"/>
                  <a:gd name="connsiteY10" fmla="*/ 233717 h 583774"/>
                  <a:gd name="connsiteX11" fmla="*/ 290720 w 503968"/>
                  <a:gd name="connsiteY11" fmla="*/ 298235 h 583774"/>
                  <a:gd name="connsiteX12" fmla="*/ 242267 w 503968"/>
                  <a:gd name="connsiteY12" fmla="*/ 248234 h 583774"/>
                  <a:gd name="connsiteX13" fmla="*/ 251958 w 503968"/>
                  <a:gd name="connsiteY13" fmla="*/ 233717 h 583774"/>
                  <a:gd name="connsiteX14" fmla="*/ 140530 w 503968"/>
                  <a:gd name="connsiteY14" fmla="*/ 180615 h 583774"/>
                  <a:gd name="connsiteX15" fmla="*/ 82379 w 503968"/>
                  <a:gd name="connsiteY15" fmla="*/ 193516 h 583774"/>
                  <a:gd name="connsiteX16" fmla="*/ 88841 w 503968"/>
                  <a:gd name="connsiteY16" fmla="*/ 217706 h 583774"/>
                  <a:gd name="connsiteX17" fmla="*/ 145375 w 503968"/>
                  <a:gd name="connsiteY17" fmla="*/ 204805 h 583774"/>
                  <a:gd name="connsiteX18" fmla="*/ 234177 w 503968"/>
                  <a:gd name="connsiteY18" fmla="*/ 164535 h 583774"/>
                  <a:gd name="connsiteX19" fmla="*/ 280932 w 503968"/>
                  <a:gd name="connsiteY19" fmla="*/ 190336 h 583774"/>
                  <a:gd name="connsiteX20" fmla="*/ 308340 w 503968"/>
                  <a:gd name="connsiteY20" fmla="*/ 295151 h 583774"/>
                  <a:gd name="connsiteX21" fmla="*/ 245463 w 503968"/>
                  <a:gd name="connsiteY21" fmla="*/ 188723 h 583774"/>
                  <a:gd name="connsiteX22" fmla="*/ 240626 w 503968"/>
                  <a:gd name="connsiteY22" fmla="*/ 185498 h 583774"/>
                  <a:gd name="connsiteX23" fmla="*/ 234177 w 503968"/>
                  <a:gd name="connsiteY23" fmla="*/ 185498 h 583774"/>
                  <a:gd name="connsiteX24" fmla="*/ 230953 w 503968"/>
                  <a:gd name="connsiteY24" fmla="*/ 196786 h 583774"/>
                  <a:gd name="connsiteX25" fmla="*/ 234177 w 503968"/>
                  <a:gd name="connsiteY25" fmla="*/ 212911 h 583774"/>
                  <a:gd name="connsiteX26" fmla="*/ 237402 w 503968"/>
                  <a:gd name="connsiteY26" fmla="*/ 230649 h 583774"/>
                  <a:gd name="connsiteX27" fmla="*/ 235789 w 503968"/>
                  <a:gd name="connsiteY27" fmla="*/ 232262 h 583774"/>
                  <a:gd name="connsiteX28" fmla="*/ 219667 w 503968"/>
                  <a:gd name="connsiteY28" fmla="*/ 224199 h 583774"/>
                  <a:gd name="connsiteX29" fmla="*/ 218055 w 503968"/>
                  <a:gd name="connsiteY29" fmla="*/ 222587 h 583774"/>
                  <a:gd name="connsiteX30" fmla="*/ 209994 w 503968"/>
                  <a:gd name="connsiteY30" fmla="*/ 222587 h 583774"/>
                  <a:gd name="connsiteX31" fmla="*/ 206769 w 503968"/>
                  <a:gd name="connsiteY31" fmla="*/ 229037 h 583774"/>
                  <a:gd name="connsiteX32" fmla="*/ 208381 w 503968"/>
                  <a:gd name="connsiteY32" fmla="*/ 237099 h 583774"/>
                  <a:gd name="connsiteX33" fmla="*/ 282544 w 503968"/>
                  <a:gd name="connsiteY33" fmla="*/ 316114 h 583774"/>
                  <a:gd name="connsiteX34" fmla="*/ 280932 w 503968"/>
                  <a:gd name="connsiteY34" fmla="*/ 316114 h 583774"/>
                  <a:gd name="connsiteX35" fmla="*/ 189035 w 503968"/>
                  <a:gd name="connsiteY35" fmla="*/ 250000 h 583774"/>
                  <a:gd name="connsiteX36" fmla="*/ 180973 w 503968"/>
                  <a:gd name="connsiteY36" fmla="*/ 209686 h 583774"/>
                  <a:gd name="connsiteX37" fmla="*/ 205157 w 503968"/>
                  <a:gd name="connsiteY37" fmla="*/ 174210 h 583774"/>
                  <a:gd name="connsiteX38" fmla="*/ 234177 w 503968"/>
                  <a:gd name="connsiteY38" fmla="*/ 164535 h 583774"/>
                  <a:gd name="connsiteX39" fmla="*/ 234216 w 503968"/>
                  <a:gd name="connsiteY39" fmla="*/ 146750 h 583774"/>
                  <a:gd name="connsiteX40" fmla="*/ 193834 w 503968"/>
                  <a:gd name="connsiteY40" fmla="*/ 158038 h 583774"/>
                  <a:gd name="connsiteX41" fmla="*/ 172835 w 503968"/>
                  <a:gd name="connsiteY41" fmla="*/ 261247 h 583774"/>
                  <a:gd name="connsiteX42" fmla="*/ 279444 w 503968"/>
                  <a:gd name="connsiteY42" fmla="*/ 337041 h 583774"/>
                  <a:gd name="connsiteX43" fmla="*/ 282674 w 503968"/>
                  <a:gd name="connsiteY43" fmla="*/ 338654 h 583774"/>
                  <a:gd name="connsiteX44" fmla="*/ 327902 w 503968"/>
                  <a:gd name="connsiteY44" fmla="*/ 308013 h 583774"/>
                  <a:gd name="connsiteX45" fmla="*/ 327902 w 503968"/>
                  <a:gd name="connsiteY45" fmla="*/ 304788 h 583774"/>
                  <a:gd name="connsiteX46" fmla="*/ 297212 w 503968"/>
                  <a:gd name="connsiteY46" fmla="*/ 180615 h 583774"/>
                  <a:gd name="connsiteX47" fmla="*/ 234216 w 503968"/>
                  <a:gd name="connsiteY47" fmla="*/ 146750 h 583774"/>
                  <a:gd name="connsiteX48" fmla="*/ 106609 w 503968"/>
                  <a:gd name="connsiteY48" fmla="*/ 116110 h 583774"/>
                  <a:gd name="connsiteX49" fmla="*/ 95302 w 503968"/>
                  <a:gd name="connsiteY49" fmla="*/ 138687 h 583774"/>
                  <a:gd name="connsiteX50" fmla="*/ 140530 w 503968"/>
                  <a:gd name="connsiteY50" fmla="*/ 164489 h 583774"/>
                  <a:gd name="connsiteX51" fmla="*/ 151837 w 503968"/>
                  <a:gd name="connsiteY51" fmla="*/ 141912 h 583774"/>
                  <a:gd name="connsiteX52" fmla="*/ 251984 w 503968"/>
                  <a:gd name="connsiteY52" fmla="*/ 74181 h 583774"/>
                  <a:gd name="connsiteX53" fmla="*/ 221294 w 503968"/>
                  <a:gd name="connsiteY53" fmla="*/ 116110 h 583774"/>
                  <a:gd name="connsiteX54" fmla="*/ 240677 w 503968"/>
                  <a:gd name="connsiteY54" fmla="*/ 130624 h 583774"/>
                  <a:gd name="connsiteX55" fmla="*/ 271367 w 503968"/>
                  <a:gd name="connsiteY55" fmla="*/ 88695 h 583774"/>
                  <a:gd name="connsiteX56" fmla="*/ 179296 w 503968"/>
                  <a:gd name="connsiteY56" fmla="*/ 66118 h 583774"/>
                  <a:gd name="connsiteX57" fmla="*/ 155067 w 503968"/>
                  <a:gd name="connsiteY57" fmla="*/ 77407 h 583774"/>
                  <a:gd name="connsiteX58" fmla="*/ 176066 w 503968"/>
                  <a:gd name="connsiteY58" fmla="*/ 124173 h 583774"/>
                  <a:gd name="connsiteX59" fmla="*/ 198680 w 503968"/>
                  <a:gd name="connsiteY59" fmla="*/ 114497 h 583774"/>
                  <a:gd name="connsiteX60" fmla="*/ 239062 w 503968"/>
                  <a:gd name="connsiteY60" fmla="*/ 0 h 583774"/>
                  <a:gd name="connsiteX61" fmla="*/ 248753 w 503968"/>
                  <a:gd name="connsiteY61" fmla="*/ 0 h 583774"/>
                  <a:gd name="connsiteX62" fmla="*/ 258445 w 503968"/>
                  <a:gd name="connsiteY62" fmla="*/ 0 h 583774"/>
                  <a:gd name="connsiteX63" fmla="*/ 266522 w 503968"/>
                  <a:gd name="connsiteY63" fmla="*/ 0 h 583774"/>
                  <a:gd name="connsiteX64" fmla="*/ 276213 w 503968"/>
                  <a:gd name="connsiteY64" fmla="*/ 0 h 583774"/>
                  <a:gd name="connsiteX65" fmla="*/ 284290 w 503968"/>
                  <a:gd name="connsiteY65" fmla="*/ 1613 h 583774"/>
                  <a:gd name="connsiteX66" fmla="*/ 293981 w 503968"/>
                  <a:gd name="connsiteY66" fmla="*/ 1613 h 583774"/>
                  <a:gd name="connsiteX67" fmla="*/ 302058 w 503968"/>
                  <a:gd name="connsiteY67" fmla="*/ 3225 h 583774"/>
                  <a:gd name="connsiteX68" fmla="*/ 311749 w 503968"/>
                  <a:gd name="connsiteY68" fmla="*/ 4838 h 583774"/>
                  <a:gd name="connsiteX69" fmla="*/ 319826 w 503968"/>
                  <a:gd name="connsiteY69" fmla="*/ 6451 h 583774"/>
                  <a:gd name="connsiteX70" fmla="*/ 329518 w 503968"/>
                  <a:gd name="connsiteY70" fmla="*/ 8063 h 583774"/>
                  <a:gd name="connsiteX71" fmla="*/ 337594 w 503968"/>
                  <a:gd name="connsiteY71" fmla="*/ 11289 h 583774"/>
                  <a:gd name="connsiteX72" fmla="*/ 347286 w 503968"/>
                  <a:gd name="connsiteY72" fmla="*/ 12901 h 583774"/>
                  <a:gd name="connsiteX73" fmla="*/ 355362 w 503968"/>
                  <a:gd name="connsiteY73" fmla="*/ 16126 h 583774"/>
                  <a:gd name="connsiteX74" fmla="*/ 361823 w 503968"/>
                  <a:gd name="connsiteY74" fmla="*/ 17739 h 583774"/>
                  <a:gd name="connsiteX75" fmla="*/ 369900 w 503968"/>
                  <a:gd name="connsiteY75" fmla="*/ 20964 h 583774"/>
                  <a:gd name="connsiteX76" fmla="*/ 376361 w 503968"/>
                  <a:gd name="connsiteY76" fmla="*/ 24190 h 583774"/>
                  <a:gd name="connsiteX77" fmla="*/ 384437 w 503968"/>
                  <a:gd name="connsiteY77" fmla="*/ 27415 h 583774"/>
                  <a:gd name="connsiteX78" fmla="*/ 390898 w 503968"/>
                  <a:gd name="connsiteY78" fmla="*/ 30640 h 583774"/>
                  <a:gd name="connsiteX79" fmla="*/ 397359 w 503968"/>
                  <a:gd name="connsiteY79" fmla="*/ 33865 h 583774"/>
                  <a:gd name="connsiteX80" fmla="*/ 403821 w 503968"/>
                  <a:gd name="connsiteY80" fmla="*/ 37091 h 583774"/>
                  <a:gd name="connsiteX81" fmla="*/ 410282 w 503968"/>
                  <a:gd name="connsiteY81" fmla="*/ 41929 h 583774"/>
                  <a:gd name="connsiteX82" fmla="*/ 415127 w 503968"/>
                  <a:gd name="connsiteY82" fmla="*/ 46766 h 583774"/>
                  <a:gd name="connsiteX83" fmla="*/ 421589 w 503968"/>
                  <a:gd name="connsiteY83" fmla="*/ 49992 h 583774"/>
                  <a:gd name="connsiteX84" fmla="*/ 410282 w 503968"/>
                  <a:gd name="connsiteY84" fmla="*/ 54830 h 583774"/>
                  <a:gd name="connsiteX85" fmla="*/ 415127 w 503968"/>
                  <a:gd name="connsiteY85" fmla="*/ 59668 h 583774"/>
                  <a:gd name="connsiteX86" fmla="*/ 421589 w 503968"/>
                  <a:gd name="connsiteY86" fmla="*/ 64505 h 583774"/>
                  <a:gd name="connsiteX87" fmla="*/ 426434 w 503968"/>
                  <a:gd name="connsiteY87" fmla="*/ 70956 h 583774"/>
                  <a:gd name="connsiteX88" fmla="*/ 431280 w 503968"/>
                  <a:gd name="connsiteY88" fmla="*/ 75794 h 583774"/>
                  <a:gd name="connsiteX89" fmla="*/ 436126 w 503968"/>
                  <a:gd name="connsiteY89" fmla="*/ 82244 h 583774"/>
                  <a:gd name="connsiteX90" fmla="*/ 440972 w 503968"/>
                  <a:gd name="connsiteY90" fmla="*/ 88695 h 583774"/>
                  <a:gd name="connsiteX91" fmla="*/ 447433 w 503968"/>
                  <a:gd name="connsiteY91" fmla="*/ 96758 h 583774"/>
                  <a:gd name="connsiteX92" fmla="*/ 452279 w 503968"/>
                  <a:gd name="connsiteY92" fmla="*/ 104821 h 583774"/>
                  <a:gd name="connsiteX93" fmla="*/ 457125 w 503968"/>
                  <a:gd name="connsiteY93" fmla="*/ 112885 h 583774"/>
                  <a:gd name="connsiteX94" fmla="*/ 442587 w 503968"/>
                  <a:gd name="connsiteY94" fmla="*/ 120948 h 583774"/>
                  <a:gd name="connsiteX95" fmla="*/ 447433 w 503968"/>
                  <a:gd name="connsiteY95" fmla="*/ 129011 h 583774"/>
                  <a:gd name="connsiteX96" fmla="*/ 452279 w 503968"/>
                  <a:gd name="connsiteY96" fmla="*/ 137074 h 583774"/>
                  <a:gd name="connsiteX97" fmla="*/ 455510 w 503968"/>
                  <a:gd name="connsiteY97" fmla="*/ 146750 h 583774"/>
                  <a:gd name="connsiteX98" fmla="*/ 460355 w 503968"/>
                  <a:gd name="connsiteY98" fmla="*/ 154813 h 583774"/>
                  <a:gd name="connsiteX99" fmla="*/ 463586 w 503968"/>
                  <a:gd name="connsiteY99" fmla="*/ 164489 h 583774"/>
                  <a:gd name="connsiteX100" fmla="*/ 466817 w 503968"/>
                  <a:gd name="connsiteY100" fmla="*/ 174165 h 583774"/>
                  <a:gd name="connsiteX101" fmla="*/ 470047 w 503968"/>
                  <a:gd name="connsiteY101" fmla="*/ 183841 h 583774"/>
                  <a:gd name="connsiteX102" fmla="*/ 473278 w 503968"/>
                  <a:gd name="connsiteY102" fmla="*/ 191904 h 583774"/>
                  <a:gd name="connsiteX103" fmla="*/ 474893 w 503968"/>
                  <a:gd name="connsiteY103" fmla="*/ 201579 h 583774"/>
                  <a:gd name="connsiteX104" fmla="*/ 478123 w 503968"/>
                  <a:gd name="connsiteY104" fmla="*/ 211255 h 583774"/>
                  <a:gd name="connsiteX105" fmla="*/ 479739 w 503968"/>
                  <a:gd name="connsiteY105" fmla="*/ 220931 h 583774"/>
                  <a:gd name="connsiteX106" fmla="*/ 478123 w 503968"/>
                  <a:gd name="connsiteY106" fmla="*/ 225769 h 583774"/>
                  <a:gd name="connsiteX107" fmla="*/ 476508 w 503968"/>
                  <a:gd name="connsiteY107" fmla="*/ 230607 h 583774"/>
                  <a:gd name="connsiteX108" fmla="*/ 474893 w 503968"/>
                  <a:gd name="connsiteY108" fmla="*/ 235445 h 583774"/>
                  <a:gd name="connsiteX109" fmla="*/ 473278 w 503968"/>
                  <a:gd name="connsiteY109" fmla="*/ 240283 h 583774"/>
                  <a:gd name="connsiteX110" fmla="*/ 476508 w 503968"/>
                  <a:gd name="connsiteY110" fmla="*/ 249959 h 583774"/>
                  <a:gd name="connsiteX111" fmla="*/ 479739 w 503968"/>
                  <a:gd name="connsiteY111" fmla="*/ 261247 h 583774"/>
                  <a:gd name="connsiteX112" fmla="*/ 482969 w 503968"/>
                  <a:gd name="connsiteY112" fmla="*/ 270923 h 583774"/>
                  <a:gd name="connsiteX113" fmla="*/ 487815 w 503968"/>
                  <a:gd name="connsiteY113" fmla="*/ 282211 h 583774"/>
                  <a:gd name="connsiteX114" fmla="*/ 491046 w 503968"/>
                  <a:gd name="connsiteY114" fmla="*/ 291887 h 583774"/>
                  <a:gd name="connsiteX115" fmla="*/ 495892 w 503968"/>
                  <a:gd name="connsiteY115" fmla="*/ 303176 h 583774"/>
                  <a:gd name="connsiteX116" fmla="*/ 499122 w 503968"/>
                  <a:gd name="connsiteY116" fmla="*/ 314464 h 583774"/>
                  <a:gd name="connsiteX117" fmla="*/ 503968 w 503968"/>
                  <a:gd name="connsiteY117" fmla="*/ 327365 h 583774"/>
                  <a:gd name="connsiteX118" fmla="*/ 503968 w 503968"/>
                  <a:gd name="connsiteY118" fmla="*/ 328978 h 583774"/>
                  <a:gd name="connsiteX119" fmla="*/ 502353 w 503968"/>
                  <a:gd name="connsiteY119" fmla="*/ 332203 h 583774"/>
                  <a:gd name="connsiteX120" fmla="*/ 500737 w 503968"/>
                  <a:gd name="connsiteY120" fmla="*/ 335428 h 583774"/>
                  <a:gd name="connsiteX121" fmla="*/ 499122 w 503968"/>
                  <a:gd name="connsiteY121" fmla="*/ 337041 h 583774"/>
                  <a:gd name="connsiteX122" fmla="*/ 495892 w 503968"/>
                  <a:gd name="connsiteY122" fmla="*/ 340266 h 583774"/>
                  <a:gd name="connsiteX123" fmla="*/ 492661 w 503968"/>
                  <a:gd name="connsiteY123" fmla="*/ 341879 h 583774"/>
                  <a:gd name="connsiteX124" fmla="*/ 487815 w 503968"/>
                  <a:gd name="connsiteY124" fmla="*/ 343491 h 583774"/>
                  <a:gd name="connsiteX125" fmla="*/ 482969 w 503968"/>
                  <a:gd name="connsiteY125" fmla="*/ 346717 h 583774"/>
                  <a:gd name="connsiteX126" fmla="*/ 482969 w 503968"/>
                  <a:gd name="connsiteY126" fmla="*/ 354780 h 583774"/>
                  <a:gd name="connsiteX127" fmla="*/ 484585 w 503968"/>
                  <a:gd name="connsiteY127" fmla="*/ 362843 h 583774"/>
                  <a:gd name="connsiteX128" fmla="*/ 486200 w 503968"/>
                  <a:gd name="connsiteY128" fmla="*/ 372519 h 583774"/>
                  <a:gd name="connsiteX129" fmla="*/ 489430 w 503968"/>
                  <a:gd name="connsiteY129" fmla="*/ 382195 h 583774"/>
                  <a:gd name="connsiteX130" fmla="*/ 489430 w 503968"/>
                  <a:gd name="connsiteY130" fmla="*/ 385420 h 583774"/>
                  <a:gd name="connsiteX131" fmla="*/ 489430 w 503968"/>
                  <a:gd name="connsiteY131" fmla="*/ 388645 h 583774"/>
                  <a:gd name="connsiteX132" fmla="*/ 487815 w 503968"/>
                  <a:gd name="connsiteY132" fmla="*/ 390258 h 583774"/>
                  <a:gd name="connsiteX133" fmla="*/ 486200 w 503968"/>
                  <a:gd name="connsiteY133" fmla="*/ 393483 h 583774"/>
                  <a:gd name="connsiteX134" fmla="*/ 482969 w 503968"/>
                  <a:gd name="connsiteY134" fmla="*/ 395096 h 583774"/>
                  <a:gd name="connsiteX135" fmla="*/ 479739 w 503968"/>
                  <a:gd name="connsiteY135" fmla="*/ 398321 h 583774"/>
                  <a:gd name="connsiteX136" fmla="*/ 476508 w 503968"/>
                  <a:gd name="connsiteY136" fmla="*/ 399934 h 583774"/>
                  <a:gd name="connsiteX137" fmla="*/ 473278 w 503968"/>
                  <a:gd name="connsiteY137" fmla="*/ 401546 h 583774"/>
                  <a:gd name="connsiteX138" fmla="*/ 476508 w 503968"/>
                  <a:gd name="connsiteY138" fmla="*/ 403159 h 583774"/>
                  <a:gd name="connsiteX139" fmla="*/ 479739 w 503968"/>
                  <a:gd name="connsiteY139" fmla="*/ 406384 h 583774"/>
                  <a:gd name="connsiteX140" fmla="*/ 481354 w 503968"/>
                  <a:gd name="connsiteY140" fmla="*/ 407997 h 583774"/>
                  <a:gd name="connsiteX141" fmla="*/ 484585 w 503968"/>
                  <a:gd name="connsiteY141" fmla="*/ 411222 h 583774"/>
                  <a:gd name="connsiteX142" fmla="*/ 484585 w 503968"/>
                  <a:gd name="connsiteY142" fmla="*/ 414447 h 583774"/>
                  <a:gd name="connsiteX143" fmla="*/ 486200 w 503968"/>
                  <a:gd name="connsiteY143" fmla="*/ 417673 h 583774"/>
                  <a:gd name="connsiteX144" fmla="*/ 486200 w 503968"/>
                  <a:gd name="connsiteY144" fmla="*/ 419285 h 583774"/>
                  <a:gd name="connsiteX145" fmla="*/ 486200 w 503968"/>
                  <a:gd name="connsiteY145" fmla="*/ 422511 h 583774"/>
                  <a:gd name="connsiteX146" fmla="*/ 486200 w 503968"/>
                  <a:gd name="connsiteY146" fmla="*/ 425736 h 583774"/>
                  <a:gd name="connsiteX147" fmla="*/ 486200 w 503968"/>
                  <a:gd name="connsiteY147" fmla="*/ 428961 h 583774"/>
                  <a:gd name="connsiteX148" fmla="*/ 484585 w 503968"/>
                  <a:gd name="connsiteY148" fmla="*/ 430574 h 583774"/>
                  <a:gd name="connsiteX149" fmla="*/ 482969 w 503968"/>
                  <a:gd name="connsiteY149" fmla="*/ 433799 h 583774"/>
                  <a:gd name="connsiteX150" fmla="*/ 481354 w 503968"/>
                  <a:gd name="connsiteY150" fmla="*/ 435412 h 583774"/>
                  <a:gd name="connsiteX151" fmla="*/ 479739 w 503968"/>
                  <a:gd name="connsiteY151" fmla="*/ 438637 h 583774"/>
                  <a:gd name="connsiteX152" fmla="*/ 478123 w 503968"/>
                  <a:gd name="connsiteY152" fmla="*/ 440250 h 583774"/>
                  <a:gd name="connsiteX153" fmla="*/ 476508 w 503968"/>
                  <a:gd name="connsiteY153" fmla="*/ 443475 h 583774"/>
                  <a:gd name="connsiteX154" fmla="*/ 476508 w 503968"/>
                  <a:gd name="connsiteY154" fmla="*/ 449925 h 583774"/>
                  <a:gd name="connsiteX155" fmla="*/ 478123 w 503968"/>
                  <a:gd name="connsiteY155" fmla="*/ 457989 h 583774"/>
                  <a:gd name="connsiteX156" fmla="*/ 478123 w 503968"/>
                  <a:gd name="connsiteY156" fmla="*/ 464439 h 583774"/>
                  <a:gd name="connsiteX157" fmla="*/ 478123 w 503968"/>
                  <a:gd name="connsiteY157" fmla="*/ 470890 h 583774"/>
                  <a:gd name="connsiteX158" fmla="*/ 474893 w 503968"/>
                  <a:gd name="connsiteY158" fmla="*/ 474115 h 583774"/>
                  <a:gd name="connsiteX159" fmla="*/ 473278 w 503968"/>
                  <a:gd name="connsiteY159" fmla="*/ 475728 h 583774"/>
                  <a:gd name="connsiteX160" fmla="*/ 470047 w 503968"/>
                  <a:gd name="connsiteY160" fmla="*/ 478953 h 583774"/>
                  <a:gd name="connsiteX161" fmla="*/ 466817 w 503968"/>
                  <a:gd name="connsiteY161" fmla="*/ 480565 h 583774"/>
                  <a:gd name="connsiteX162" fmla="*/ 463586 w 503968"/>
                  <a:gd name="connsiteY162" fmla="*/ 483791 h 583774"/>
                  <a:gd name="connsiteX163" fmla="*/ 458740 w 503968"/>
                  <a:gd name="connsiteY163" fmla="*/ 483791 h 583774"/>
                  <a:gd name="connsiteX164" fmla="*/ 455510 w 503968"/>
                  <a:gd name="connsiteY164" fmla="*/ 485403 h 583774"/>
                  <a:gd name="connsiteX165" fmla="*/ 452279 w 503968"/>
                  <a:gd name="connsiteY165" fmla="*/ 485403 h 583774"/>
                  <a:gd name="connsiteX166" fmla="*/ 445818 w 503968"/>
                  <a:gd name="connsiteY166" fmla="*/ 485403 h 583774"/>
                  <a:gd name="connsiteX167" fmla="*/ 440972 w 503968"/>
                  <a:gd name="connsiteY167" fmla="*/ 485403 h 583774"/>
                  <a:gd name="connsiteX168" fmla="*/ 434511 w 503968"/>
                  <a:gd name="connsiteY168" fmla="*/ 483791 h 583774"/>
                  <a:gd name="connsiteX169" fmla="*/ 437741 w 503968"/>
                  <a:gd name="connsiteY169" fmla="*/ 483791 h 583774"/>
                  <a:gd name="connsiteX170" fmla="*/ 432896 w 503968"/>
                  <a:gd name="connsiteY170" fmla="*/ 482178 h 583774"/>
                  <a:gd name="connsiteX171" fmla="*/ 428050 w 503968"/>
                  <a:gd name="connsiteY171" fmla="*/ 482178 h 583774"/>
                  <a:gd name="connsiteX172" fmla="*/ 423204 w 503968"/>
                  <a:gd name="connsiteY172" fmla="*/ 482178 h 583774"/>
                  <a:gd name="connsiteX173" fmla="*/ 418358 w 503968"/>
                  <a:gd name="connsiteY173" fmla="*/ 480565 h 583774"/>
                  <a:gd name="connsiteX174" fmla="*/ 416743 w 503968"/>
                  <a:gd name="connsiteY174" fmla="*/ 480565 h 583774"/>
                  <a:gd name="connsiteX175" fmla="*/ 411897 w 503968"/>
                  <a:gd name="connsiteY175" fmla="*/ 482178 h 583774"/>
                  <a:gd name="connsiteX176" fmla="*/ 407051 w 503968"/>
                  <a:gd name="connsiteY176" fmla="*/ 482178 h 583774"/>
                  <a:gd name="connsiteX177" fmla="*/ 402205 w 503968"/>
                  <a:gd name="connsiteY177" fmla="*/ 482178 h 583774"/>
                  <a:gd name="connsiteX178" fmla="*/ 398975 w 503968"/>
                  <a:gd name="connsiteY178" fmla="*/ 483791 h 583774"/>
                  <a:gd name="connsiteX179" fmla="*/ 395744 w 503968"/>
                  <a:gd name="connsiteY179" fmla="*/ 485403 h 583774"/>
                  <a:gd name="connsiteX180" fmla="*/ 392514 w 503968"/>
                  <a:gd name="connsiteY180" fmla="*/ 487016 h 583774"/>
                  <a:gd name="connsiteX181" fmla="*/ 390898 w 503968"/>
                  <a:gd name="connsiteY181" fmla="*/ 488629 h 583774"/>
                  <a:gd name="connsiteX182" fmla="*/ 389283 w 503968"/>
                  <a:gd name="connsiteY182" fmla="*/ 491854 h 583774"/>
                  <a:gd name="connsiteX183" fmla="*/ 387668 w 503968"/>
                  <a:gd name="connsiteY183" fmla="*/ 495079 h 583774"/>
                  <a:gd name="connsiteX184" fmla="*/ 386052 w 503968"/>
                  <a:gd name="connsiteY184" fmla="*/ 499917 h 583774"/>
                  <a:gd name="connsiteX185" fmla="*/ 384437 w 503968"/>
                  <a:gd name="connsiteY185" fmla="*/ 516043 h 583774"/>
                  <a:gd name="connsiteX186" fmla="*/ 382822 w 503968"/>
                  <a:gd name="connsiteY186" fmla="*/ 548296 h 583774"/>
                  <a:gd name="connsiteX187" fmla="*/ 382822 w 503968"/>
                  <a:gd name="connsiteY187" fmla="*/ 564422 h 583774"/>
                  <a:gd name="connsiteX188" fmla="*/ 382822 w 503968"/>
                  <a:gd name="connsiteY188" fmla="*/ 578936 h 583774"/>
                  <a:gd name="connsiteX189" fmla="*/ 381207 w 503968"/>
                  <a:gd name="connsiteY189" fmla="*/ 583774 h 583774"/>
                  <a:gd name="connsiteX190" fmla="*/ 130838 w 503968"/>
                  <a:gd name="connsiteY190" fmla="*/ 583774 h 583774"/>
                  <a:gd name="connsiteX191" fmla="*/ 129223 w 503968"/>
                  <a:gd name="connsiteY191" fmla="*/ 537008 h 583774"/>
                  <a:gd name="connsiteX192" fmla="*/ 129223 w 503968"/>
                  <a:gd name="connsiteY192" fmla="*/ 522494 h 583774"/>
                  <a:gd name="connsiteX193" fmla="*/ 58150 w 503968"/>
                  <a:gd name="connsiteY193" fmla="*/ 370906 h 583774"/>
                  <a:gd name="connsiteX194" fmla="*/ 14538 w 503968"/>
                  <a:gd name="connsiteY194" fmla="*/ 299950 h 583774"/>
                  <a:gd name="connsiteX195" fmla="*/ 9692 w 503968"/>
                  <a:gd name="connsiteY195" fmla="*/ 283824 h 583774"/>
                  <a:gd name="connsiteX196" fmla="*/ 4846 w 503968"/>
                  <a:gd name="connsiteY196" fmla="*/ 266085 h 583774"/>
                  <a:gd name="connsiteX197" fmla="*/ 1615 w 503968"/>
                  <a:gd name="connsiteY197" fmla="*/ 248346 h 583774"/>
                  <a:gd name="connsiteX198" fmla="*/ 0 w 503968"/>
                  <a:gd name="connsiteY198" fmla="*/ 232220 h 583774"/>
                  <a:gd name="connsiteX199" fmla="*/ 0 w 503968"/>
                  <a:gd name="connsiteY199" fmla="*/ 214481 h 583774"/>
                  <a:gd name="connsiteX200" fmla="*/ 0 w 503968"/>
                  <a:gd name="connsiteY200" fmla="*/ 196742 h 583774"/>
                  <a:gd name="connsiteX201" fmla="*/ 3231 w 503968"/>
                  <a:gd name="connsiteY201" fmla="*/ 179003 h 583774"/>
                  <a:gd name="connsiteX202" fmla="*/ 4846 w 503968"/>
                  <a:gd name="connsiteY202" fmla="*/ 170939 h 583774"/>
                  <a:gd name="connsiteX203" fmla="*/ 6461 w 503968"/>
                  <a:gd name="connsiteY203" fmla="*/ 161264 h 583774"/>
                  <a:gd name="connsiteX204" fmla="*/ 9692 w 503968"/>
                  <a:gd name="connsiteY204" fmla="*/ 153200 h 583774"/>
                  <a:gd name="connsiteX205" fmla="*/ 12922 w 503968"/>
                  <a:gd name="connsiteY205" fmla="*/ 145137 h 583774"/>
                  <a:gd name="connsiteX206" fmla="*/ 16153 w 503968"/>
                  <a:gd name="connsiteY206" fmla="*/ 137074 h 583774"/>
                  <a:gd name="connsiteX207" fmla="*/ 19383 w 503968"/>
                  <a:gd name="connsiteY207" fmla="*/ 129011 h 583774"/>
                  <a:gd name="connsiteX208" fmla="*/ 24229 w 503968"/>
                  <a:gd name="connsiteY208" fmla="*/ 120948 h 583774"/>
                  <a:gd name="connsiteX209" fmla="*/ 27460 w 503968"/>
                  <a:gd name="connsiteY209" fmla="*/ 112885 h 583774"/>
                  <a:gd name="connsiteX210" fmla="*/ 32306 w 503968"/>
                  <a:gd name="connsiteY210" fmla="*/ 104821 h 583774"/>
                  <a:gd name="connsiteX211" fmla="*/ 37151 w 503968"/>
                  <a:gd name="connsiteY211" fmla="*/ 96758 h 583774"/>
                  <a:gd name="connsiteX212" fmla="*/ 43613 w 503968"/>
                  <a:gd name="connsiteY212" fmla="*/ 90308 h 583774"/>
                  <a:gd name="connsiteX213" fmla="*/ 48458 w 503968"/>
                  <a:gd name="connsiteY213" fmla="*/ 83857 h 583774"/>
                  <a:gd name="connsiteX214" fmla="*/ 54920 w 503968"/>
                  <a:gd name="connsiteY214" fmla="*/ 75794 h 583774"/>
                  <a:gd name="connsiteX215" fmla="*/ 61381 w 503968"/>
                  <a:gd name="connsiteY215" fmla="*/ 70956 h 583774"/>
                  <a:gd name="connsiteX216" fmla="*/ 66227 w 503968"/>
                  <a:gd name="connsiteY216" fmla="*/ 64505 h 583774"/>
                  <a:gd name="connsiteX217" fmla="*/ 74303 w 503968"/>
                  <a:gd name="connsiteY217" fmla="*/ 58055 h 583774"/>
                  <a:gd name="connsiteX218" fmla="*/ 80764 w 503968"/>
                  <a:gd name="connsiteY218" fmla="*/ 53217 h 583774"/>
                  <a:gd name="connsiteX219" fmla="*/ 88841 w 503968"/>
                  <a:gd name="connsiteY219" fmla="*/ 46766 h 583774"/>
                  <a:gd name="connsiteX220" fmla="*/ 96917 w 503968"/>
                  <a:gd name="connsiteY220" fmla="*/ 41929 h 583774"/>
                  <a:gd name="connsiteX221" fmla="*/ 104993 w 503968"/>
                  <a:gd name="connsiteY221" fmla="*/ 37091 h 583774"/>
                  <a:gd name="connsiteX222" fmla="*/ 113070 w 503968"/>
                  <a:gd name="connsiteY222" fmla="*/ 32253 h 583774"/>
                  <a:gd name="connsiteX223" fmla="*/ 121146 w 503968"/>
                  <a:gd name="connsiteY223" fmla="*/ 29027 h 583774"/>
                  <a:gd name="connsiteX224" fmla="*/ 129223 w 503968"/>
                  <a:gd name="connsiteY224" fmla="*/ 24190 h 583774"/>
                  <a:gd name="connsiteX225" fmla="*/ 138914 w 503968"/>
                  <a:gd name="connsiteY225" fmla="*/ 20964 h 583774"/>
                  <a:gd name="connsiteX226" fmla="*/ 146991 w 503968"/>
                  <a:gd name="connsiteY226" fmla="*/ 17739 h 583774"/>
                  <a:gd name="connsiteX227" fmla="*/ 156682 w 503968"/>
                  <a:gd name="connsiteY227" fmla="*/ 14514 h 583774"/>
                  <a:gd name="connsiteX228" fmla="*/ 166374 w 503968"/>
                  <a:gd name="connsiteY228" fmla="*/ 12901 h 583774"/>
                  <a:gd name="connsiteX229" fmla="*/ 176066 w 503968"/>
                  <a:gd name="connsiteY229" fmla="*/ 9676 h 583774"/>
                  <a:gd name="connsiteX230" fmla="*/ 184142 w 503968"/>
                  <a:gd name="connsiteY230" fmla="*/ 8063 h 583774"/>
                  <a:gd name="connsiteX231" fmla="*/ 193834 w 503968"/>
                  <a:gd name="connsiteY231" fmla="*/ 6451 h 583774"/>
                  <a:gd name="connsiteX232" fmla="*/ 203526 w 503968"/>
                  <a:gd name="connsiteY232" fmla="*/ 4838 h 583774"/>
                  <a:gd name="connsiteX233" fmla="*/ 213217 w 503968"/>
                  <a:gd name="connsiteY233" fmla="*/ 3225 h 583774"/>
                  <a:gd name="connsiteX234" fmla="*/ 221294 w 503968"/>
                  <a:gd name="connsiteY234" fmla="*/ 1613 h 583774"/>
                  <a:gd name="connsiteX235" fmla="*/ 230985 w 503968"/>
                  <a:gd name="connsiteY235" fmla="*/ 1613 h 583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503968" h="583774">
                    <a:moveTo>
                      <a:pt x="339209" y="314464"/>
                    </a:moveTo>
                    <a:lnTo>
                      <a:pt x="285905" y="348329"/>
                    </a:lnTo>
                    <a:lnTo>
                      <a:pt x="306904" y="378969"/>
                    </a:lnTo>
                    <a:cubicBezTo>
                      <a:pt x="306904" y="380582"/>
                      <a:pt x="308519" y="382195"/>
                      <a:pt x="308519" y="383807"/>
                    </a:cubicBezTo>
                    <a:cubicBezTo>
                      <a:pt x="310134" y="383807"/>
                      <a:pt x="313365" y="390258"/>
                      <a:pt x="321441" y="391870"/>
                    </a:cubicBezTo>
                    <a:cubicBezTo>
                      <a:pt x="323056" y="391870"/>
                      <a:pt x="324672" y="391870"/>
                      <a:pt x="326287" y="391870"/>
                    </a:cubicBezTo>
                    <a:cubicBezTo>
                      <a:pt x="332748" y="391870"/>
                      <a:pt x="339209" y="390258"/>
                      <a:pt x="347286" y="385420"/>
                    </a:cubicBezTo>
                    <a:cubicBezTo>
                      <a:pt x="366669" y="372519"/>
                      <a:pt x="365054" y="358005"/>
                      <a:pt x="363438" y="353167"/>
                    </a:cubicBezTo>
                    <a:cubicBezTo>
                      <a:pt x="363438" y="351555"/>
                      <a:pt x="361823" y="349942"/>
                      <a:pt x="361823" y="348329"/>
                    </a:cubicBezTo>
                    <a:cubicBezTo>
                      <a:pt x="361823" y="348329"/>
                      <a:pt x="360208" y="346717"/>
                      <a:pt x="360208" y="345104"/>
                    </a:cubicBezTo>
                    <a:close/>
                    <a:moveTo>
                      <a:pt x="251958" y="233717"/>
                    </a:moveTo>
                    <a:lnTo>
                      <a:pt x="290720" y="298235"/>
                    </a:lnTo>
                    <a:cubicBezTo>
                      <a:pt x="274569" y="282106"/>
                      <a:pt x="258418" y="265976"/>
                      <a:pt x="242267" y="248234"/>
                    </a:cubicBezTo>
                    <a:cubicBezTo>
                      <a:pt x="245497" y="246621"/>
                      <a:pt x="250343" y="243395"/>
                      <a:pt x="251958" y="233717"/>
                    </a:cubicBezTo>
                    <a:close/>
                    <a:moveTo>
                      <a:pt x="140530" y="180615"/>
                    </a:moveTo>
                    <a:lnTo>
                      <a:pt x="82379" y="193516"/>
                    </a:lnTo>
                    <a:lnTo>
                      <a:pt x="88841" y="217706"/>
                    </a:lnTo>
                    <a:lnTo>
                      <a:pt x="145375" y="204805"/>
                    </a:lnTo>
                    <a:close/>
                    <a:moveTo>
                      <a:pt x="234177" y="164535"/>
                    </a:moveTo>
                    <a:cubicBezTo>
                      <a:pt x="253524" y="164535"/>
                      <a:pt x="271259" y="174210"/>
                      <a:pt x="280932" y="190336"/>
                    </a:cubicBezTo>
                    <a:cubicBezTo>
                      <a:pt x="293830" y="209686"/>
                      <a:pt x="305116" y="270963"/>
                      <a:pt x="308340" y="295151"/>
                    </a:cubicBezTo>
                    <a:lnTo>
                      <a:pt x="245463" y="188723"/>
                    </a:lnTo>
                    <a:cubicBezTo>
                      <a:pt x="243851" y="187111"/>
                      <a:pt x="242238" y="185498"/>
                      <a:pt x="240626" y="185498"/>
                    </a:cubicBezTo>
                    <a:cubicBezTo>
                      <a:pt x="239014" y="185498"/>
                      <a:pt x="235789" y="185498"/>
                      <a:pt x="234177" y="185498"/>
                    </a:cubicBezTo>
                    <a:cubicBezTo>
                      <a:pt x="230953" y="188723"/>
                      <a:pt x="229341" y="193561"/>
                      <a:pt x="230953" y="196786"/>
                    </a:cubicBezTo>
                    <a:cubicBezTo>
                      <a:pt x="232565" y="201624"/>
                      <a:pt x="234177" y="206461"/>
                      <a:pt x="234177" y="212911"/>
                    </a:cubicBezTo>
                    <a:cubicBezTo>
                      <a:pt x="235789" y="219362"/>
                      <a:pt x="237402" y="225812"/>
                      <a:pt x="237402" y="230649"/>
                    </a:cubicBezTo>
                    <a:cubicBezTo>
                      <a:pt x="237402" y="232262"/>
                      <a:pt x="235789" y="232262"/>
                      <a:pt x="235789" y="232262"/>
                    </a:cubicBezTo>
                    <a:cubicBezTo>
                      <a:pt x="235789" y="232262"/>
                      <a:pt x="230953" y="232262"/>
                      <a:pt x="219667" y="224199"/>
                    </a:cubicBezTo>
                    <a:lnTo>
                      <a:pt x="218055" y="222587"/>
                    </a:lnTo>
                    <a:cubicBezTo>
                      <a:pt x="216443" y="220974"/>
                      <a:pt x="213218" y="220974"/>
                      <a:pt x="209994" y="222587"/>
                    </a:cubicBezTo>
                    <a:cubicBezTo>
                      <a:pt x="206769" y="224199"/>
                      <a:pt x="206769" y="227424"/>
                      <a:pt x="206769" y="229037"/>
                    </a:cubicBezTo>
                    <a:cubicBezTo>
                      <a:pt x="206769" y="230649"/>
                      <a:pt x="206769" y="233874"/>
                      <a:pt x="208381" y="237099"/>
                    </a:cubicBezTo>
                    <a:cubicBezTo>
                      <a:pt x="232565" y="264513"/>
                      <a:pt x="258361" y="291926"/>
                      <a:pt x="282544" y="316114"/>
                    </a:cubicBezTo>
                    <a:lnTo>
                      <a:pt x="280932" y="316114"/>
                    </a:lnTo>
                    <a:cubicBezTo>
                      <a:pt x="251912" y="299989"/>
                      <a:pt x="200320" y="269350"/>
                      <a:pt x="189035" y="250000"/>
                    </a:cubicBezTo>
                    <a:cubicBezTo>
                      <a:pt x="180973" y="238712"/>
                      <a:pt x="177749" y="224199"/>
                      <a:pt x="180973" y="209686"/>
                    </a:cubicBezTo>
                    <a:cubicBezTo>
                      <a:pt x="184198" y="195173"/>
                      <a:pt x="192259" y="182273"/>
                      <a:pt x="205157" y="174210"/>
                    </a:cubicBezTo>
                    <a:cubicBezTo>
                      <a:pt x="213218" y="167760"/>
                      <a:pt x="224504" y="164535"/>
                      <a:pt x="234177" y="164535"/>
                    </a:cubicBezTo>
                    <a:close/>
                    <a:moveTo>
                      <a:pt x="234216" y="146750"/>
                    </a:moveTo>
                    <a:cubicBezTo>
                      <a:pt x="219678" y="146750"/>
                      <a:pt x="206756" y="149975"/>
                      <a:pt x="193834" y="158038"/>
                    </a:cubicBezTo>
                    <a:cubicBezTo>
                      <a:pt x="159913" y="180615"/>
                      <a:pt x="150221" y="225769"/>
                      <a:pt x="172835" y="261247"/>
                    </a:cubicBezTo>
                    <a:cubicBezTo>
                      <a:pt x="192219" y="290274"/>
                      <a:pt x="276213" y="335428"/>
                      <a:pt x="279444" y="337041"/>
                    </a:cubicBezTo>
                    <a:lnTo>
                      <a:pt x="282674" y="338654"/>
                    </a:lnTo>
                    <a:lnTo>
                      <a:pt x="327902" y="308013"/>
                    </a:lnTo>
                    <a:lnTo>
                      <a:pt x="327902" y="304788"/>
                    </a:lnTo>
                    <a:cubicBezTo>
                      <a:pt x="326287" y="295112"/>
                      <a:pt x="314980" y="209643"/>
                      <a:pt x="297212" y="180615"/>
                    </a:cubicBezTo>
                    <a:cubicBezTo>
                      <a:pt x="282674" y="159651"/>
                      <a:pt x="260060" y="146750"/>
                      <a:pt x="234216" y="146750"/>
                    </a:cubicBezTo>
                    <a:close/>
                    <a:moveTo>
                      <a:pt x="106609" y="116110"/>
                    </a:moveTo>
                    <a:lnTo>
                      <a:pt x="95302" y="138687"/>
                    </a:lnTo>
                    <a:lnTo>
                      <a:pt x="140530" y="164489"/>
                    </a:lnTo>
                    <a:lnTo>
                      <a:pt x="151837" y="141912"/>
                    </a:lnTo>
                    <a:close/>
                    <a:moveTo>
                      <a:pt x="251984" y="74181"/>
                    </a:moveTo>
                    <a:lnTo>
                      <a:pt x="221294" y="116110"/>
                    </a:lnTo>
                    <a:lnTo>
                      <a:pt x="240677" y="130624"/>
                    </a:lnTo>
                    <a:lnTo>
                      <a:pt x="271367" y="88695"/>
                    </a:lnTo>
                    <a:close/>
                    <a:moveTo>
                      <a:pt x="179296" y="66118"/>
                    </a:moveTo>
                    <a:lnTo>
                      <a:pt x="155067" y="77407"/>
                    </a:lnTo>
                    <a:lnTo>
                      <a:pt x="176066" y="124173"/>
                    </a:lnTo>
                    <a:lnTo>
                      <a:pt x="198680" y="114497"/>
                    </a:lnTo>
                    <a:close/>
                    <a:moveTo>
                      <a:pt x="239062" y="0"/>
                    </a:moveTo>
                    <a:lnTo>
                      <a:pt x="248753" y="0"/>
                    </a:lnTo>
                    <a:lnTo>
                      <a:pt x="258445" y="0"/>
                    </a:lnTo>
                    <a:lnTo>
                      <a:pt x="266522" y="0"/>
                    </a:lnTo>
                    <a:lnTo>
                      <a:pt x="276213" y="0"/>
                    </a:lnTo>
                    <a:lnTo>
                      <a:pt x="284290" y="1613"/>
                    </a:lnTo>
                    <a:lnTo>
                      <a:pt x="293981" y="1613"/>
                    </a:lnTo>
                    <a:lnTo>
                      <a:pt x="302058" y="3225"/>
                    </a:lnTo>
                    <a:lnTo>
                      <a:pt x="311749" y="4838"/>
                    </a:lnTo>
                    <a:lnTo>
                      <a:pt x="319826" y="6451"/>
                    </a:lnTo>
                    <a:lnTo>
                      <a:pt x="329518" y="8063"/>
                    </a:lnTo>
                    <a:lnTo>
                      <a:pt x="337594" y="11289"/>
                    </a:lnTo>
                    <a:lnTo>
                      <a:pt x="347286" y="12901"/>
                    </a:lnTo>
                    <a:lnTo>
                      <a:pt x="355362" y="16126"/>
                    </a:lnTo>
                    <a:lnTo>
                      <a:pt x="361823" y="17739"/>
                    </a:lnTo>
                    <a:lnTo>
                      <a:pt x="369900" y="20964"/>
                    </a:lnTo>
                    <a:lnTo>
                      <a:pt x="376361" y="24190"/>
                    </a:lnTo>
                    <a:lnTo>
                      <a:pt x="384437" y="27415"/>
                    </a:lnTo>
                    <a:lnTo>
                      <a:pt x="390898" y="30640"/>
                    </a:lnTo>
                    <a:lnTo>
                      <a:pt x="397359" y="33865"/>
                    </a:lnTo>
                    <a:lnTo>
                      <a:pt x="403821" y="37091"/>
                    </a:lnTo>
                    <a:lnTo>
                      <a:pt x="410282" y="41929"/>
                    </a:lnTo>
                    <a:lnTo>
                      <a:pt x="415127" y="46766"/>
                    </a:lnTo>
                    <a:lnTo>
                      <a:pt x="421589" y="49992"/>
                    </a:lnTo>
                    <a:lnTo>
                      <a:pt x="410282" y="54830"/>
                    </a:lnTo>
                    <a:lnTo>
                      <a:pt x="415127" y="59668"/>
                    </a:lnTo>
                    <a:lnTo>
                      <a:pt x="421589" y="64505"/>
                    </a:lnTo>
                    <a:lnTo>
                      <a:pt x="426434" y="70956"/>
                    </a:lnTo>
                    <a:lnTo>
                      <a:pt x="431280" y="75794"/>
                    </a:lnTo>
                    <a:lnTo>
                      <a:pt x="436126" y="82244"/>
                    </a:lnTo>
                    <a:lnTo>
                      <a:pt x="440972" y="88695"/>
                    </a:lnTo>
                    <a:lnTo>
                      <a:pt x="447433" y="96758"/>
                    </a:lnTo>
                    <a:lnTo>
                      <a:pt x="452279" y="104821"/>
                    </a:lnTo>
                    <a:lnTo>
                      <a:pt x="457125" y="112885"/>
                    </a:lnTo>
                    <a:lnTo>
                      <a:pt x="442587" y="120948"/>
                    </a:lnTo>
                    <a:lnTo>
                      <a:pt x="447433" y="129011"/>
                    </a:lnTo>
                    <a:lnTo>
                      <a:pt x="452279" y="137074"/>
                    </a:lnTo>
                    <a:lnTo>
                      <a:pt x="455510" y="146750"/>
                    </a:lnTo>
                    <a:lnTo>
                      <a:pt x="460355" y="154813"/>
                    </a:lnTo>
                    <a:lnTo>
                      <a:pt x="463586" y="164489"/>
                    </a:lnTo>
                    <a:lnTo>
                      <a:pt x="466817" y="174165"/>
                    </a:lnTo>
                    <a:lnTo>
                      <a:pt x="470047" y="183841"/>
                    </a:lnTo>
                    <a:lnTo>
                      <a:pt x="473278" y="191904"/>
                    </a:lnTo>
                    <a:lnTo>
                      <a:pt x="474893" y="201579"/>
                    </a:lnTo>
                    <a:lnTo>
                      <a:pt x="478123" y="211255"/>
                    </a:lnTo>
                    <a:lnTo>
                      <a:pt x="479739" y="220931"/>
                    </a:lnTo>
                    <a:lnTo>
                      <a:pt x="478123" y="225769"/>
                    </a:lnTo>
                    <a:lnTo>
                      <a:pt x="476508" y="230607"/>
                    </a:lnTo>
                    <a:lnTo>
                      <a:pt x="474893" y="235445"/>
                    </a:lnTo>
                    <a:lnTo>
                      <a:pt x="473278" y="240283"/>
                    </a:lnTo>
                    <a:lnTo>
                      <a:pt x="476508" y="249959"/>
                    </a:lnTo>
                    <a:lnTo>
                      <a:pt x="479739" y="261247"/>
                    </a:lnTo>
                    <a:lnTo>
                      <a:pt x="482969" y="270923"/>
                    </a:lnTo>
                    <a:lnTo>
                      <a:pt x="487815" y="282211"/>
                    </a:lnTo>
                    <a:lnTo>
                      <a:pt x="491046" y="291887"/>
                    </a:lnTo>
                    <a:lnTo>
                      <a:pt x="495892" y="303176"/>
                    </a:lnTo>
                    <a:lnTo>
                      <a:pt x="499122" y="314464"/>
                    </a:lnTo>
                    <a:lnTo>
                      <a:pt x="503968" y="327365"/>
                    </a:lnTo>
                    <a:lnTo>
                      <a:pt x="503968" y="328978"/>
                    </a:lnTo>
                    <a:lnTo>
                      <a:pt x="502353" y="332203"/>
                    </a:lnTo>
                    <a:lnTo>
                      <a:pt x="500737" y="335428"/>
                    </a:lnTo>
                    <a:lnTo>
                      <a:pt x="499122" y="337041"/>
                    </a:lnTo>
                    <a:lnTo>
                      <a:pt x="495892" y="340266"/>
                    </a:lnTo>
                    <a:lnTo>
                      <a:pt x="492661" y="341879"/>
                    </a:lnTo>
                    <a:lnTo>
                      <a:pt x="487815" y="343491"/>
                    </a:lnTo>
                    <a:lnTo>
                      <a:pt x="482969" y="346717"/>
                    </a:lnTo>
                    <a:lnTo>
                      <a:pt x="482969" y="354780"/>
                    </a:lnTo>
                    <a:lnTo>
                      <a:pt x="484585" y="362843"/>
                    </a:lnTo>
                    <a:lnTo>
                      <a:pt x="486200" y="372519"/>
                    </a:lnTo>
                    <a:lnTo>
                      <a:pt x="489430" y="382195"/>
                    </a:lnTo>
                    <a:lnTo>
                      <a:pt x="489430" y="385420"/>
                    </a:lnTo>
                    <a:lnTo>
                      <a:pt x="489430" y="388645"/>
                    </a:lnTo>
                    <a:lnTo>
                      <a:pt x="487815" y="390258"/>
                    </a:lnTo>
                    <a:lnTo>
                      <a:pt x="486200" y="393483"/>
                    </a:lnTo>
                    <a:lnTo>
                      <a:pt x="482969" y="395096"/>
                    </a:lnTo>
                    <a:lnTo>
                      <a:pt x="479739" y="398321"/>
                    </a:lnTo>
                    <a:lnTo>
                      <a:pt x="476508" y="399934"/>
                    </a:lnTo>
                    <a:lnTo>
                      <a:pt x="473278" y="401546"/>
                    </a:lnTo>
                    <a:lnTo>
                      <a:pt x="476508" y="403159"/>
                    </a:lnTo>
                    <a:lnTo>
                      <a:pt x="479739" y="406384"/>
                    </a:lnTo>
                    <a:lnTo>
                      <a:pt x="481354" y="407997"/>
                    </a:lnTo>
                    <a:lnTo>
                      <a:pt x="484585" y="411222"/>
                    </a:lnTo>
                    <a:lnTo>
                      <a:pt x="484585" y="414447"/>
                    </a:lnTo>
                    <a:lnTo>
                      <a:pt x="486200" y="417673"/>
                    </a:lnTo>
                    <a:lnTo>
                      <a:pt x="486200" y="419285"/>
                    </a:lnTo>
                    <a:lnTo>
                      <a:pt x="486200" y="422511"/>
                    </a:lnTo>
                    <a:lnTo>
                      <a:pt x="486200" y="425736"/>
                    </a:lnTo>
                    <a:lnTo>
                      <a:pt x="486200" y="428961"/>
                    </a:lnTo>
                    <a:lnTo>
                      <a:pt x="484585" y="430574"/>
                    </a:lnTo>
                    <a:lnTo>
                      <a:pt x="482969" y="433799"/>
                    </a:lnTo>
                    <a:lnTo>
                      <a:pt x="481354" y="435412"/>
                    </a:lnTo>
                    <a:lnTo>
                      <a:pt x="479739" y="438637"/>
                    </a:lnTo>
                    <a:lnTo>
                      <a:pt x="478123" y="440250"/>
                    </a:lnTo>
                    <a:lnTo>
                      <a:pt x="476508" y="443475"/>
                    </a:lnTo>
                    <a:lnTo>
                      <a:pt x="476508" y="449925"/>
                    </a:lnTo>
                    <a:lnTo>
                      <a:pt x="478123" y="457989"/>
                    </a:lnTo>
                    <a:lnTo>
                      <a:pt x="478123" y="464439"/>
                    </a:lnTo>
                    <a:lnTo>
                      <a:pt x="478123" y="470890"/>
                    </a:lnTo>
                    <a:lnTo>
                      <a:pt x="474893" y="474115"/>
                    </a:lnTo>
                    <a:lnTo>
                      <a:pt x="473278" y="475728"/>
                    </a:lnTo>
                    <a:lnTo>
                      <a:pt x="470047" y="478953"/>
                    </a:lnTo>
                    <a:lnTo>
                      <a:pt x="466817" y="480565"/>
                    </a:lnTo>
                    <a:lnTo>
                      <a:pt x="463586" y="483791"/>
                    </a:lnTo>
                    <a:lnTo>
                      <a:pt x="458740" y="483791"/>
                    </a:lnTo>
                    <a:lnTo>
                      <a:pt x="455510" y="485403"/>
                    </a:lnTo>
                    <a:lnTo>
                      <a:pt x="452279" y="485403"/>
                    </a:lnTo>
                    <a:lnTo>
                      <a:pt x="445818" y="485403"/>
                    </a:lnTo>
                    <a:lnTo>
                      <a:pt x="440972" y="485403"/>
                    </a:lnTo>
                    <a:lnTo>
                      <a:pt x="434511" y="483791"/>
                    </a:lnTo>
                    <a:lnTo>
                      <a:pt x="437741" y="483791"/>
                    </a:lnTo>
                    <a:lnTo>
                      <a:pt x="432896" y="482178"/>
                    </a:lnTo>
                    <a:lnTo>
                      <a:pt x="428050" y="482178"/>
                    </a:lnTo>
                    <a:lnTo>
                      <a:pt x="423204" y="482178"/>
                    </a:lnTo>
                    <a:lnTo>
                      <a:pt x="418358" y="480565"/>
                    </a:lnTo>
                    <a:lnTo>
                      <a:pt x="416743" y="480565"/>
                    </a:lnTo>
                    <a:lnTo>
                      <a:pt x="411897" y="482178"/>
                    </a:lnTo>
                    <a:lnTo>
                      <a:pt x="407051" y="482178"/>
                    </a:lnTo>
                    <a:lnTo>
                      <a:pt x="402205" y="482178"/>
                    </a:lnTo>
                    <a:lnTo>
                      <a:pt x="398975" y="483791"/>
                    </a:lnTo>
                    <a:lnTo>
                      <a:pt x="395744" y="485403"/>
                    </a:lnTo>
                    <a:lnTo>
                      <a:pt x="392514" y="487016"/>
                    </a:lnTo>
                    <a:lnTo>
                      <a:pt x="390898" y="488629"/>
                    </a:lnTo>
                    <a:lnTo>
                      <a:pt x="389283" y="491854"/>
                    </a:lnTo>
                    <a:lnTo>
                      <a:pt x="387668" y="495079"/>
                    </a:lnTo>
                    <a:lnTo>
                      <a:pt x="386052" y="499917"/>
                    </a:lnTo>
                    <a:lnTo>
                      <a:pt x="384437" y="516043"/>
                    </a:lnTo>
                    <a:lnTo>
                      <a:pt x="382822" y="548296"/>
                    </a:lnTo>
                    <a:lnTo>
                      <a:pt x="382822" y="564422"/>
                    </a:lnTo>
                    <a:lnTo>
                      <a:pt x="382822" y="578936"/>
                    </a:lnTo>
                    <a:lnTo>
                      <a:pt x="381207" y="583774"/>
                    </a:lnTo>
                    <a:lnTo>
                      <a:pt x="130838" y="583774"/>
                    </a:lnTo>
                    <a:lnTo>
                      <a:pt x="129223" y="537008"/>
                    </a:lnTo>
                    <a:lnTo>
                      <a:pt x="129223" y="522494"/>
                    </a:lnTo>
                    <a:cubicBezTo>
                      <a:pt x="129223" y="522494"/>
                      <a:pt x="132453" y="446700"/>
                      <a:pt x="58150" y="370906"/>
                    </a:cubicBezTo>
                    <a:lnTo>
                      <a:pt x="14538" y="299950"/>
                    </a:lnTo>
                    <a:lnTo>
                      <a:pt x="9692" y="283824"/>
                    </a:lnTo>
                    <a:lnTo>
                      <a:pt x="4846" y="266085"/>
                    </a:lnTo>
                    <a:lnTo>
                      <a:pt x="1615" y="248346"/>
                    </a:lnTo>
                    <a:lnTo>
                      <a:pt x="0" y="232220"/>
                    </a:lnTo>
                    <a:lnTo>
                      <a:pt x="0" y="214481"/>
                    </a:lnTo>
                    <a:lnTo>
                      <a:pt x="0" y="196742"/>
                    </a:lnTo>
                    <a:lnTo>
                      <a:pt x="3231" y="179003"/>
                    </a:lnTo>
                    <a:lnTo>
                      <a:pt x="4846" y="170939"/>
                    </a:lnTo>
                    <a:lnTo>
                      <a:pt x="6461" y="161264"/>
                    </a:lnTo>
                    <a:lnTo>
                      <a:pt x="9692" y="153200"/>
                    </a:lnTo>
                    <a:lnTo>
                      <a:pt x="12922" y="145137"/>
                    </a:lnTo>
                    <a:lnTo>
                      <a:pt x="16153" y="137074"/>
                    </a:lnTo>
                    <a:lnTo>
                      <a:pt x="19383" y="129011"/>
                    </a:lnTo>
                    <a:lnTo>
                      <a:pt x="24229" y="120948"/>
                    </a:lnTo>
                    <a:lnTo>
                      <a:pt x="27460" y="112885"/>
                    </a:lnTo>
                    <a:lnTo>
                      <a:pt x="32306" y="104821"/>
                    </a:lnTo>
                    <a:lnTo>
                      <a:pt x="37151" y="96758"/>
                    </a:lnTo>
                    <a:lnTo>
                      <a:pt x="43613" y="90308"/>
                    </a:lnTo>
                    <a:lnTo>
                      <a:pt x="48458" y="83857"/>
                    </a:lnTo>
                    <a:lnTo>
                      <a:pt x="54920" y="75794"/>
                    </a:lnTo>
                    <a:lnTo>
                      <a:pt x="61381" y="70956"/>
                    </a:lnTo>
                    <a:lnTo>
                      <a:pt x="66227" y="64505"/>
                    </a:lnTo>
                    <a:lnTo>
                      <a:pt x="74303" y="58055"/>
                    </a:lnTo>
                    <a:lnTo>
                      <a:pt x="80764" y="53217"/>
                    </a:lnTo>
                    <a:lnTo>
                      <a:pt x="88841" y="46766"/>
                    </a:lnTo>
                    <a:lnTo>
                      <a:pt x="96917" y="41929"/>
                    </a:lnTo>
                    <a:lnTo>
                      <a:pt x="104993" y="37091"/>
                    </a:lnTo>
                    <a:lnTo>
                      <a:pt x="113070" y="32253"/>
                    </a:lnTo>
                    <a:lnTo>
                      <a:pt x="121146" y="29027"/>
                    </a:lnTo>
                    <a:lnTo>
                      <a:pt x="129223" y="24190"/>
                    </a:lnTo>
                    <a:lnTo>
                      <a:pt x="138914" y="20964"/>
                    </a:lnTo>
                    <a:lnTo>
                      <a:pt x="146991" y="17739"/>
                    </a:lnTo>
                    <a:lnTo>
                      <a:pt x="156682" y="14514"/>
                    </a:lnTo>
                    <a:lnTo>
                      <a:pt x="166374" y="12901"/>
                    </a:lnTo>
                    <a:lnTo>
                      <a:pt x="176066" y="9676"/>
                    </a:lnTo>
                    <a:lnTo>
                      <a:pt x="184142" y="8063"/>
                    </a:lnTo>
                    <a:lnTo>
                      <a:pt x="193834" y="6451"/>
                    </a:lnTo>
                    <a:lnTo>
                      <a:pt x="203526" y="4838"/>
                    </a:lnTo>
                    <a:lnTo>
                      <a:pt x="213217" y="3225"/>
                    </a:lnTo>
                    <a:lnTo>
                      <a:pt x="221294" y="1613"/>
                    </a:lnTo>
                    <a:lnTo>
                      <a:pt x="230985" y="161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87">
                  <a:defRPr/>
                </a:pPr>
                <a:endParaRPr lang="zh-CN" altLang="en-US" sz="2000">
                  <a:solidFill>
                    <a:srgbClr val="000000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</p:grpSp>
      </p:grp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209364D-1808-4757-BD4E-929F1FBC15A5}"/>
              </a:ext>
            </a:extLst>
          </p:cNvPr>
          <p:cNvSpPr txBox="1"/>
          <p:nvPr/>
        </p:nvSpPr>
        <p:spPr>
          <a:xfrm>
            <a:off x="7190282" y="1994894"/>
            <a:ext cx="140508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7896">
              <a:defRPr/>
            </a:pPr>
            <a:r>
              <a:rPr lang="zh-CN" altLang="en-US" sz="700" b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保理小贷融资租赁</a:t>
            </a:r>
            <a:endParaRPr lang="zh-CN" altLang="en-US" sz="7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5BA40822-9EAC-4C37-9D0B-D628AA10FD57}"/>
              </a:ext>
            </a:extLst>
          </p:cNvPr>
          <p:cNvSpPr txBox="1"/>
          <p:nvPr/>
        </p:nvSpPr>
        <p:spPr>
          <a:xfrm>
            <a:off x="6244680" y="1818576"/>
            <a:ext cx="709856" cy="246221"/>
          </a:xfrm>
          <a:prstGeom prst="rect">
            <a:avLst/>
          </a:prstGeom>
          <a:solidFill>
            <a:srgbClr val="1178FE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307896">
              <a:defRPr/>
            </a:pPr>
            <a:r>
              <a:rPr lang="zh-CN" altLang="en-US" b="1" dirty="0">
                <a:solidFill>
                  <a:prstClr val="white"/>
                </a:solidFill>
                <a:sym typeface="Helvetica Light"/>
              </a:rPr>
              <a:t>自有资金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F5EE374D-1DD6-475B-95C3-01DC86883F66}"/>
              </a:ext>
            </a:extLst>
          </p:cNvPr>
          <p:cNvSpPr txBox="1"/>
          <p:nvPr/>
        </p:nvSpPr>
        <p:spPr>
          <a:xfrm>
            <a:off x="6228324" y="3630344"/>
            <a:ext cx="829071" cy="246221"/>
          </a:xfrm>
          <a:prstGeom prst="rect">
            <a:avLst/>
          </a:prstGeom>
          <a:solidFill>
            <a:srgbClr val="1178FE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307896">
              <a:defRPr/>
            </a:pPr>
            <a:r>
              <a:rPr lang="zh-CN" altLang="en-US" b="1" dirty="0">
                <a:solidFill>
                  <a:prstClr val="white"/>
                </a:solidFill>
                <a:sym typeface="Helvetica Light"/>
              </a:rPr>
              <a:t>多渠道资金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E2D36F-B4EE-4D11-BE18-9B65DE0A2580}"/>
              </a:ext>
            </a:extLst>
          </p:cNvPr>
          <p:cNvGrpSpPr/>
          <p:nvPr/>
        </p:nvGrpSpPr>
        <p:grpSpPr>
          <a:xfrm>
            <a:off x="7470371" y="1784431"/>
            <a:ext cx="965594" cy="276999"/>
            <a:chOff x="7880289" y="1572499"/>
            <a:chExt cx="1057788" cy="308794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190ACBC-CD7E-479A-93A3-97E11974DFFA}"/>
                </a:ext>
              </a:extLst>
            </p:cNvPr>
            <p:cNvSpPr txBox="1"/>
            <p:nvPr/>
          </p:nvSpPr>
          <p:spPr>
            <a:xfrm>
              <a:off x="7975841" y="1572499"/>
              <a:ext cx="962236" cy="308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7896">
                <a:defRPr/>
              </a:pPr>
              <a:r>
                <a:rPr lang="zh-CN" altLang="en-US" sz="1200" b="1" dirty="0">
                  <a:solidFill>
                    <a:srgbClr val="E7E6E6">
                      <a:lumMod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elvetica Light"/>
                </a:rPr>
                <a:t>美的金融</a:t>
              </a:r>
            </a:p>
          </p:txBody>
        </p:sp>
        <p:grpSp>
          <p:nvGrpSpPr>
            <p:cNvPr id="91" name="Group 72">
              <a:extLst>
                <a:ext uri="{FF2B5EF4-FFF2-40B4-BE49-F238E27FC236}">
                  <a16:creationId xmlns:a16="http://schemas.microsoft.com/office/drawing/2014/main" id="{7493280F-0EA1-4990-85CE-009AC08109A5}"/>
                </a:ext>
              </a:extLst>
            </p:cNvPr>
            <p:cNvGrpSpPr/>
            <p:nvPr/>
          </p:nvGrpSpPr>
          <p:grpSpPr>
            <a:xfrm>
              <a:off x="7880289" y="1603386"/>
              <a:ext cx="215225" cy="215225"/>
              <a:chOff x="608866" y="1803217"/>
              <a:chExt cx="580419" cy="580419"/>
            </a:xfrm>
          </p:grpSpPr>
          <p:sp>
            <p:nvSpPr>
              <p:cNvPr id="92" name="ísḷídê">
                <a:extLst>
                  <a:ext uri="{FF2B5EF4-FFF2-40B4-BE49-F238E27FC236}">
                    <a16:creationId xmlns:a16="http://schemas.microsoft.com/office/drawing/2014/main" id="{17D18E47-4328-4E28-A17D-8BF8FD2F90AD}"/>
                  </a:ext>
                </a:extLst>
              </p:cNvPr>
              <p:cNvSpPr/>
              <p:nvPr/>
            </p:nvSpPr>
            <p:spPr>
              <a:xfrm>
                <a:off x="608866" y="1803217"/>
                <a:ext cx="580419" cy="580419"/>
              </a:xfrm>
              <a:prstGeom prst="ellipse">
                <a:avLst/>
              </a:prstGeom>
              <a:solidFill>
                <a:srgbClr val="1178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87">
                  <a:defRPr/>
                </a:pPr>
                <a:endParaRPr lang="zh-CN" altLang="en-US" sz="200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  <p:sp>
            <p:nvSpPr>
              <p:cNvPr id="93" name="îşḻíḓè">
                <a:extLst>
                  <a:ext uri="{FF2B5EF4-FFF2-40B4-BE49-F238E27FC236}">
                    <a16:creationId xmlns:a16="http://schemas.microsoft.com/office/drawing/2014/main" id="{974FB417-C9B7-4AF5-AA18-B568DF7B7D84}"/>
                  </a:ext>
                </a:extLst>
              </p:cNvPr>
              <p:cNvSpPr/>
              <p:nvPr/>
            </p:nvSpPr>
            <p:spPr bwMode="auto">
              <a:xfrm>
                <a:off x="712441" y="1906793"/>
                <a:ext cx="373266" cy="373266"/>
              </a:xfrm>
              <a:custGeom>
                <a:avLst/>
                <a:gdLst>
                  <a:gd name="T0" fmla="*/ 8533 w 9600"/>
                  <a:gd name="T1" fmla="*/ 0 h 9600"/>
                  <a:gd name="T2" fmla="*/ 1067 w 9600"/>
                  <a:gd name="T3" fmla="*/ 0 h 9600"/>
                  <a:gd name="T4" fmla="*/ 0 w 9600"/>
                  <a:gd name="T5" fmla="*/ 1067 h 9600"/>
                  <a:gd name="T6" fmla="*/ 0 w 9600"/>
                  <a:gd name="T7" fmla="*/ 8533 h 9600"/>
                  <a:gd name="T8" fmla="*/ 1067 w 9600"/>
                  <a:gd name="T9" fmla="*/ 9600 h 9600"/>
                  <a:gd name="T10" fmla="*/ 8533 w 9600"/>
                  <a:gd name="T11" fmla="*/ 9600 h 9600"/>
                  <a:gd name="T12" fmla="*/ 9600 w 9600"/>
                  <a:gd name="T13" fmla="*/ 8533 h 9600"/>
                  <a:gd name="T14" fmla="*/ 9600 w 9600"/>
                  <a:gd name="T15" fmla="*/ 1067 h 9600"/>
                  <a:gd name="T16" fmla="*/ 8533 w 9600"/>
                  <a:gd name="T17" fmla="*/ 0 h 9600"/>
                  <a:gd name="T18" fmla="*/ 8533 w 9600"/>
                  <a:gd name="T19" fmla="*/ 8000 h 9600"/>
                  <a:gd name="T20" fmla="*/ 8000 w 9600"/>
                  <a:gd name="T21" fmla="*/ 8533 h 9600"/>
                  <a:gd name="T22" fmla="*/ 1600 w 9600"/>
                  <a:gd name="T23" fmla="*/ 8533 h 9600"/>
                  <a:gd name="T24" fmla="*/ 1067 w 9600"/>
                  <a:gd name="T25" fmla="*/ 8000 h 9600"/>
                  <a:gd name="T26" fmla="*/ 1067 w 9600"/>
                  <a:gd name="T27" fmla="*/ 1600 h 9600"/>
                  <a:gd name="T28" fmla="*/ 1600 w 9600"/>
                  <a:gd name="T29" fmla="*/ 1067 h 9600"/>
                  <a:gd name="T30" fmla="*/ 8000 w 9600"/>
                  <a:gd name="T31" fmla="*/ 1067 h 9600"/>
                  <a:gd name="T32" fmla="*/ 8533 w 9600"/>
                  <a:gd name="T33" fmla="*/ 1600 h 9600"/>
                  <a:gd name="T34" fmla="*/ 8533 w 9600"/>
                  <a:gd name="T35" fmla="*/ 8000 h 9600"/>
                  <a:gd name="T36" fmla="*/ 4267 w 9600"/>
                  <a:gd name="T37" fmla="*/ 7467 h 9600"/>
                  <a:gd name="T38" fmla="*/ 5333 w 9600"/>
                  <a:gd name="T39" fmla="*/ 7467 h 9600"/>
                  <a:gd name="T40" fmla="*/ 5333 w 9600"/>
                  <a:gd name="T41" fmla="*/ 2133 h 9600"/>
                  <a:gd name="T42" fmla="*/ 4267 w 9600"/>
                  <a:gd name="T43" fmla="*/ 2133 h 9600"/>
                  <a:gd name="T44" fmla="*/ 4267 w 9600"/>
                  <a:gd name="T45" fmla="*/ 7467 h 9600"/>
                  <a:gd name="T46" fmla="*/ 6400 w 9600"/>
                  <a:gd name="T47" fmla="*/ 7467 h 9600"/>
                  <a:gd name="T48" fmla="*/ 7467 w 9600"/>
                  <a:gd name="T49" fmla="*/ 7467 h 9600"/>
                  <a:gd name="T50" fmla="*/ 7467 w 9600"/>
                  <a:gd name="T51" fmla="*/ 3733 h 9600"/>
                  <a:gd name="T52" fmla="*/ 6400 w 9600"/>
                  <a:gd name="T53" fmla="*/ 3733 h 9600"/>
                  <a:gd name="T54" fmla="*/ 6400 w 9600"/>
                  <a:gd name="T55" fmla="*/ 7467 h 9600"/>
                  <a:gd name="T56" fmla="*/ 2133 w 9600"/>
                  <a:gd name="T57" fmla="*/ 7467 h 9600"/>
                  <a:gd name="T58" fmla="*/ 3200 w 9600"/>
                  <a:gd name="T59" fmla="*/ 7467 h 9600"/>
                  <a:gd name="T60" fmla="*/ 3200 w 9600"/>
                  <a:gd name="T61" fmla="*/ 4800 h 9600"/>
                  <a:gd name="T62" fmla="*/ 2133 w 9600"/>
                  <a:gd name="T63" fmla="*/ 4800 h 9600"/>
                  <a:gd name="T64" fmla="*/ 2133 w 9600"/>
                  <a:gd name="T65" fmla="*/ 7467 h 9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00" h="9600">
                    <a:moveTo>
                      <a:pt x="8533" y="0"/>
                    </a:moveTo>
                    <a:lnTo>
                      <a:pt x="1067" y="0"/>
                    </a:lnTo>
                    <a:cubicBezTo>
                      <a:pt x="480" y="0"/>
                      <a:pt x="0" y="480"/>
                      <a:pt x="0" y="1067"/>
                    </a:cubicBezTo>
                    <a:lnTo>
                      <a:pt x="0" y="8533"/>
                    </a:lnTo>
                    <a:cubicBezTo>
                      <a:pt x="0" y="9120"/>
                      <a:pt x="480" y="9600"/>
                      <a:pt x="1067" y="9600"/>
                    </a:cubicBezTo>
                    <a:lnTo>
                      <a:pt x="8533" y="9600"/>
                    </a:lnTo>
                    <a:cubicBezTo>
                      <a:pt x="9120" y="9600"/>
                      <a:pt x="9600" y="9120"/>
                      <a:pt x="9600" y="8533"/>
                    </a:cubicBezTo>
                    <a:lnTo>
                      <a:pt x="9600" y="1067"/>
                    </a:lnTo>
                    <a:cubicBezTo>
                      <a:pt x="9600" y="480"/>
                      <a:pt x="9120" y="0"/>
                      <a:pt x="8533" y="0"/>
                    </a:cubicBezTo>
                    <a:close/>
                    <a:moveTo>
                      <a:pt x="8533" y="8000"/>
                    </a:moveTo>
                    <a:cubicBezTo>
                      <a:pt x="8533" y="8294"/>
                      <a:pt x="8294" y="8533"/>
                      <a:pt x="8000" y="8533"/>
                    </a:cubicBezTo>
                    <a:lnTo>
                      <a:pt x="1600" y="8533"/>
                    </a:lnTo>
                    <a:cubicBezTo>
                      <a:pt x="1306" y="8533"/>
                      <a:pt x="1067" y="8294"/>
                      <a:pt x="1067" y="8000"/>
                    </a:cubicBezTo>
                    <a:lnTo>
                      <a:pt x="1067" y="1600"/>
                    </a:lnTo>
                    <a:cubicBezTo>
                      <a:pt x="1067" y="1306"/>
                      <a:pt x="1306" y="1067"/>
                      <a:pt x="1600" y="1067"/>
                    </a:cubicBezTo>
                    <a:lnTo>
                      <a:pt x="8000" y="1067"/>
                    </a:lnTo>
                    <a:cubicBezTo>
                      <a:pt x="8294" y="1067"/>
                      <a:pt x="8533" y="1306"/>
                      <a:pt x="8533" y="1600"/>
                    </a:cubicBezTo>
                    <a:lnTo>
                      <a:pt x="8533" y="8000"/>
                    </a:lnTo>
                    <a:close/>
                    <a:moveTo>
                      <a:pt x="4267" y="7467"/>
                    </a:moveTo>
                    <a:lnTo>
                      <a:pt x="5333" y="7467"/>
                    </a:lnTo>
                    <a:lnTo>
                      <a:pt x="5333" y="2133"/>
                    </a:lnTo>
                    <a:lnTo>
                      <a:pt x="4267" y="2133"/>
                    </a:lnTo>
                    <a:lnTo>
                      <a:pt x="4267" y="7467"/>
                    </a:lnTo>
                    <a:close/>
                    <a:moveTo>
                      <a:pt x="6400" y="7467"/>
                    </a:moveTo>
                    <a:lnTo>
                      <a:pt x="7467" y="7467"/>
                    </a:lnTo>
                    <a:lnTo>
                      <a:pt x="7467" y="3733"/>
                    </a:lnTo>
                    <a:lnTo>
                      <a:pt x="6400" y="3733"/>
                    </a:lnTo>
                    <a:lnTo>
                      <a:pt x="6400" y="7467"/>
                    </a:lnTo>
                    <a:close/>
                    <a:moveTo>
                      <a:pt x="2133" y="7467"/>
                    </a:moveTo>
                    <a:lnTo>
                      <a:pt x="3200" y="7467"/>
                    </a:lnTo>
                    <a:lnTo>
                      <a:pt x="3200" y="4800"/>
                    </a:lnTo>
                    <a:lnTo>
                      <a:pt x="2133" y="4800"/>
                    </a:lnTo>
                    <a:lnTo>
                      <a:pt x="2133" y="746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87">
                  <a:defRPr/>
                </a:pPr>
                <a:endParaRPr lang="zh-CN" altLang="en-US" sz="2000" dirty="0">
                  <a:solidFill>
                    <a:srgbClr val="000000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</p:grp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2AFF74BD-36EA-4EE3-9335-4BB7BC450047}"/>
              </a:ext>
            </a:extLst>
          </p:cNvPr>
          <p:cNvSpPr txBox="1"/>
          <p:nvPr/>
        </p:nvSpPr>
        <p:spPr>
          <a:xfrm>
            <a:off x="630403" y="672357"/>
            <a:ext cx="8538282" cy="325728"/>
          </a:xfrm>
          <a:prstGeom prst="rect">
            <a:avLst/>
          </a:prstGeom>
          <a:ln w="12700">
            <a:miter lim="400000"/>
          </a:ln>
        </p:spPr>
        <p:txBody>
          <a:bodyPr wrap="square" lIns="34289" tIns="34289" rIns="34289" bIns="34289" anchor="ctr">
            <a:spAutoFit/>
          </a:bodyPr>
          <a:lstStyle>
            <a:defPPr>
              <a:defRPr lang="en-US"/>
            </a:defPPr>
            <a:lvl1pPr marL="171450" indent="-171450" defTabSz="128108">
              <a:lnSpc>
                <a:spcPct val="140000"/>
              </a:lnSpc>
              <a:buFont typeface="Arial" panose="020B0604020202020204" pitchFamily="34" charset="0"/>
              <a:buChar char="•"/>
              <a:defRPr sz="1100">
                <a:latin typeface="Arial" panose="020B0604020202020204" pitchFamily="34" charset="0"/>
                <a:ea typeface="Microsoft YaHei"/>
                <a:cs typeface="Arial" panose="020B0604020202020204" pitchFamily="34" charset="0"/>
              </a:defRPr>
            </a:lvl1pPr>
          </a:lstStyle>
          <a:p>
            <a:pPr marL="0" indent="0" defTabSz="457206">
              <a:lnSpc>
                <a:spcPts val="2000"/>
              </a:lnSpc>
              <a:buNone/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   聚焦</a:t>
            </a:r>
            <a:r>
              <a:rPr lang="en-US" altLang="zh-CN" sz="10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B</a:t>
            </a:r>
            <a:r>
              <a:rPr lang="zh-CN" altLang="en-US" sz="10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端供应链，依靠科技和产品创新，专注数智化，构建开放共赢的供应链金融科技平台。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0E93DD61-07D7-4F4F-9503-3139109900AF}"/>
              </a:ext>
            </a:extLst>
          </p:cNvPr>
          <p:cNvSpPr txBox="1"/>
          <p:nvPr/>
        </p:nvSpPr>
        <p:spPr>
          <a:xfrm>
            <a:off x="6260582" y="2736787"/>
            <a:ext cx="709856" cy="246221"/>
          </a:xfrm>
          <a:prstGeom prst="rect">
            <a:avLst/>
          </a:prstGeom>
          <a:solidFill>
            <a:srgbClr val="1178FE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307896">
              <a:defRPr/>
            </a:pPr>
            <a:r>
              <a:rPr lang="zh-CN" altLang="en-US" b="1" dirty="0">
                <a:solidFill>
                  <a:prstClr val="white"/>
                </a:solidFill>
                <a:sym typeface="Helvetica Light"/>
              </a:rPr>
              <a:t>银行资金</a:t>
            </a: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7EE2D36F-B4EE-4D11-BE18-9B65DE0A2580}"/>
              </a:ext>
            </a:extLst>
          </p:cNvPr>
          <p:cNvGrpSpPr/>
          <p:nvPr/>
        </p:nvGrpSpPr>
        <p:grpSpPr>
          <a:xfrm>
            <a:off x="7189376" y="2595253"/>
            <a:ext cx="965596" cy="276999"/>
            <a:chOff x="7880289" y="1572499"/>
            <a:chExt cx="1057790" cy="308794"/>
          </a:xfrm>
        </p:grpSpPr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7190ACBC-CD7E-479A-93A3-97E11974DFFA}"/>
                </a:ext>
              </a:extLst>
            </p:cNvPr>
            <p:cNvSpPr txBox="1"/>
            <p:nvPr/>
          </p:nvSpPr>
          <p:spPr>
            <a:xfrm>
              <a:off x="7975843" y="1572499"/>
              <a:ext cx="962236" cy="308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7896">
                <a:defRPr/>
              </a:pPr>
              <a:r>
                <a:rPr lang="zh-CN" altLang="en-US" sz="1200" b="1" dirty="0">
                  <a:solidFill>
                    <a:srgbClr val="E7E6E6">
                      <a:lumMod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elvetica Light"/>
                </a:rPr>
                <a:t>银行</a:t>
              </a:r>
            </a:p>
          </p:txBody>
        </p:sp>
        <p:grpSp>
          <p:nvGrpSpPr>
            <p:cNvPr id="129" name="Group 72">
              <a:extLst>
                <a:ext uri="{FF2B5EF4-FFF2-40B4-BE49-F238E27FC236}">
                  <a16:creationId xmlns:a16="http://schemas.microsoft.com/office/drawing/2014/main" id="{7493280F-0EA1-4990-85CE-009AC08109A5}"/>
                </a:ext>
              </a:extLst>
            </p:cNvPr>
            <p:cNvGrpSpPr/>
            <p:nvPr/>
          </p:nvGrpSpPr>
          <p:grpSpPr>
            <a:xfrm>
              <a:off x="7880289" y="1603386"/>
              <a:ext cx="215225" cy="215225"/>
              <a:chOff x="608866" y="1803217"/>
              <a:chExt cx="580419" cy="580419"/>
            </a:xfrm>
          </p:grpSpPr>
          <p:sp>
            <p:nvSpPr>
              <p:cNvPr id="131" name="ísḷídê">
                <a:extLst>
                  <a:ext uri="{FF2B5EF4-FFF2-40B4-BE49-F238E27FC236}">
                    <a16:creationId xmlns:a16="http://schemas.microsoft.com/office/drawing/2014/main" id="{17D18E47-4328-4E28-A17D-8BF8FD2F90AD}"/>
                  </a:ext>
                </a:extLst>
              </p:cNvPr>
              <p:cNvSpPr/>
              <p:nvPr/>
            </p:nvSpPr>
            <p:spPr>
              <a:xfrm>
                <a:off x="608866" y="1803217"/>
                <a:ext cx="580419" cy="580419"/>
              </a:xfrm>
              <a:prstGeom prst="ellipse">
                <a:avLst/>
              </a:prstGeom>
              <a:solidFill>
                <a:srgbClr val="1178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87">
                  <a:defRPr/>
                </a:pPr>
                <a:endParaRPr lang="zh-CN" altLang="en-US" sz="200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  <p:sp>
            <p:nvSpPr>
              <p:cNvPr id="132" name="îşḻíḓè">
                <a:extLst>
                  <a:ext uri="{FF2B5EF4-FFF2-40B4-BE49-F238E27FC236}">
                    <a16:creationId xmlns:a16="http://schemas.microsoft.com/office/drawing/2014/main" id="{974FB417-C9B7-4AF5-AA18-B568DF7B7D84}"/>
                  </a:ext>
                </a:extLst>
              </p:cNvPr>
              <p:cNvSpPr/>
              <p:nvPr/>
            </p:nvSpPr>
            <p:spPr bwMode="auto">
              <a:xfrm>
                <a:off x="712441" y="1906793"/>
                <a:ext cx="373266" cy="373266"/>
              </a:xfrm>
              <a:custGeom>
                <a:avLst/>
                <a:gdLst>
                  <a:gd name="T0" fmla="*/ 8533 w 9600"/>
                  <a:gd name="T1" fmla="*/ 0 h 9600"/>
                  <a:gd name="T2" fmla="*/ 1067 w 9600"/>
                  <a:gd name="T3" fmla="*/ 0 h 9600"/>
                  <a:gd name="T4" fmla="*/ 0 w 9600"/>
                  <a:gd name="T5" fmla="*/ 1067 h 9600"/>
                  <a:gd name="T6" fmla="*/ 0 w 9600"/>
                  <a:gd name="T7" fmla="*/ 8533 h 9600"/>
                  <a:gd name="T8" fmla="*/ 1067 w 9600"/>
                  <a:gd name="T9" fmla="*/ 9600 h 9600"/>
                  <a:gd name="T10" fmla="*/ 8533 w 9600"/>
                  <a:gd name="T11" fmla="*/ 9600 h 9600"/>
                  <a:gd name="T12" fmla="*/ 9600 w 9600"/>
                  <a:gd name="T13" fmla="*/ 8533 h 9600"/>
                  <a:gd name="T14" fmla="*/ 9600 w 9600"/>
                  <a:gd name="T15" fmla="*/ 1067 h 9600"/>
                  <a:gd name="T16" fmla="*/ 8533 w 9600"/>
                  <a:gd name="T17" fmla="*/ 0 h 9600"/>
                  <a:gd name="T18" fmla="*/ 8533 w 9600"/>
                  <a:gd name="T19" fmla="*/ 8000 h 9600"/>
                  <a:gd name="T20" fmla="*/ 8000 w 9600"/>
                  <a:gd name="T21" fmla="*/ 8533 h 9600"/>
                  <a:gd name="T22" fmla="*/ 1600 w 9600"/>
                  <a:gd name="T23" fmla="*/ 8533 h 9600"/>
                  <a:gd name="T24" fmla="*/ 1067 w 9600"/>
                  <a:gd name="T25" fmla="*/ 8000 h 9600"/>
                  <a:gd name="T26" fmla="*/ 1067 w 9600"/>
                  <a:gd name="T27" fmla="*/ 1600 h 9600"/>
                  <a:gd name="T28" fmla="*/ 1600 w 9600"/>
                  <a:gd name="T29" fmla="*/ 1067 h 9600"/>
                  <a:gd name="T30" fmla="*/ 8000 w 9600"/>
                  <a:gd name="T31" fmla="*/ 1067 h 9600"/>
                  <a:gd name="T32" fmla="*/ 8533 w 9600"/>
                  <a:gd name="T33" fmla="*/ 1600 h 9600"/>
                  <a:gd name="T34" fmla="*/ 8533 w 9600"/>
                  <a:gd name="T35" fmla="*/ 8000 h 9600"/>
                  <a:gd name="T36" fmla="*/ 4267 w 9600"/>
                  <a:gd name="T37" fmla="*/ 7467 h 9600"/>
                  <a:gd name="T38" fmla="*/ 5333 w 9600"/>
                  <a:gd name="T39" fmla="*/ 7467 h 9600"/>
                  <a:gd name="T40" fmla="*/ 5333 w 9600"/>
                  <a:gd name="T41" fmla="*/ 2133 h 9600"/>
                  <a:gd name="T42" fmla="*/ 4267 w 9600"/>
                  <a:gd name="T43" fmla="*/ 2133 h 9600"/>
                  <a:gd name="T44" fmla="*/ 4267 w 9600"/>
                  <a:gd name="T45" fmla="*/ 7467 h 9600"/>
                  <a:gd name="T46" fmla="*/ 6400 w 9600"/>
                  <a:gd name="T47" fmla="*/ 7467 h 9600"/>
                  <a:gd name="T48" fmla="*/ 7467 w 9600"/>
                  <a:gd name="T49" fmla="*/ 7467 h 9600"/>
                  <a:gd name="T50" fmla="*/ 7467 w 9600"/>
                  <a:gd name="T51" fmla="*/ 3733 h 9600"/>
                  <a:gd name="T52" fmla="*/ 6400 w 9600"/>
                  <a:gd name="T53" fmla="*/ 3733 h 9600"/>
                  <a:gd name="T54" fmla="*/ 6400 w 9600"/>
                  <a:gd name="T55" fmla="*/ 7467 h 9600"/>
                  <a:gd name="T56" fmla="*/ 2133 w 9600"/>
                  <a:gd name="T57" fmla="*/ 7467 h 9600"/>
                  <a:gd name="T58" fmla="*/ 3200 w 9600"/>
                  <a:gd name="T59" fmla="*/ 7467 h 9600"/>
                  <a:gd name="T60" fmla="*/ 3200 w 9600"/>
                  <a:gd name="T61" fmla="*/ 4800 h 9600"/>
                  <a:gd name="T62" fmla="*/ 2133 w 9600"/>
                  <a:gd name="T63" fmla="*/ 4800 h 9600"/>
                  <a:gd name="T64" fmla="*/ 2133 w 9600"/>
                  <a:gd name="T65" fmla="*/ 7467 h 9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00" h="9600">
                    <a:moveTo>
                      <a:pt x="8533" y="0"/>
                    </a:moveTo>
                    <a:lnTo>
                      <a:pt x="1067" y="0"/>
                    </a:lnTo>
                    <a:cubicBezTo>
                      <a:pt x="480" y="0"/>
                      <a:pt x="0" y="480"/>
                      <a:pt x="0" y="1067"/>
                    </a:cubicBezTo>
                    <a:lnTo>
                      <a:pt x="0" y="8533"/>
                    </a:lnTo>
                    <a:cubicBezTo>
                      <a:pt x="0" y="9120"/>
                      <a:pt x="480" y="9600"/>
                      <a:pt x="1067" y="9600"/>
                    </a:cubicBezTo>
                    <a:lnTo>
                      <a:pt x="8533" y="9600"/>
                    </a:lnTo>
                    <a:cubicBezTo>
                      <a:pt x="9120" y="9600"/>
                      <a:pt x="9600" y="9120"/>
                      <a:pt x="9600" y="8533"/>
                    </a:cubicBezTo>
                    <a:lnTo>
                      <a:pt x="9600" y="1067"/>
                    </a:lnTo>
                    <a:cubicBezTo>
                      <a:pt x="9600" y="480"/>
                      <a:pt x="9120" y="0"/>
                      <a:pt x="8533" y="0"/>
                    </a:cubicBezTo>
                    <a:close/>
                    <a:moveTo>
                      <a:pt x="8533" y="8000"/>
                    </a:moveTo>
                    <a:cubicBezTo>
                      <a:pt x="8533" y="8294"/>
                      <a:pt x="8294" y="8533"/>
                      <a:pt x="8000" y="8533"/>
                    </a:cubicBezTo>
                    <a:lnTo>
                      <a:pt x="1600" y="8533"/>
                    </a:lnTo>
                    <a:cubicBezTo>
                      <a:pt x="1306" y="8533"/>
                      <a:pt x="1067" y="8294"/>
                      <a:pt x="1067" y="8000"/>
                    </a:cubicBezTo>
                    <a:lnTo>
                      <a:pt x="1067" y="1600"/>
                    </a:lnTo>
                    <a:cubicBezTo>
                      <a:pt x="1067" y="1306"/>
                      <a:pt x="1306" y="1067"/>
                      <a:pt x="1600" y="1067"/>
                    </a:cubicBezTo>
                    <a:lnTo>
                      <a:pt x="8000" y="1067"/>
                    </a:lnTo>
                    <a:cubicBezTo>
                      <a:pt x="8294" y="1067"/>
                      <a:pt x="8533" y="1306"/>
                      <a:pt x="8533" y="1600"/>
                    </a:cubicBezTo>
                    <a:lnTo>
                      <a:pt x="8533" y="8000"/>
                    </a:lnTo>
                    <a:close/>
                    <a:moveTo>
                      <a:pt x="4267" y="7467"/>
                    </a:moveTo>
                    <a:lnTo>
                      <a:pt x="5333" y="7467"/>
                    </a:lnTo>
                    <a:lnTo>
                      <a:pt x="5333" y="2133"/>
                    </a:lnTo>
                    <a:lnTo>
                      <a:pt x="4267" y="2133"/>
                    </a:lnTo>
                    <a:lnTo>
                      <a:pt x="4267" y="7467"/>
                    </a:lnTo>
                    <a:close/>
                    <a:moveTo>
                      <a:pt x="6400" y="7467"/>
                    </a:moveTo>
                    <a:lnTo>
                      <a:pt x="7467" y="7467"/>
                    </a:lnTo>
                    <a:lnTo>
                      <a:pt x="7467" y="3733"/>
                    </a:lnTo>
                    <a:lnTo>
                      <a:pt x="6400" y="3733"/>
                    </a:lnTo>
                    <a:lnTo>
                      <a:pt x="6400" y="7467"/>
                    </a:lnTo>
                    <a:close/>
                    <a:moveTo>
                      <a:pt x="2133" y="7467"/>
                    </a:moveTo>
                    <a:lnTo>
                      <a:pt x="3200" y="7467"/>
                    </a:lnTo>
                    <a:lnTo>
                      <a:pt x="3200" y="4800"/>
                    </a:lnTo>
                    <a:lnTo>
                      <a:pt x="2133" y="4800"/>
                    </a:lnTo>
                    <a:lnTo>
                      <a:pt x="2133" y="746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87">
                  <a:defRPr/>
                </a:pPr>
                <a:endParaRPr lang="zh-CN" altLang="en-US" sz="2000" dirty="0">
                  <a:solidFill>
                    <a:srgbClr val="000000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</p:grpSp>
      </p:grpSp>
      <p:sp>
        <p:nvSpPr>
          <p:cNvPr id="151" name="圆角矩形"/>
          <p:cNvSpPr/>
          <p:nvPr/>
        </p:nvSpPr>
        <p:spPr>
          <a:xfrm>
            <a:off x="171000" y="4662041"/>
            <a:ext cx="8826794" cy="231709"/>
          </a:xfrm>
          <a:prstGeom prst="roundRect">
            <a:avLst>
              <a:gd name="adj" fmla="val 1147"/>
            </a:avLst>
          </a:prstGeom>
          <a:solidFill>
            <a:srgbClr val="1578FE"/>
          </a:solidFill>
          <a:ln w="12700">
            <a:solidFill>
              <a:srgbClr val="1578FE"/>
            </a:solidFill>
            <a:miter lim="400000"/>
          </a:ln>
        </p:spPr>
        <p:txBody>
          <a:bodyPr lIns="0" tIns="0" rIns="0" bIns="0" anchor="ctr" anchorCtr="0"/>
          <a:lstStyle/>
          <a:p>
            <a:pPr algn="ctr" defTabSz="821055">
              <a:defRPr/>
            </a:pPr>
            <a:r>
              <a:rPr lang="zh-CN" altLang="en-US" sz="105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Helvetica Light"/>
              </a:rPr>
              <a:t>技术   平台   运营   咨询</a:t>
            </a:r>
            <a:endParaRPr sz="105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Helvetica Ligh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F858016-F623-124D-B0AD-A9B1AE33696A}"/>
              </a:ext>
            </a:extLst>
          </p:cNvPr>
          <p:cNvGrpSpPr/>
          <p:nvPr/>
        </p:nvGrpSpPr>
        <p:grpSpPr>
          <a:xfrm>
            <a:off x="7431314" y="3397092"/>
            <a:ext cx="1402651" cy="276999"/>
            <a:chOff x="7752178" y="3622812"/>
            <a:chExt cx="1402651" cy="276999"/>
          </a:xfrm>
        </p:grpSpPr>
        <p:grpSp>
          <p:nvGrpSpPr>
            <p:cNvPr id="76" name="Group 72">
              <a:extLst>
                <a:ext uri="{FF2B5EF4-FFF2-40B4-BE49-F238E27FC236}">
                  <a16:creationId xmlns:a16="http://schemas.microsoft.com/office/drawing/2014/main" id="{EA3BDE99-D996-41B0-83F2-445EEE15F699}"/>
                </a:ext>
              </a:extLst>
            </p:cNvPr>
            <p:cNvGrpSpPr/>
            <p:nvPr/>
          </p:nvGrpSpPr>
          <p:grpSpPr>
            <a:xfrm>
              <a:off x="7752178" y="3650519"/>
              <a:ext cx="196466" cy="193064"/>
              <a:chOff x="608866" y="1803217"/>
              <a:chExt cx="580419" cy="580419"/>
            </a:xfrm>
          </p:grpSpPr>
          <p:sp>
            <p:nvSpPr>
              <p:cNvPr id="77" name="ísḷídê">
                <a:extLst>
                  <a:ext uri="{FF2B5EF4-FFF2-40B4-BE49-F238E27FC236}">
                    <a16:creationId xmlns:a16="http://schemas.microsoft.com/office/drawing/2014/main" id="{2382F72C-AF46-4153-9874-E6A51B9682A9}"/>
                  </a:ext>
                </a:extLst>
              </p:cNvPr>
              <p:cNvSpPr/>
              <p:nvPr/>
            </p:nvSpPr>
            <p:spPr>
              <a:xfrm>
                <a:off x="608866" y="1803217"/>
                <a:ext cx="580419" cy="580419"/>
              </a:xfrm>
              <a:prstGeom prst="ellipse">
                <a:avLst/>
              </a:prstGeom>
              <a:solidFill>
                <a:srgbClr val="1178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87">
                  <a:defRPr/>
                </a:pPr>
                <a:endParaRPr lang="zh-CN" altLang="en-US" sz="200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  <p:sp>
            <p:nvSpPr>
              <p:cNvPr id="78" name="îşḻíḓè">
                <a:extLst>
                  <a:ext uri="{FF2B5EF4-FFF2-40B4-BE49-F238E27FC236}">
                    <a16:creationId xmlns:a16="http://schemas.microsoft.com/office/drawing/2014/main" id="{5CBE562D-2F25-4545-A74F-CC95A9DEE01F}"/>
                  </a:ext>
                </a:extLst>
              </p:cNvPr>
              <p:cNvSpPr/>
              <p:nvPr/>
            </p:nvSpPr>
            <p:spPr bwMode="auto">
              <a:xfrm>
                <a:off x="716444" y="1906793"/>
                <a:ext cx="365263" cy="373267"/>
              </a:xfrm>
              <a:custGeom>
                <a:avLst/>
                <a:gdLst>
                  <a:gd name="connsiteX0" fmla="*/ 381282 w 594750"/>
                  <a:gd name="connsiteY0" fmla="*/ 313946 h 607780"/>
                  <a:gd name="connsiteX1" fmla="*/ 400154 w 594750"/>
                  <a:gd name="connsiteY1" fmla="*/ 351545 h 607780"/>
                  <a:gd name="connsiteX2" fmla="*/ 381282 w 594750"/>
                  <a:gd name="connsiteY2" fmla="*/ 389239 h 607780"/>
                  <a:gd name="connsiteX3" fmla="*/ 370755 w 594750"/>
                  <a:gd name="connsiteY3" fmla="*/ 384788 h 607780"/>
                  <a:gd name="connsiteX4" fmla="*/ 361745 w 594750"/>
                  <a:gd name="connsiteY4" fmla="*/ 351451 h 607780"/>
                  <a:gd name="connsiteX5" fmla="*/ 368099 w 594750"/>
                  <a:gd name="connsiteY5" fmla="*/ 321807 h 607780"/>
                  <a:gd name="connsiteX6" fmla="*/ 381282 w 594750"/>
                  <a:gd name="connsiteY6" fmla="*/ 313946 h 607780"/>
                  <a:gd name="connsiteX7" fmla="*/ 381924 w 594750"/>
                  <a:gd name="connsiteY7" fmla="*/ 276505 h 607780"/>
                  <a:gd name="connsiteX8" fmla="*/ 313223 w 594750"/>
                  <a:gd name="connsiteY8" fmla="*/ 353070 h 607780"/>
                  <a:gd name="connsiteX9" fmla="*/ 380216 w 594750"/>
                  <a:gd name="connsiteY9" fmla="*/ 426697 h 607780"/>
                  <a:gd name="connsiteX10" fmla="*/ 448253 w 594750"/>
                  <a:gd name="connsiteY10" fmla="*/ 349090 h 607780"/>
                  <a:gd name="connsiteX11" fmla="*/ 381924 w 594750"/>
                  <a:gd name="connsiteY11" fmla="*/ 276505 h 607780"/>
                  <a:gd name="connsiteX12" fmla="*/ 214145 w 594750"/>
                  <a:gd name="connsiteY12" fmla="*/ 217835 h 607780"/>
                  <a:gd name="connsiteX13" fmla="*/ 233408 w 594750"/>
                  <a:gd name="connsiteY13" fmla="*/ 255470 h 607780"/>
                  <a:gd name="connsiteX14" fmla="*/ 214525 w 594750"/>
                  <a:gd name="connsiteY14" fmla="*/ 293199 h 607780"/>
                  <a:gd name="connsiteX15" fmla="*/ 194597 w 594750"/>
                  <a:gd name="connsiteY15" fmla="*/ 255470 h 607780"/>
                  <a:gd name="connsiteX16" fmla="*/ 214145 w 594750"/>
                  <a:gd name="connsiteY16" fmla="*/ 217835 h 607780"/>
                  <a:gd name="connsiteX17" fmla="*/ 352698 w 594750"/>
                  <a:gd name="connsiteY17" fmla="*/ 180420 h 607780"/>
                  <a:gd name="connsiteX18" fmla="*/ 344063 w 594750"/>
                  <a:gd name="connsiteY18" fmla="*/ 185537 h 607780"/>
                  <a:gd name="connsiteX19" fmla="*/ 217763 w 594750"/>
                  <a:gd name="connsiteY19" fmla="*/ 412673 h 607780"/>
                  <a:gd name="connsiteX20" fmla="*/ 217858 w 594750"/>
                  <a:gd name="connsiteY20" fmla="*/ 422528 h 607780"/>
                  <a:gd name="connsiteX21" fmla="*/ 226398 w 594750"/>
                  <a:gd name="connsiteY21" fmla="*/ 427360 h 607780"/>
                  <a:gd name="connsiteX22" fmla="*/ 241675 w 594750"/>
                  <a:gd name="connsiteY22" fmla="*/ 427360 h 607780"/>
                  <a:gd name="connsiteX23" fmla="*/ 250310 w 594750"/>
                  <a:gd name="connsiteY23" fmla="*/ 422243 h 607780"/>
                  <a:gd name="connsiteX24" fmla="*/ 376990 w 594750"/>
                  <a:gd name="connsiteY24" fmla="*/ 195108 h 607780"/>
                  <a:gd name="connsiteX25" fmla="*/ 376800 w 594750"/>
                  <a:gd name="connsiteY25" fmla="*/ 185253 h 607780"/>
                  <a:gd name="connsiteX26" fmla="*/ 368355 w 594750"/>
                  <a:gd name="connsiteY26" fmla="*/ 180420 h 607780"/>
                  <a:gd name="connsiteX27" fmla="*/ 215296 w 594750"/>
                  <a:gd name="connsiteY27" fmla="*/ 180420 h 607780"/>
                  <a:gd name="connsiteX28" fmla="*/ 146500 w 594750"/>
                  <a:gd name="connsiteY28" fmla="*/ 256890 h 607780"/>
                  <a:gd name="connsiteX29" fmla="*/ 213493 w 594750"/>
                  <a:gd name="connsiteY29" fmla="*/ 330612 h 607780"/>
                  <a:gd name="connsiteX30" fmla="*/ 281529 w 594750"/>
                  <a:gd name="connsiteY30" fmla="*/ 253005 h 607780"/>
                  <a:gd name="connsiteX31" fmla="*/ 215296 w 594750"/>
                  <a:gd name="connsiteY31" fmla="*/ 180420 h 607780"/>
                  <a:gd name="connsiteX32" fmla="*/ 297281 w 594750"/>
                  <a:gd name="connsiteY32" fmla="*/ 0 h 607780"/>
                  <a:gd name="connsiteX33" fmla="*/ 317114 w 594750"/>
                  <a:gd name="connsiteY33" fmla="*/ 10708 h 607780"/>
                  <a:gd name="connsiteX34" fmla="*/ 352318 w 594750"/>
                  <a:gd name="connsiteY34" fmla="*/ 64910 h 607780"/>
                  <a:gd name="connsiteX35" fmla="*/ 407734 w 594750"/>
                  <a:gd name="connsiteY35" fmla="*/ 31555 h 607780"/>
                  <a:gd name="connsiteX36" fmla="*/ 430224 w 594750"/>
                  <a:gd name="connsiteY36" fmla="*/ 30512 h 607780"/>
                  <a:gd name="connsiteX37" fmla="*/ 443319 w 594750"/>
                  <a:gd name="connsiteY37" fmla="*/ 48801 h 607780"/>
                  <a:gd name="connsiteX38" fmla="*/ 451289 w 594750"/>
                  <a:gd name="connsiteY38" fmla="*/ 112384 h 607780"/>
                  <a:gd name="connsiteX39" fmla="*/ 515151 w 594750"/>
                  <a:gd name="connsiteY39" fmla="*/ 106319 h 607780"/>
                  <a:gd name="connsiteX40" fmla="*/ 535837 w 594750"/>
                  <a:gd name="connsiteY40" fmla="*/ 115132 h 607780"/>
                  <a:gd name="connsiteX41" fmla="*/ 539633 w 594750"/>
                  <a:gd name="connsiteY41" fmla="*/ 137210 h 607780"/>
                  <a:gd name="connsiteX42" fmla="*/ 519231 w 594750"/>
                  <a:gd name="connsiteY42" fmla="*/ 197950 h 607780"/>
                  <a:gd name="connsiteX43" fmla="*/ 579392 w 594750"/>
                  <a:gd name="connsiteY43" fmla="*/ 220219 h 607780"/>
                  <a:gd name="connsiteX44" fmla="*/ 594195 w 594750"/>
                  <a:gd name="connsiteY44" fmla="*/ 237086 h 607780"/>
                  <a:gd name="connsiteX45" fmla="*/ 588027 w 594750"/>
                  <a:gd name="connsiteY45" fmla="*/ 258690 h 607780"/>
                  <a:gd name="connsiteX46" fmla="*/ 543239 w 594750"/>
                  <a:gd name="connsiteY46" fmla="*/ 304553 h 607780"/>
                  <a:gd name="connsiteX47" fmla="*/ 587837 w 594750"/>
                  <a:gd name="connsiteY47" fmla="*/ 350606 h 607780"/>
                  <a:gd name="connsiteX48" fmla="*/ 593816 w 594750"/>
                  <a:gd name="connsiteY48" fmla="*/ 372211 h 607780"/>
                  <a:gd name="connsiteX49" fmla="*/ 578918 w 594750"/>
                  <a:gd name="connsiteY49" fmla="*/ 389078 h 607780"/>
                  <a:gd name="connsiteX50" fmla="*/ 518662 w 594750"/>
                  <a:gd name="connsiteY50" fmla="*/ 410967 h 607780"/>
                  <a:gd name="connsiteX51" fmla="*/ 538779 w 594750"/>
                  <a:gd name="connsiteY51" fmla="*/ 471802 h 607780"/>
                  <a:gd name="connsiteX52" fmla="*/ 534793 w 594750"/>
                  <a:gd name="connsiteY52" fmla="*/ 493881 h 607780"/>
                  <a:gd name="connsiteX53" fmla="*/ 514107 w 594750"/>
                  <a:gd name="connsiteY53" fmla="*/ 502598 h 607780"/>
                  <a:gd name="connsiteX54" fmla="*/ 450246 w 594750"/>
                  <a:gd name="connsiteY54" fmla="*/ 496250 h 607780"/>
                  <a:gd name="connsiteX55" fmla="*/ 441990 w 594750"/>
                  <a:gd name="connsiteY55" fmla="*/ 559738 h 607780"/>
                  <a:gd name="connsiteX56" fmla="*/ 428800 w 594750"/>
                  <a:gd name="connsiteY56" fmla="*/ 577931 h 607780"/>
                  <a:gd name="connsiteX57" fmla="*/ 406311 w 594750"/>
                  <a:gd name="connsiteY57" fmla="*/ 576794 h 607780"/>
                  <a:gd name="connsiteX58" fmla="*/ 351559 w 594750"/>
                  <a:gd name="connsiteY58" fmla="*/ 543439 h 607780"/>
                  <a:gd name="connsiteX59" fmla="*/ 316544 w 594750"/>
                  <a:gd name="connsiteY59" fmla="*/ 597072 h 607780"/>
                  <a:gd name="connsiteX60" fmla="*/ 296807 w 594750"/>
                  <a:gd name="connsiteY60" fmla="*/ 607780 h 607780"/>
                  <a:gd name="connsiteX61" fmla="*/ 277070 w 594750"/>
                  <a:gd name="connsiteY61" fmla="*/ 597072 h 607780"/>
                  <a:gd name="connsiteX62" fmla="*/ 242150 w 594750"/>
                  <a:gd name="connsiteY62" fmla="*/ 543250 h 607780"/>
                  <a:gd name="connsiteX63" fmla="*/ 187303 w 594750"/>
                  <a:gd name="connsiteY63" fmla="*/ 576415 h 607780"/>
                  <a:gd name="connsiteX64" fmla="*/ 164908 w 594750"/>
                  <a:gd name="connsiteY64" fmla="*/ 577457 h 607780"/>
                  <a:gd name="connsiteX65" fmla="*/ 151719 w 594750"/>
                  <a:gd name="connsiteY65" fmla="*/ 559264 h 607780"/>
                  <a:gd name="connsiteX66" fmla="*/ 143748 w 594750"/>
                  <a:gd name="connsiteY66" fmla="*/ 495681 h 607780"/>
                  <a:gd name="connsiteX67" fmla="*/ 79886 w 594750"/>
                  <a:gd name="connsiteY67" fmla="*/ 501840 h 607780"/>
                  <a:gd name="connsiteX68" fmla="*/ 59200 w 594750"/>
                  <a:gd name="connsiteY68" fmla="*/ 493028 h 607780"/>
                  <a:gd name="connsiteX69" fmla="*/ 55214 w 594750"/>
                  <a:gd name="connsiteY69" fmla="*/ 470949 h 607780"/>
                  <a:gd name="connsiteX70" fmla="*/ 75616 w 594750"/>
                  <a:gd name="connsiteY70" fmla="*/ 410209 h 607780"/>
                  <a:gd name="connsiteX71" fmla="*/ 15360 w 594750"/>
                  <a:gd name="connsiteY71" fmla="*/ 388036 h 607780"/>
                  <a:gd name="connsiteX72" fmla="*/ 557 w 594750"/>
                  <a:gd name="connsiteY72" fmla="*/ 371169 h 607780"/>
                  <a:gd name="connsiteX73" fmla="*/ 6630 w 594750"/>
                  <a:gd name="connsiteY73" fmla="*/ 349564 h 607780"/>
                  <a:gd name="connsiteX74" fmla="*/ 51324 w 594750"/>
                  <a:gd name="connsiteY74" fmla="*/ 303701 h 607780"/>
                  <a:gd name="connsiteX75" fmla="*/ 6725 w 594750"/>
                  <a:gd name="connsiteY75" fmla="*/ 257648 h 607780"/>
                  <a:gd name="connsiteX76" fmla="*/ 652 w 594750"/>
                  <a:gd name="connsiteY76" fmla="*/ 236043 h 607780"/>
                  <a:gd name="connsiteX77" fmla="*/ 15550 w 594750"/>
                  <a:gd name="connsiteY77" fmla="*/ 219176 h 607780"/>
                  <a:gd name="connsiteX78" fmla="*/ 75806 w 594750"/>
                  <a:gd name="connsiteY78" fmla="*/ 197192 h 607780"/>
                  <a:gd name="connsiteX79" fmla="*/ 55594 w 594750"/>
                  <a:gd name="connsiteY79" fmla="*/ 136357 h 607780"/>
                  <a:gd name="connsiteX80" fmla="*/ 59485 w 594750"/>
                  <a:gd name="connsiteY80" fmla="*/ 114279 h 607780"/>
                  <a:gd name="connsiteX81" fmla="*/ 80171 w 594750"/>
                  <a:gd name="connsiteY81" fmla="*/ 105561 h 607780"/>
                  <a:gd name="connsiteX82" fmla="*/ 144032 w 594750"/>
                  <a:gd name="connsiteY82" fmla="*/ 111815 h 607780"/>
                  <a:gd name="connsiteX83" fmla="*/ 152193 w 594750"/>
                  <a:gd name="connsiteY83" fmla="*/ 48232 h 607780"/>
                  <a:gd name="connsiteX84" fmla="*/ 165383 w 594750"/>
                  <a:gd name="connsiteY84" fmla="*/ 30039 h 607780"/>
                  <a:gd name="connsiteX85" fmla="*/ 187777 w 594750"/>
                  <a:gd name="connsiteY85" fmla="*/ 31176 h 607780"/>
                  <a:gd name="connsiteX86" fmla="*/ 242624 w 594750"/>
                  <a:gd name="connsiteY86" fmla="*/ 64436 h 607780"/>
                  <a:gd name="connsiteX87" fmla="*/ 277544 w 594750"/>
                  <a:gd name="connsiteY87" fmla="*/ 10708 h 607780"/>
                  <a:gd name="connsiteX88" fmla="*/ 297281 w 594750"/>
                  <a:gd name="connsiteY88" fmla="*/ 0 h 607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594750" h="607780">
                    <a:moveTo>
                      <a:pt x="381282" y="313946"/>
                    </a:moveTo>
                    <a:cubicBezTo>
                      <a:pt x="396835" y="313946"/>
                      <a:pt x="400154" y="334403"/>
                      <a:pt x="400154" y="351545"/>
                    </a:cubicBezTo>
                    <a:cubicBezTo>
                      <a:pt x="400154" y="368687"/>
                      <a:pt x="396835" y="389239"/>
                      <a:pt x="381282" y="389239"/>
                    </a:cubicBezTo>
                    <a:cubicBezTo>
                      <a:pt x="377203" y="389239"/>
                      <a:pt x="373694" y="387724"/>
                      <a:pt x="370755" y="384788"/>
                    </a:cubicBezTo>
                    <a:cubicBezTo>
                      <a:pt x="364780" y="378727"/>
                      <a:pt x="361555" y="366604"/>
                      <a:pt x="361745" y="351451"/>
                    </a:cubicBezTo>
                    <a:cubicBezTo>
                      <a:pt x="361745" y="338760"/>
                      <a:pt x="363926" y="328531"/>
                      <a:pt x="368099" y="321807"/>
                    </a:cubicBezTo>
                    <a:cubicBezTo>
                      <a:pt x="371418" y="316409"/>
                      <a:pt x="375591" y="313946"/>
                      <a:pt x="381282" y="313946"/>
                    </a:cubicBezTo>
                    <a:close/>
                    <a:moveTo>
                      <a:pt x="381924" y="276505"/>
                    </a:moveTo>
                    <a:cubicBezTo>
                      <a:pt x="341501" y="276505"/>
                      <a:pt x="313223" y="307965"/>
                      <a:pt x="313223" y="353070"/>
                    </a:cubicBezTo>
                    <a:cubicBezTo>
                      <a:pt x="313508" y="396374"/>
                      <a:pt x="341121" y="426697"/>
                      <a:pt x="380216" y="426697"/>
                    </a:cubicBezTo>
                    <a:cubicBezTo>
                      <a:pt x="412953" y="426697"/>
                      <a:pt x="448253" y="402344"/>
                      <a:pt x="448253" y="349090"/>
                    </a:cubicBezTo>
                    <a:cubicBezTo>
                      <a:pt x="448253" y="304932"/>
                      <a:pt x="422253" y="276505"/>
                      <a:pt x="381924" y="276505"/>
                    </a:cubicBezTo>
                    <a:close/>
                    <a:moveTo>
                      <a:pt x="214145" y="217835"/>
                    </a:moveTo>
                    <a:cubicBezTo>
                      <a:pt x="230087" y="217835"/>
                      <a:pt x="233408" y="238311"/>
                      <a:pt x="233408" y="255470"/>
                    </a:cubicBezTo>
                    <a:cubicBezTo>
                      <a:pt x="233408" y="272723"/>
                      <a:pt x="230087" y="293199"/>
                      <a:pt x="214525" y="293199"/>
                    </a:cubicBezTo>
                    <a:cubicBezTo>
                      <a:pt x="199816" y="293199"/>
                      <a:pt x="194597" y="273766"/>
                      <a:pt x="194597" y="255470"/>
                    </a:cubicBezTo>
                    <a:cubicBezTo>
                      <a:pt x="194597" y="237269"/>
                      <a:pt x="199721" y="217835"/>
                      <a:pt x="214145" y="217835"/>
                    </a:cubicBezTo>
                    <a:close/>
                    <a:moveTo>
                      <a:pt x="352698" y="180420"/>
                    </a:moveTo>
                    <a:cubicBezTo>
                      <a:pt x="349092" y="180420"/>
                      <a:pt x="345771" y="182410"/>
                      <a:pt x="344063" y="185537"/>
                    </a:cubicBezTo>
                    <a:lnTo>
                      <a:pt x="217763" y="412673"/>
                    </a:lnTo>
                    <a:cubicBezTo>
                      <a:pt x="216055" y="415705"/>
                      <a:pt x="216150" y="419495"/>
                      <a:pt x="217858" y="422528"/>
                    </a:cubicBezTo>
                    <a:cubicBezTo>
                      <a:pt x="219661" y="425465"/>
                      <a:pt x="222887" y="427360"/>
                      <a:pt x="226398" y="427360"/>
                    </a:cubicBezTo>
                    <a:lnTo>
                      <a:pt x="241675" y="427360"/>
                    </a:lnTo>
                    <a:cubicBezTo>
                      <a:pt x="245281" y="427360"/>
                      <a:pt x="248602" y="425370"/>
                      <a:pt x="250310" y="422243"/>
                    </a:cubicBezTo>
                    <a:lnTo>
                      <a:pt x="376990" y="195108"/>
                    </a:lnTo>
                    <a:cubicBezTo>
                      <a:pt x="378698" y="192075"/>
                      <a:pt x="378603" y="188285"/>
                      <a:pt x="376800" y="185253"/>
                    </a:cubicBezTo>
                    <a:cubicBezTo>
                      <a:pt x="375092" y="182315"/>
                      <a:pt x="371866" y="180420"/>
                      <a:pt x="368355" y="180420"/>
                    </a:cubicBezTo>
                    <a:close/>
                    <a:moveTo>
                      <a:pt x="215296" y="180420"/>
                    </a:moveTo>
                    <a:cubicBezTo>
                      <a:pt x="174777" y="180420"/>
                      <a:pt x="146500" y="211880"/>
                      <a:pt x="146500" y="256890"/>
                    </a:cubicBezTo>
                    <a:cubicBezTo>
                      <a:pt x="146500" y="300289"/>
                      <a:pt x="174018" y="330612"/>
                      <a:pt x="213493" y="330612"/>
                    </a:cubicBezTo>
                    <a:cubicBezTo>
                      <a:pt x="246230" y="330612"/>
                      <a:pt x="281529" y="306354"/>
                      <a:pt x="281529" y="253005"/>
                    </a:cubicBezTo>
                    <a:cubicBezTo>
                      <a:pt x="281529" y="208942"/>
                      <a:pt x="255529" y="180420"/>
                      <a:pt x="215296" y="180420"/>
                    </a:cubicBezTo>
                    <a:close/>
                    <a:moveTo>
                      <a:pt x="297281" y="0"/>
                    </a:moveTo>
                    <a:cubicBezTo>
                      <a:pt x="305252" y="0"/>
                      <a:pt x="312749" y="4075"/>
                      <a:pt x="317114" y="10708"/>
                    </a:cubicBezTo>
                    <a:lnTo>
                      <a:pt x="352318" y="64910"/>
                    </a:lnTo>
                    <a:lnTo>
                      <a:pt x="407734" y="31555"/>
                    </a:lnTo>
                    <a:cubicBezTo>
                      <a:pt x="414567" y="27385"/>
                      <a:pt x="423107" y="27006"/>
                      <a:pt x="430224" y="30512"/>
                    </a:cubicBezTo>
                    <a:cubicBezTo>
                      <a:pt x="437435" y="34018"/>
                      <a:pt x="442370" y="40841"/>
                      <a:pt x="443319" y="48801"/>
                    </a:cubicBezTo>
                    <a:lnTo>
                      <a:pt x="451289" y="112384"/>
                    </a:lnTo>
                    <a:lnTo>
                      <a:pt x="515151" y="106319"/>
                    </a:lnTo>
                    <a:cubicBezTo>
                      <a:pt x="523027" y="105561"/>
                      <a:pt x="530808" y="108877"/>
                      <a:pt x="535837" y="115132"/>
                    </a:cubicBezTo>
                    <a:cubicBezTo>
                      <a:pt x="540772" y="121386"/>
                      <a:pt x="542195" y="129724"/>
                      <a:pt x="539633" y="137210"/>
                    </a:cubicBezTo>
                    <a:lnTo>
                      <a:pt x="519231" y="197950"/>
                    </a:lnTo>
                    <a:lnTo>
                      <a:pt x="579392" y="220219"/>
                    </a:lnTo>
                    <a:cubicBezTo>
                      <a:pt x="586889" y="222967"/>
                      <a:pt x="592392" y="229315"/>
                      <a:pt x="594195" y="237086"/>
                    </a:cubicBezTo>
                    <a:cubicBezTo>
                      <a:pt x="595903" y="244856"/>
                      <a:pt x="593626" y="253005"/>
                      <a:pt x="588027" y="258690"/>
                    </a:cubicBezTo>
                    <a:lnTo>
                      <a:pt x="543239" y="304553"/>
                    </a:lnTo>
                    <a:lnTo>
                      <a:pt x="587837" y="350606"/>
                    </a:lnTo>
                    <a:cubicBezTo>
                      <a:pt x="593341" y="356386"/>
                      <a:pt x="595619" y="364441"/>
                      <a:pt x="593816" y="372211"/>
                    </a:cubicBezTo>
                    <a:cubicBezTo>
                      <a:pt x="592013" y="379981"/>
                      <a:pt x="586414" y="386330"/>
                      <a:pt x="578918" y="389078"/>
                    </a:cubicBezTo>
                    <a:lnTo>
                      <a:pt x="518662" y="410967"/>
                    </a:lnTo>
                    <a:lnTo>
                      <a:pt x="538779" y="471802"/>
                    </a:lnTo>
                    <a:cubicBezTo>
                      <a:pt x="541341" y="479383"/>
                      <a:pt x="539823" y="487627"/>
                      <a:pt x="534793" y="493881"/>
                    </a:cubicBezTo>
                    <a:cubicBezTo>
                      <a:pt x="529859" y="500135"/>
                      <a:pt x="522078" y="503356"/>
                      <a:pt x="514107" y="502598"/>
                    </a:cubicBezTo>
                    <a:lnTo>
                      <a:pt x="450246" y="496250"/>
                    </a:lnTo>
                    <a:lnTo>
                      <a:pt x="441990" y="559738"/>
                    </a:lnTo>
                    <a:cubicBezTo>
                      <a:pt x="440946" y="567697"/>
                      <a:pt x="436012" y="574520"/>
                      <a:pt x="428800" y="577931"/>
                    </a:cubicBezTo>
                    <a:cubicBezTo>
                      <a:pt x="421589" y="581343"/>
                      <a:pt x="413143" y="580964"/>
                      <a:pt x="406311" y="576794"/>
                    </a:cubicBezTo>
                    <a:lnTo>
                      <a:pt x="351559" y="543439"/>
                    </a:lnTo>
                    <a:lnTo>
                      <a:pt x="316544" y="597072"/>
                    </a:lnTo>
                    <a:cubicBezTo>
                      <a:pt x="312179" y="603800"/>
                      <a:pt x="304778" y="607780"/>
                      <a:pt x="296807" y="607780"/>
                    </a:cubicBezTo>
                    <a:cubicBezTo>
                      <a:pt x="288836" y="607780"/>
                      <a:pt x="281340" y="603706"/>
                      <a:pt x="277070" y="597072"/>
                    </a:cubicBezTo>
                    <a:lnTo>
                      <a:pt x="242150" y="543250"/>
                    </a:lnTo>
                    <a:lnTo>
                      <a:pt x="187303" y="576415"/>
                    </a:lnTo>
                    <a:cubicBezTo>
                      <a:pt x="180471" y="580585"/>
                      <a:pt x="172025" y="580964"/>
                      <a:pt x="164908" y="577457"/>
                    </a:cubicBezTo>
                    <a:cubicBezTo>
                      <a:pt x="157697" y="574046"/>
                      <a:pt x="152762" y="567129"/>
                      <a:pt x="151719" y="559264"/>
                    </a:cubicBezTo>
                    <a:lnTo>
                      <a:pt x="143748" y="495681"/>
                    </a:lnTo>
                    <a:lnTo>
                      <a:pt x="79886" y="501840"/>
                    </a:lnTo>
                    <a:cubicBezTo>
                      <a:pt x="71915" y="502598"/>
                      <a:pt x="64134" y="499282"/>
                      <a:pt x="59200" y="493028"/>
                    </a:cubicBezTo>
                    <a:cubicBezTo>
                      <a:pt x="54171" y="486868"/>
                      <a:pt x="52747" y="478530"/>
                      <a:pt x="55214" y="470949"/>
                    </a:cubicBezTo>
                    <a:lnTo>
                      <a:pt x="75616" y="410209"/>
                    </a:lnTo>
                    <a:lnTo>
                      <a:pt x="15360" y="388036"/>
                    </a:lnTo>
                    <a:cubicBezTo>
                      <a:pt x="7959" y="385288"/>
                      <a:pt x="2360" y="378939"/>
                      <a:pt x="557" y="371169"/>
                    </a:cubicBezTo>
                    <a:cubicBezTo>
                      <a:pt x="-1151" y="363493"/>
                      <a:pt x="1127" y="355344"/>
                      <a:pt x="6630" y="349564"/>
                    </a:cubicBezTo>
                    <a:lnTo>
                      <a:pt x="51324" y="303701"/>
                    </a:lnTo>
                    <a:lnTo>
                      <a:pt x="6725" y="257648"/>
                    </a:lnTo>
                    <a:cubicBezTo>
                      <a:pt x="1222" y="251963"/>
                      <a:pt x="-1056" y="243813"/>
                      <a:pt x="652" y="236043"/>
                    </a:cubicBezTo>
                    <a:cubicBezTo>
                      <a:pt x="2455" y="228273"/>
                      <a:pt x="8054" y="221924"/>
                      <a:pt x="15550" y="219176"/>
                    </a:cubicBezTo>
                    <a:lnTo>
                      <a:pt x="75806" y="197192"/>
                    </a:lnTo>
                    <a:lnTo>
                      <a:pt x="55594" y="136357"/>
                    </a:lnTo>
                    <a:cubicBezTo>
                      <a:pt x="53032" y="128871"/>
                      <a:pt x="54550" y="120533"/>
                      <a:pt x="59485" y="114279"/>
                    </a:cubicBezTo>
                    <a:cubicBezTo>
                      <a:pt x="64514" y="108119"/>
                      <a:pt x="72295" y="104803"/>
                      <a:pt x="80171" y="105561"/>
                    </a:cubicBezTo>
                    <a:lnTo>
                      <a:pt x="144032" y="111815"/>
                    </a:lnTo>
                    <a:lnTo>
                      <a:pt x="152193" y="48232"/>
                    </a:lnTo>
                    <a:cubicBezTo>
                      <a:pt x="153237" y="40367"/>
                      <a:pt x="158171" y="33545"/>
                      <a:pt x="165383" y="30039"/>
                    </a:cubicBezTo>
                    <a:cubicBezTo>
                      <a:pt x="172500" y="26627"/>
                      <a:pt x="180945" y="27006"/>
                      <a:pt x="187777" y="31176"/>
                    </a:cubicBezTo>
                    <a:lnTo>
                      <a:pt x="242624" y="64436"/>
                    </a:lnTo>
                    <a:lnTo>
                      <a:pt x="277544" y="10708"/>
                    </a:lnTo>
                    <a:cubicBezTo>
                      <a:pt x="281909" y="4075"/>
                      <a:pt x="289311" y="0"/>
                      <a:pt x="29728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87">
                  <a:defRPr/>
                </a:pPr>
                <a:endParaRPr lang="zh-CN" altLang="en-US" sz="2000">
                  <a:solidFill>
                    <a:srgbClr val="000000"/>
                  </a:solidFill>
                  <a:latin typeface="Calibri"/>
                  <a:ea typeface="等线" panose="02010600030101010101" pitchFamily="2" charset="-122"/>
                  <a:sym typeface="Helvetica Light"/>
                </a:endParaRPr>
              </a:p>
            </p:txBody>
          </p:sp>
        </p:grp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9703589-457C-437E-BAF3-6F4F7092A072}"/>
                </a:ext>
              </a:extLst>
            </p:cNvPr>
            <p:cNvSpPr txBox="1"/>
            <p:nvPr/>
          </p:nvSpPr>
          <p:spPr>
            <a:xfrm>
              <a:off x="7838302" y="3622812"/>
              <a:ext cx="13165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7896">
                <a:defRPr/>
              </a:pPr>
              <a:r>
                <a:rPr lang="zh-CN" altLang="en-US" sz="1200" b="1" dirty="0">
                  <a:solidFill>
                    <a:srgbClr val="E7E6E6">
                      <a:lumMod val="2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elvetica Light"/>
                </a:rPr>
                <a:t>其他金融机构</a:t>
              </a:r>
            </a:p>
          </p:txBody>
        </p:sp>
      </p:grpSp>
      <p:sp>
        <p:nvSpPr>
          <p:cNvPr id="142" name="圆形">
            <a:extLst>
              <a:ext uri="{FF2B5EF4-FFF2-40B4-BE49-F238E27FC236}">
                <a16:creationId xmlns:a16="http://schemas.microsoft.com/office/drawing/2014/main" id="{A9D1F0B3-F003-5540-A1C0-2875F5546CF4}"/>
              </a:ext>
            </a:extLst>
          </p:cNvPr>
          <p:cNvSpPr/>
          <p:nvPr/>
        </p:nvSpPr>
        <p:spPr>
          <a:xfrm>
            <a:off x="154602" y="2166693"/>
            <a:ext cx="791933" cy="776681"/>
          </a:xfrm>
          <a:prstGeom prst="ellipse">
            <a:avLst/>
          </a:prstGeom>
          <a:solidFill>
            <a:srgbClr val="1478FE"/>
          </a:solidFill>
          <a:ln w="101600" cap="flat">
            <a:solidFill>
              <a:srgbClr val="1178FE">
                <a:alpha val="20000"/>
              </a:srgbClr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 defTabSz="307896">
              <a:defRPr>
                <a:solidFill>
                  <a:srgbClr val="1478FE"/>
                </a:solidFill>
              </a:defRPr>
            </a:pPr>
            <a:endParaRPr sz="675">
              <a:solidFill>
                <a:srgbClr val="1478FE"/>
              </a:solidFill>
              <a:latin typeface="Calibri"/>
              <a:sym typeface="Helvetica Light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203982" y="2560159"/>
            <a:ext cx="662038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algn="ctr" defTabSz="685809">
              <a:defRPr/>
            </a:pP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资产端</a:t>
            </a:r>
          </a:p>
        </p:txBody>
      </p:sp>
      <p:pic>
        <p:nvPicPr>
          <p:cNvPr id="150" name="图形 9">
            <a:extLst>
              <a:ext uri="{FF2B5EF4-FFF2-40B4-BE49-F238E27FC236}">
                <a16:creationId xmlns:a16="http://schemas.microsoft.com/office/drawing/2014/main" id="{A7F15C03-1A54-B745-B17D-91A728080D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4351" y="2275755"/>
            <a:ext cx="309073" cy="261295"/>
          </a:xfrm>
          <a:prstGeom prst="rect">
            <a:avLst/>
          </a:prstGeom>
        </p:spPr>
      </p:pic>
      <p:sp>
        <p:nvSpPr>
          <p:cNvPr id="152" name="圆形">
            <a:extLst>
              <a:ext uri="{FF2B5EF4-FFF2-40B4-BE49-F238E27FC236}">
                <a16:creationId xmlns:a16="http://schemas.microsoft.com/office/drawing/2014/main" id="{A9D1F0B3-F003-5540-A1C0-2875F5546CF4}"/>
              </a:ext>
            </a:extLst>
          </p:cNvPr>
          <p:cNvSpPr/>
          <p:nvPr/>
        </p:nvSpPr>
        <p:spPr>
          <a:xfrm>
            <a:off x="8167337" y="2158108"/>
            <a:ext cx="833540" cy="832952"/>
          </a:xfrm>
          <a:prstGeom prst="ellipse">
            <a:avLst/>
          </a:prstGeom>
          <a:solidFill>
            <a:srgbClr val="1478FE"/>
          </a:solidFill>
          <a:ln w="101600" cap="flat">
            <a:solidFill>
              <a:srgbClr val="1178FE">
                <a:alpha val="20000"/>
              </a:srgbClr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 defTabSz="307896">
              <a:defRPr/>
            </a:pPr>
            <a:endParaRPr sz="675">
              <a:solidFill>
                <a:srgbClr val="1478FE"/>
              </a:solidFill>
              <a:latin typeface="Calibri"/>
              <a:sym typeface="Helvetica Light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8230232" y="2601241"/>
            <a:ext cx="733975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algn="ctr" defTabSz="685809">
              <a:defRPr/>
            </a:pP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资金端</a:t>
            </a:r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E2BD65AA-73EB-6546-B502-A62B225EB94B}"/>
              </a:ext>
            </a:extLst>
          </p:cNvPr>
          <p:cNvGrpSpPr/>
          <p:nvPr/>
        </p:nvGrpSpPr>
        <p:grpSpPr>
          <a:xfrm>
            <a:off x="8378272" y="2370828"/>
            <a:ext cx="413651" cy="281681"/>
            <a:chOff x="1544058" y="2036709"/>
            <a:chExt cx="337075" cy="298161"/>
          </a:xfrm>
        </p:grpSpPr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D93FD3A7-377C-9C4C-A612-8EBADFA3AE0F}"/>
                </a:ext>
              </a:extLst>
            </p:cNvPr>
            <p:cNvGrpSpPr/>
            <p:nvPr/>
          </p:nvGrpSpPr>
          <p:grpSpPr>
            <a:xfrm>
              <a:off x="1544058" y="2036709"/>
              <a:ext cx="332012" cy="152070"/>
              <a:chOff x="1470906" y="1880478"/>
              <a:chExt cx="332012" cy="152070"/>
            </a:xfrm>
          </p:grpSpPr>
          <p:sp>
            <p:nvSpPr>
              <p:cNvPr id="161" name="圆角矩形 160">
                <a:extLst>
                  <a:ext uri="{FF2B5EF4-FFF2-40B4-BE49-F238E27FC236}">
                    <a16:creationId xmlns:a16="http://schemas.microsoft.com/office/drawing/2014/main" id="{E00385A3-73DB-704F-ABB6-4D14BE125A60}"/>
                  </a:ext>
                </a:extLst>
              </p:cNvPr>
              <p:cNvSpPr/>
              <p:nvPr/>
            </p:nvSpPr>
            <p:spPr>
              <a:xfrm>
                <a:off x="1470906" y="1880478"/>
                <a:ext cx="332012" cy="152070"/>
              </a:xfrm>
              <a:prstGeom prst="roundRect">
                <a:avLst>
                  <a:gd name="adj" fmla="val 6891"/>
                </a:avLst>
              </a:prstGeom>
              <a:solidFill>
                <a:schemeClr val="bg1"/>
              </a:solidFill>
              <a:ln w="6350" cap="flat">
                <a:noFill/>
                <a:prstDash val="sysDot"/>
                <a:miter lim="400000"/>
              </a:ln>
              <a:effectLst/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algn="ctr" defTabSz="54160">
                  <a:defRPr/>
                </a:pPr>
                <a:endParaRPr kumimoji="1" lang="zh-CN" altLang="en-US" sz="450" b="1" dirty="0">
                  <a:latin typeface="Calibri"/>
                  <a:ea typeface="等线" panose="02010600030101010101" pitchFamily="2" charset="-122"/>
                  <a:sym typeface="Microsoft YaHei"/>
                </a:endParaRPr>
              </a:p>
            </p:txBody>
          </p:sp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B5F97006-1F78-3141-89E1-0CD32B0B9B98}"/>
                  </a:ext>
                </a:extLst>
              </p:cNvPr>
              <p:cNvGrpSpPr/>
              <p:nvPr/>
            </p:nvGrpSpPr>
            <p:grpSpPr>
              <a:xfrm>
                <a:off x="1504456" y="1921588"/>
                <a:ext cx="264912" cy="69850"/>
                <a:chOff x="1506738" y="1927225"/>
                <a:chExt cx="264912" cy="69850"/>
              </a:xfrm>
            </p:grpSpPr>
            <p:cxnSp>
              <p:nvCxnSpPr>
                <p:cNvPr id="163" name="直线连接符 20">
                  <a:extLst>
                    <a:ext uri="{FF2B5EF4-FFF2-40B4-BE49-F238E27FC236}">
                      <a16:creationId xmlns:a16="http://schemas.microsoft.com/office/drawing/2014/main" id="{CC1B4CDB-D652-FA4C-8A9C-EBF55557B56A}"/>
                    </a:ext>
                  </a:extLst>
                </p:cNvPr>
                <p:cNvCxnSpPr/>
                <p:nvPr/>
              </p:nvCxnSpPr>
              <p:spPr>
                <a:xfrm>
                  <a:off x="1506738" y="1927225"/>
                  <a:ext cx="102987" cy="0"/>
                </a:xfrm>
                <a:prstGeom prst="line">
                  <a:avLst/>
                </a:prstGeom>
                <a:ln w="19050">
                  <a:solidFill>
                    <a:srgbClr val="1578F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线连接符 40">
                  <a:extLst>
                    <a:ext uri="{FF2B5EF4-FFF2-40B4-BE49-F238E27FC236}">
                      <a16:creationId xmlns:a16="http://schemas.microsoft.com/office/drawing/2014/main" id="{00B5C28A-2585-EE45-9536-C4C224B26B5C}"/>
                    </a:ext>
                  </a:extLst>
                </p:cNvPr>
                <p:cNvCxnSpPr/>
                <p:nvPr/>
              </p:nvCxnSpPr>
              <p:spPr>
                <a:xfrm>
                  <a:off x="1668663" y="1927225"/>
                  <a:ext cx="102987" cy="0"/>
                </a:xfrm>
                <a:prstGeom prst="line">
                  <a:avLst/>
                </a:prstGeom>
                <a:ln w="19050">
                  <a:solidFill>
                    <a:srgbClr val="1578F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直线连接符 42">
                  <a:extLst>
                    <a:ext uri="{FF2B5EF4-FFF2-40B4-BE49-F238E27FC236}">
                      <a16:creationId xmlns:a16="http://schemas.microsoft.com/office/drawing/2014/main" id="{0F44B997-D198-9B4B-83AD-F870ED2C8B15}"/>
                    </a:ext>
                  </a:extLst>
                </p:cNvPr>
                <p:cNvCxnSpPr/>
                <p:nvPr/>
              </p:nvCxnSpPr>
              <p:spPr>
                <a:xfrm>
                  <a:off x="1506738" y="1962150"/>
                  <a:ext cx="102987" cy="0"/>
                </a:xfrm>
                <a:prstGeom prst="line">
                  <a:avLst/>
                </a:prstGeom>
                <a:ln w="19050">
                  <a:solidFill>
                    <a:srgbClr val="1578F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线连接符 43">
                  <a:extLst>
                    <a:ext uri="{FF2B5EF4-FFF2-40B4-BE49-F238E27FC236}">
                      <a16:creationId xmlns:a16="http://schemas.microsoft.com/office/drawing/2014/main" id="{CB2D7FA5-DC6E-1647-B219-6AF73D6C7893}"/>
                    </a:ext>
                  </a:extLst>
                </p:cNvPr>
                <p:cNvCxnSpPr/>
                <p:nvPr/>
              </p:nvCxnSpPr>
              <p:spPr>
                <a:xfrm>
                  <a:off x="1668663" y="1962150"/>
                  <a:ext cx="102987" cy="0"/>
                </a:xfrm>
                <a:prstGeom prst="line">
                  <a:avLst/>
                </a:prstGeom>
                <a:ln w="19050">
                  <a:solidFill>
                    <a:srgbClr val="1578F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线连接符 44">
                  <a:extLst>
                    <a:ext uri="{FF2B5EF4-FFF2-40B4-BE49-F238E27FC236}">
                      <a16:creationId xmlns:a16="http://schemas.microsoft.com/office/drawing/2014/main" id="{AD793D38-895F-4946-9BD2-D830CB94A00B}"/>
                    </a:ext>
                  </a:extLst>
                </p:cNvPr>
                <p:cNvCxnSpPr/>
                <p:nvPr/>
              </p:nvCxnSpPr>
              <p:spPr>
                <a:xfrm>
                  <a:off x="1506738" y="1997075"/>
                  <a:ext cx="102987" cy="0"/>
                </a:xfrm>
                <a:prstGeom prst="line">
                  <a:avLst/>
                </a:prstGeom>
                <a:ln w="19050">
                  <a:solidFill>
                    <a:srgbClr val="1578F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线连接符 45">
                  <a:extLst>
                    <a:ext uri="{FF2B5EF4-FFF2-40B4-BE49-F238E27FC236}">
                      <a16:creationId xmlns:a16="http://schemas.microsoft.com/office/drawing/2014/main" id="{79837DB8-9D1A-214F-BD68-E0F05F244925}"/>
                    </a:ext>
                  </a:extLst>
                </p:cNvPr>
                <p:cNvCxnSpPr/>
                <p:nvPr/>
              </p:nvCxnSpPr>
              <p:spPr>
                <a:xfrm>
                  <a:off x="1668663" y="1997075"/>
                  <a:ext cx="102987" cy="0"/>
                </a:xfrm>
                <a:prstGeom prst="line">
                  <a:avLst/>
                </a:prstGeom>
                <a:ln w="19050">
                  <a:solidFill>
                    <a:srgbClr val="1578F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57" name="图形 46" descr="雪花">
              <a:extLst>
                <a:ext uri="{FF2B5EF4-FFF2-40B4-BE49-F238E27FC236}">
                  <a16:creationId xmlns:a16="http://schemas.microsoft.com/office/drawing/2014/main" id="{7DE1B942-7DE8-3B49-A1FE-8775ED9FF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37564" y="2191301"/>
              <a:ext cx="143569" cy="143569"/>
            </a:xfrm>
            <a:prstGeom prst="rect">
              <a:avLst/>
            </a:prstGeom>
          </p:spPr>
        </p:pic>
        <p:cxnSp>
          <p:nvCxnSpPr>
            <p:cNvPr id="158" name="曲线连接符 157">
              <a:extLst>
                <a:ext uri="{FF2B5EF4-FFF2-40B4-BE49-F238E27FC236}">
                  <a16:creationId xmlns:a16="http://schemas.microsoft.com/office/drawing/2014/main" id="{35639EA2-9029-1A4E-8AF6-DB0C58D48537}"/>
                </a:ext>
              </a:extLst>
            </p:cNvPr>
            <p:cNvCxnSpPr>
              <a:cxnSpLocks/>
            </p:cNvCxnSpPr>
            <p:nvPr/>
          </p:nvCxnSpPr>
          <p:spPr>
            <a:xfrm rot="7200000" flipV="1">
              <a:off x="1551847" y="2247446"/>
              <a:ext cx="72000" cy="36000"/>
            </a:xfrm>
            <a:prstGeom prst="curvedConnector3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曲线连接符 158">
              <a:extLst>
                <a:ext uri="{FF2B5EF4-FFF2-40B4-BE49-F238E27FC236}">
                  <a16:creationId xmlns:a16="http://schemas.microsoft.com/office/drawing/2014/main" id="{D3EF18D1-D2D1-2A45-A83D-EEEFBCB1C696}"/>
                </a:ext>
              </a:extLst>
            </p:cNvPr>
            <p:cNvCxnSpPr>
              <a:cxnSpLocks/>
            </p:cNvCxnSpPr>
            <p:nvPr/>
          </p:nvCxnSpPr>
          <p:spPr>
            <a:xfrm rot="7200000" flipV="1">
              <a:off x="1599472" y="2247446"/>
              <a:ext cx="72000" cy="36000"/>
            </a:xfrm>
            <a:prstGeom prst="curvedConnector3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曲线连接符 159">
              <a:extLst>
                <a:ext uri="{FF2B5EF4-FFF2-40B4-BE49-F238E27FC236}">
                  <a16:creationId xmlns:a16="http://schemas.microsoft.com/office/drawing/2014/main" id="{7E381803-0C3C-3A40-B5A0-FFEB04DED881}"/>
                </a:ext>
              </a:extLst>
            </p:cNvPr>
            <p:cNvCxnSpPr>
              <a:cxnSpLocks/>
            </p:cNvCxnSpPr>
            <p:nvPr/>
          </p:nvCxnSpPr>
          <p:spPr>
            <a:xfrm rot="7200000" flipV="1">
              <a:off x="1643922" y="2247446"/>
              <a:ext cx="72000" cy="36000"/>
            </a:xfrm>
            <a:prstGeom prst="curvedConnector3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文本框 180">
            <a:extLst>
              <a:ext uri="{FF2B5EF4-FFF2-40B4-BE49-F238E27FC236}">
                <a16:creationId xmlns:a16="http://schemas.microsoft.com/office/drawing/2014/main" id="{81FCE99A-D58B-4BA3-BA45-9EA83EEAF4FB}"/>
              </a:ext>
            </a:extLst>
          </p:cNvPr>
          <p:cNvSpPr txBox="1"/>
          <p:nvPr/>
        </p:nvSpPr>
        <p:spPr>
          <a:xfrm>
            <a:off x="4099765" y="1426013"/>
            <a:ext cx="927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7896">
              <a:defRPr/>
            </a:pPr>
            <a:r>
              <a:rPr lang="zh-CN" altLang="en-US" sz="800" b="1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金融平台</a:t>
            </a:r>
            <a:endParaRPr lang="en-US" altLang="zh-CN" sz="800" b="1" dirty="0">
              <a:solidFill>
                <a:srgbClr val="1578F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  <a:p>
            <a:pPr algn="ctr" defTabSz="307896">
              <a:defRPr/>
            </a:pPr>
            <a:r>
              <a:rPr lang="zh-CN" altLang="en-US" sz="800" b="1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运营体系</a:t>
            </a:r>
          </a:p>
        </p:txBody>
      </p:sp>
      <p:sp>
        <p:nvSpPr>
          <p:cNvPr id="182" name="iṩļîḋe">
            <a:extLst>
              <a:ext uri="{FF2B5EF4-FFF2-40B4-BE49-F238E27FC236}">
                <a16:creationId xmlns:a16="http://schemas.microsoft.com/office/drawing/2014/main" id="{FC18917E-15B2-4A5F-9CE3-39837BF153CD}"/>
              </a:ext>
            </a:extLst>
          </p:cNvPr>
          <p:cNvSpPr/>
          <p:nvPr/>
        </p:nvSpPr>
        <p:spPr bwMode="auto">
          <a:xfrm>
            <a:off x="150252" y="3560055"/>
            <a:ext cx="1721748" cy="28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defTabSz="342891">
              <a:lnSpc>
                <a:spcPct val="140000"/>
              </a:lnSpc>
              <a:defRPr/>
            </a:pPr>
            <a:r>
              <a:rPr lang="zh-CN" altLang="zh-CN" sz="713" b="1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Helvetica Light"/>
              </a:rPr>
              <a:t>家电</a:t>
            </a:r>
            <a:r>
              <a:rPr lang="zh-CN" altLang="zh-CN" sz="713" b="1" smtClean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Helvetica Light"/>
              </a:rPr>
              <a:t>产业先进</a:t>
            </a:r>
            <a:r>
              <a:rPr lang="zh-CN" altLang="zh-CN" sz="713" b="1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Helvetica Light"/>
              </a:rPr>
              <a:t>装备</a:t>
            </a:r>
            <a:r>
              <a:rPr lang="zh-CN" altLang="zh-CN" sz="713" b="1" smtClean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Helvetica Light"/>
              </a:rPr>
              <a:t>制造</a:t>
            </a:r>
            <a:r>
              <a:rPr lang="zh-CN" altLang="en-US" sz="713" b="1" smtClean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Helvetica Light"/>
              </a:rPr>
              <a:t>业</a:t>
            </a:r>
            <a:endParaRPr lang="en-US" altLang="zh-CN" sz="713" b="1" dirty="0">
              <a:solidFill>
                <a:schemeClr val="bg1">
                  <a:lumMod val="50000"/>
                </a:schemeClr>
              </a:solidFill>
              <a:latin typeface=""/>
              <a:ea typeface="微软雅黑" panose="020B0503020204020204" pitchFamily="34" charset="-122"/>
              <a:sym typeface="Helvetica Light"/>
            </a:endParaRPr>
          </a:p>
          <a:p>
            <a:pPr algn="ctr" defTabSz="342891">
              <a:lnSpc>
                <a:spcPct val="140000"/>
              </a:lnSpc>
              <a:defRPr/>
            </a:pPr>
            <a:r>
              <a:rPr lang="zh-CN" altLang="zh-CN" sz="71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Helvetica Light"/>
              </a:rPr>
              <a:t>生产服务业</a:t>
            </a:r>
            <a:endParaRPr lang="en-US" altLang="zh-CN" sz="713" b="1" dirty="0">
              <a:solidFill>
                <a:schemeClr val="bg1">
                  <a:lumMod val="50000"/>
                </a:schemeClr>
              </a:solidFill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183" name="iṩļîḋe">
            <a:extLst>
              <a:ext uri="{FF2B5EF4-FFF2-40B4-BE49-F238E27FC236}">
                <a16:creationId xmlns:a16="http://schemas.microsoft.com/office/drawing/2014/main" id="{FC18917E-15B2-4A5F-9CE3-39837BF153CD}"/>
              </a:ext>
            </a:extLst>
          </p:cNvPr>
          <p:cNvSpPr/>
          <p:nvPr/>
        </p:nvSpPr>
        <p:spPr bwMode="auto">
          <a:xfrm>
            <a:off x="738000" y="2804055"/>
            <a:ext cx="1221179" cy="28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defTabSz="342891">
              <a:lnSpc>
                <a:spcPct val="140000"/>
              </a:lnSpc>
              <a:defRPr/>
            </a:pPr>
            <a:r>
              <a:rPr lang="en-US" altLang="zh-CN" sz="71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4500</a:t>
            </a:r>
            <a:r>
              <a:rPr lang="zh-CN" altLang="en-US" sz="71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家一级供应商</a:t>
            </a:r>
            <a:endParaRPr lang="en-US" altLang="zh-CN" sz="713" b="1" dirty="0">
              <a:solidFill>
                <a:schemeClr val="bg1">
                  <a:lumMod val="50000"/>
                </a:schemeClr>
              </a:solidFill>
              <a:latin typeface=""/>
              <a:ea typeface="微软雅黑" panose="020B0503020204020204" pitchFamily="34" charset="-122"/>
              <a:sym typeface=""/>
            </a:endParaRPr>
          </a:p>
          <a:p>
            <a:pPr algn="ctr" defTabSz="342891">
              <a:lnSpc>
                <a:spcPct val="140000"/>
              </a:lnSpc>
              <a:defRPr/>
            </a:pPr>
            <a:r>
              <a:rPr lang="en-US" altLang="zh-CN" sz="71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2</a:t>
            </a:r>
            <a:r>
              <a:rPr lang="zh-CN" altLang="en-US" sz="71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万</a:t>
            </a:r>
            <a:r>
              <a:rPr lang="en-US" altLang="zh-CN" sz="71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+</a:t>
            </a:r>
            <a:r>
              <a:rPr lang="zh-CN" altLang="en-US" sz="71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多级供应商</a:t>
            </a:r>
            <a:endParaRPr lang="en-US" altLang="zh-CN" sz="713" b="1" dirty="0">
              <a:solidFill>
                <a:schemeClr val="bg1">
                  <a:lumMod val="50000"/>
                </a:schemeClr>
              </a:solidFill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184" name="iṩļîḋe">
            <a:extLst>
              <a:ext uri="{FF2B5EF4-FFF2-40B4-BE49-F238E27FC236}">
                <a16:creationId xmlns:a16="http://schemas.microsoft.com/office/drawing/2014/main" id="{FC18917E-15B2-4A5F-9CE3-39837BF153CD}"/>
              </a:ext>
            </a:extLst>
          </p:cNvPr>
          <p:cNvSpPr/>
          <p:nvPr/>
        </p:nvSpPr>
        <p:spPr bwMode="auto">
          <a:xfrm>
            <a:off x="731821" y="1969791"/>
            <a:ext cx="1221179" cy="28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 fontScale="40000" lnSpcReduction="20000"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defTabSz="342891">
              <a:lnSpc>
                <a:spcPct val="140000"/>
              </a:lnSpc>
              <a:defRPr/>
            </a:pPr>
            <a:r>
              <a:rPr lang="zh-CN" altLang="en-US" sz="176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五大版块  </a:t>
            </a:r>
            <a:r>
              <a:rPr lang="en-US" altLang="zh-CN" sz="176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8+</a:t>
            </a:r>
            <a:r>
              <a:rPr lang="zh-CN" altLang="en-US" sz="1763" b="1" dirty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产品事业部</a:t>
            </a:r>
            <a:endParaRPr lang="en-US" altLang="zh-CN" sz="1763" b="1" dirty="0">
              <a:solidFill>
                <a:schemeClr val="bg1">
                  <a:lumMod val="50000"/>
                </a:schemeClr>
              </a:solidFill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188" name="iṩļîḋe">
            <a:extLst>
              <a:ext uri="{FF2B5EF4-FFF2-40B4-BE49-F238E27FC236}">
                <a16:creationId xmlns:a16="http://schemas.microsoft.com/office/drawing/2014/main" id="{FC18917E-15B2-4A5F-9CE3-39837BF153CD}"/>
              </a:ext>
            </a:extLst>
          </p:cNvPr>
          <p:cNvSpPr/>
          <p:nvPr/>
        </p:nvSpPr>
        <p:spPr bwMode="auto">
          <a:xfrm>
            <a:off x="6948000" y="2827361"/>
            <a:ext cx="1491218" cy="28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defTabSz="342891">
              <a:lnSpc>
                <a:spcPct val="140000"/>
              </a:lnSpc>
              <a:defRPr/>
            </a:pPr>
            <a:r>
              <a:rPr lang="zh-CN" altLang="en-US" sz="700" b="1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大型</a:t>
            </a:r>
            <a:r>
              <a:rPr lang="zh-CN" altLang="en-US" sz="700" b="1" smtClean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商业银行</a:t>
            </a:r>
            <a:r>
              <a:rPr lang="zh-CN" altLang="en-US" sz="700" b="1" smtClean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Helvetica Light"/>
              </a:rPr>
              <a:t>全国性</a:t>
            </a:r>
            <a:r>
              <a:rPr lang="zh-CN" altLang="en-US" sz="700" b="1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Helvetica Light"/>
              </a:rPr>
              <a:t>股份制</a:t>
            </a:r>
            <a:r>
              <a:rPr lang="zh-CN" altLang="en-US" sz="700" b="1" smtClean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Helvetica Light"/>
              </a:rPr>
              <a:t>银行中小型商业银行</a:t>
            </a:r>
            <a:endParaRPr lang="en-US" altLang="zh-CN" sz="700" b="1" dirty="0">
              <a:solidFill>
                <a:schemeClr val="bg1">
                  <a:lumMod val="50000"/>
                </a:schemeClr>
              </a:solidFill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189" name="iṩļîḋe">
            <a:extLst>
              <a:ext uri="{FF2B5EF4-FFF2-40B4-BE49-F238E27FC236}">
                <a16:creationId xmlns:a16="http://schemas.microsoft.com/office/drawing/2014/main" id="{FC18917E-15B2-4A5F-9CE3-39837BF153CD}"/>
              </a:ext>
            </a:extLst>
          </p:cNvPr>
          <p:cNvSpPr/>
          <p:nvPr/>
        </p:nvSpPr>
        <p:spPr bwMode="auto">
          <a:xfrm>
            <a:off x="7569000" y="3592473"/>
            <a:ext cx="1460585" cy="384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342891">
              <a:lnSpc>
                <a:spcPct val="140000"/>
              </a:lnSpc>
              <a:defRPr/>
            </a:pPr>
            <a:r>
              <a:rPr lang="zh-CN" altLang="en-US" sz="700" b="1" smtClean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证券公司信托公司融资</a:t>
            </a:r>
            <a:r>
              <a:rPr lang="zh-CN" altLang="en-US" sz="700" b="1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担保</a:t>
            </a:r>
            <a:r>
              <a:rPr lang="zh-CN" altLang="en-US" sz="700" b="1" smtClean="0">
                <a:solidFill>
                  <a:schemeClr val="bg1">
                    <a:lumMod val="50000"/>
                  </a:schemeClr>
                </a:solidFill>
                <a:latin typeface=""/>
                <a:ea typeface="微软雅黑" panose="020B0503020204020204" pitchFamily="34" charset="-122"/>
                <a:sym typeface=""/>
              </a:rPr>
              <a:t>公司保理融资租赁</a:t>
            </a:r>
            <a:endParaRPr lang="en-US" altLang="zh-CN" sz="700" b="1" dirty="0">
              <a:solidFill>
                <a:schemeClr val="bg1">
                  <a:lumMod val="50000"/>
                </a:schemeClr>
              </a:solidFill>
              <a:latin typeface=""/>
              <a:ea typeface="微软雅黑" panose="020B0503020204020204" pitchFamily="34" charset="-122"/>
              <a:sym typeface=""/>
            </a:endParaRP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6EB4C060-6A55-4B7F-9DD3-DC1D0716A570}"/>
              </a:ext>
            </a:extLst>
          </p:cNvPr>
          <p:cNvCxnSpPr>
            <a:cxnSpLocks/>
          </p:cNvCxnSpPr>
          <p:nvPr/>
        </p:nvCxnSpPr>
        <p:spPr>
          <a:xfrm flipH="1" flipV="1">
            <a:off x="6002878" y="1750565"/>
            <a:ext cx="1152000" cy="0"/>
          </a:xfrm>
          <a:prstGeom prst="straightConnector1">
            <a:avLst/>
          </a:prstGeom>
          <a:ln w="9525">
            <a:solidFill>
              <a:srgbClr val="1578FE">
                <a:alpha val="70000"/>
              </a:srgbClr>
            </a:solidFill>
            <a:prstDash val="solid"/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89FACD5D-DFB1-4563-9C80-435F158F64E7}"/>
              </a:ext>
            </a:extLst>
          </p:cNvPr>
          <p:cNvCxnSpPr>
            <a:cxnSpLocks/>
          </p:cNvCxnSpPr>
          <p:nvPr/>
        </p:nvCxnSpPr>
        <p:spPr>
          <a:xfrm flipH="1">
            <a:off x="6128476" y="2666097"/>
            <a:ext cx="915172" cy="0"/>
          </a:xfrm>
          <a:prstGeom prst="straightConnector1">
            <a:avLst/>
          </a:prstGeom>
          <a:ln w="9525">
            <a:solidFill>
              <a:srgbClr val="1578FE">
                <a:alpha val="70000"/>
              </a:srgbClr>
            </a:solidFill>
            <a:prstDash val="solid"/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58BC03EC-3965-42DD-BB79-09140A518110}"/>
              </a:ext>
            </a:extLst>
          </p:cNvPr>
          <p:cNvCxnSpPr>
            <a:cxnSpLocks/>
          </p:cNvCxnSpPr>
          <p:nvPr/>
        </p:nvCxnSpPr>
        <p:spPr>
          <a:xfrm flipH="1">
            <a:off x="6001592" y="3548418"/>
            <a:ext cx="1142271" cy="0"/>
          </a:xfrm>
          <a:prstGeom prst="straightConnector1">
            <a:avLst/>
          </a:prstGeom>
          <a:ln w="9525">
            <a:solidFill>
              <a:srgbClr val="1578FE">
                <a:alpha val="70000"/>
              </a:srgbClr>
            </a:solidFill>
            <a:prstDash val="solid"/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3DE88274-3450-B847-A4FF-F6FBDEB4EF3C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253" y="228753"/>
            <a:ext cx="516965" cy="69528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矩形">
            <a:extLst>
              <a:ext uri="{FF2B5EF4-FFF2-40B4-BE49-F238E27FC236}">
                <a16:creationId xmlns:a16="http://schemas.microsoft.com/office/drawing/2014/main" id="{DD90552B-CC36-6444-8E4E-2A3152260E9F}"/>
              </a:ext>
            </a:extLst>
          </p:cNvPr>
          <p:cNvSpPr/>
          <p:nvPr/>
        </p:nvSpPr>
        <p:spPr>
          <a:xfrm>
            <a:off x="924738" y="222964"/>
            <a:ext cx="10799" cy="431972"/>
          </a:xfrm>
          <a:prstGeom prst="rect">
            <a:avLst/>
          </a:prstGeom>
          <a:solidFill>
            <a:srgbClr val="027EE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685757"/>
            <a:endParaRPr sz="478">
              <a:latin typeface="Calibri" panose="020F0502020204030204"/>
            </a:endParaRPr>
          </a:p>
        </p:txBody>
      </p:sp>
      <p:sp>
        <p:nvSpPr>
          <p:cNvPr id="104" name="Shape 687"/>
          <p:cNvSpPr txBox="1"/>
          <p:nvPr/>
        </p:nvSpPr>
        <p:spPr>
          <a:xfrm>
            <a:off x="974022" y="261579"/>
            <a:ext cx="3402097" cy="331094"/>
          </a:xfrm>
          <a:prstGeom prst="rect">
            <a:avLst/>
          </a:prstGeom>
          <a:ln w="25400">
            <a:miter lim="400000"/>
          </a:ln>
        </p:spPr>
        <p:txBody>
          <a:bodyPr wrap="square" lIns="26786" tIns="26786" rIns="26786" bIns="26786" anchor="ctr">
            <a:spAutoFit/>
          </a:bodyPr>
          <a:lstStyle>
            <a:lvl1pPr defTabSz="821690">
              <a:defRPr sz="460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defTabSz="461951">
              <a:defRPr/>
            </a:pPr>
            <a:r>
              <a:rPr lang="zh-CN" altLang="en-US" sz="1800" dirty="0">
                <a:solidFill>
                  <a:srgbClr val="1178FE"/>
                </a:solidFill>
              </a:rPr>
              <a:t>供应链金融平台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588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00319;"/>
  <p:tag name="ISLIDE.ICON" val="#111592;#49829;#115186;#49829;#115186;#49829;#115186;#63654;#63654;#398922;#391947;#373481;#373481;#373481;#115186;#111592;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flat">
          <a:solidFill>
            <a:srgbClr val="009CDB">
              <a:alpha val="30000"/>
            </a:srgbClr>
          </a:solidFill>
          <a:prstDash val="sysDot"/>
          <a:miter lim="400000"/>
        </a:ln>
      </a:spPr>
      <a:bodyPr wrap="square" lIns="0" tIns="0" rIns="0" bIns="0" numCol="1" anchor="ctr">
        <a:noAutofit/>
      </a:bodyPr>
      <a:lstStyle>
        <a:defPPr algn="l" defTabSz="144145">
          <a:defRPr sz="375" b="1" dirty="0">
            <a:solidFill>
              <a:srgbClr val="000000"/>
            </a:solidFill>
            <a:sym typeface="微软雅黑" panose="020B0503020204020204" charset="-122"/>
          </a:defRPr>
        </a:defPPr>
      </a:lstStyle>
    </a:sp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none" lIns="91437" tIns="91437" rIns="91437" bIns="91437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0" i="0" u="none" strike="noStrike" cap="none" spc="0" normalizeH="0" baseline="0" dirty="0">
            <a:ln>
              <a:noFill/>
            </a:ln>
            <a:solidFill>
              <a:srgbClr val="B0CEFF"/>
            </a:solidFill>
            <a:effectLst/>
            <a:uFillTx/>
            <a:latin typeface="Arial" panose="020B0604020202020204" pitchFamily="34" charset="0"/>
            <a:ea typeface="微软雅黑" panose="020B0503020204020204" charset="-122"/>
            <a:cs typeface="Arial" panose="020B0604020202020204" pitchFamily="34" charset="0"/>
            <a:sym typeface="Helvetica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7" tIns="91437" rIns="91437" bIns="91437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91437" tIns="91437" rIns="91437" bIns="91437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
</file>

<file path=customXml/item2.xml>
</file>

<file path=customXml/itemProps1.xml><?xml version="1.0" encoding="utf-8"?>
<ds:datastoreItem xmlns:ds="http://schemas.openxmlformats.org/officeDocument/2006/customXml" ds:itemID="{7BDCE4A1-8568-4DE7-B0AF-81AAD37077ED}"/>
</file>

<file path=customXml/itemProps2.xml><?xml version="1.0" encoding="utf-8"?>
<ds:datastoreItem xmlns:ds="http://schemas.openxmlformats.org/officeDocument/2006/customXml" ds:itemID="{2E5E7189-26EA-4DB2-9189-A0156AB8CE6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13484</TotalTime>
  <Words>435</Words>
  <Application>Microsoft Office PowerPoint</Application>
  <PresentationFormat>全屏显示(16:9)</PresentationFormat>
  <Paragraphs>99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Helvetica Light</vt:lpstr>
      <vt:lpstr>等线</vt:lpstr>
      <vt:lpstr>等线 Light</vt:lpstr>
      <vt:lpstr>Microsoft YaHei</vt:lpstr>
      <vt:lpstr>Microsoft YaHei</vt:lpstr>
      <vt:lpstr>Arial</vt:lpstr>
      <vt:lpstr>Calibri</vt:lpstr>
      <vt:lpstr>Calibri Light</vt:lpstr>
      <vt:lpstr>Helvetica</vt:lpstr>
      <vt:lpstr>Times New Roman</vt:lpstr>
      <vt:lpstr>Trebuchet MS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熊程程</dc:creator>
  <cp:lastModifiedBy>vincent 杨嵩</cp:lastModifiedBy>
  <cp:revision>2011</cp:revision>
  <cp:lastPrinted>2020-05-06T06:11:00Z</cp:lastPrinted>
  <dcterms:created xsi:type="dcterms:W3CDTF">2018-06-29T07:31:00Z</dcterms:created>
  <dcterms:modified xsi:type="dcterms:W3CDTF">2024-10-21T07:20:47Z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18E069FBD6364324A98B59DD76601C2C</vt:lpwstr>
  </property>
</Properties>
</file>